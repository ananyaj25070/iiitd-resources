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roxima Nova"/>
      <p:regular r:id="rId17"/>
      <p:bold r:id="rId18"/>
      <p:italic r:id="rId19"/>
      <p:boldItalic r:id="rId20"/>
    </p:embeddedFont>
    <p:embeddedFont>
      <p:font typeface="Quattrocento Sans"/>
      <p:regular r:id="rId21"/>
      <p:bold r:id="rId22"/>
      <p:italic r:id="rId23"/>
      <p:boldItalic r:id="rId24"/>
    </p:embeddedFont>
    <p:embeddedFont>
      <p:font typeface="Old Standard TT"/>
      <p:regular r:id="rId25"/>
      <p:bold r:id="rId26"/>
      <p:italic r:id="rId27"/>
    </p:embeddedFont>
    <p:embeddedFont>
      <p:font typeface="Oi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Italic.fntdata"/><Relationship Id="rId22" Type="http://schemas.openxmlformats.org/officeDocument/2006/relationships/font" Target="fonts/QuattrocentoSans-bold.fntdata"/><Relationship Id="rId21" Type="http://schemas.openxmlformats.org/officeDocument/2006/relationships/font" Target="fonts/QuattrocentoSans-regular.fntdata"/><Relationship Id="rId24" Type="http://schemas.openxmlformats.org/officeDocument/2006/relationships/font" Target="fonts/QuattrocentoSans-boldItalic.fntdata"/><Relationship Id="rId23" Type="http://schemas.openxmlformats.org/officeDocument/2006/relationships/font" Target="fonts/QuattrocentoSans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ldStandardTT-bold.fntdata"/><Relationship Id="rId25" Type="http://schemas.openxmlformats.org/officeDocument/2006/relationships/font" Target="fonts/OldStandardTT-regular.fntdata"/><Relationship Id="rId28" Type="http://schemas.openxmlformats.org/officeDocument/2006/relationships/font" Target="fonts/Oi-regular.fntdata"/><Relationship Id="rId27" Type="http://schemas.openxmlformats.org/officeDocument/2006/relationships/font" Target="fonts/OldStandardT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roximaNova-regular.fntdata"/><Relationship Id="rId16" Type="http://schemas.openxmlformats.org/officeDocument/2006/relationships/slide" Target="slides/slide10.xml"/><Relationship Id="rId19" Type="http://schemas.openxmlformats.org/officeDocument/2006/relationships/font" Target="fonts/ProximaNova-italic.fntdata"/><Relationship Id="rId18" Type="http://schemas.openxmlformats.org/officeDocument/2006/relationships/font" Target="fonts/ProximaNov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67d03a2d20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267d03a2d20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7d98e2e9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7d98e2e9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7d03a2d20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7d03a2d20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67d98e2e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67d98e2e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67d98e2e9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67d98e2e9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67d98e2e9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67d98e2e9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7d98e2e9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7d98e2e9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3d3b30a20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3d3b30a20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3d359c04d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3d359c04d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67d98e2e9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67d98e2e9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Dark)" type="title">
  <p:cSld name="TITLE">
    <p:bg>
      <p:bgPr>
        <a:solidFill>
          <a:srgbClr val="3EADA7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965800"/>
            <a:ext cx="77058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b="1" sz="4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1838650"/>
            <a:ext cx="647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Proxima Nova"/>
              <a:buNone/>
              <a:defRPr sz="28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395025" y="1831850"/>
            <a:ext cx="7344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style3singlecolormid.png" id="64" name="Google Shape;6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5025" y="4094150"/>
            <a:ext cx="4813400" cy="96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rips_white.png"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8963" y="3524250"/>
            <a:ext cx="2105025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289825" y="169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Proxima Nova"/>
              <a:buNone/>
              <a:defRPr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0" name="Google Shape;70;p15"/>
          <p:cNvCxnSpPr/>
          <p:nvPr/>
        </p:nvCxnSpPr>
        <p:spPr>
          <a:xfrm>
            <a:off x="248725" y="848575"/>
            <a:ext cx="8602800" cy="0"/>
          </a:xfrm>
          <a:prstGeom prst="straightConnector1">
            <a:avLst/>
          </a:prstGeom>
          <a:noFill/>
          <a:ln cap="flat" cmpd="sng" w="9525">
            <a:solidFill>
              <a:srgbClr val="3EADA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Light)">
  <p:cSld name="CUSTOM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1041825"/>
            <a:ext cx="85206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36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pic>
        <p:nvPicPr>
          <p:cNvPr descr="style3colormid.png" id="73" name="Google Shape;7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" y="4150625"/>
            <a:ext cx="4828025" cy="9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idx="2" type="title"/>
          </p:nvPr>
        </p:nvSpPr>
        <p:spPr>
          <a:xfrm>
            <a:off x="311700" y="1841000"/>
            <a:ext cx="85206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cxnSp>
        <p:nvCxnSpPr>
          <p:cNvPr id="75" name="Google Shape;75;p16"/>
          <p:cNvCxnSpPr/>
          <p:nvPr/>
        </p:nvCxnSpPr>
        <p:spPr>
          <a:xfrm>
            <a:off x="380400" y="1799550"/>
            <a:ext cx="7929600" cy="43800"/>
          </a:xfrm>
          <a:prstGeom prst="straightConnector1">
            <a:avLst/>
          </a:prstGeom>
          <a:noFill/>
          <a:ln cap="flat" cmpd="sng" w="9525">
            <a:solidFill>
              <a:srgbClr val="3EAD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strips_color.png"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8963" y="3524250"/>
            <a:ext cx="2105025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20362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3" name="Google Shape;83;p18"/>
          <p:cNvCxnSpPr/>
          <p:nvPr/>
        </p:nvCxnSpPr>
        <p:spPr>
          <a:xfrm flipH="1" rot="10800000">
            <a:off x="336500" y="848650"/>
            <a:ext cx="8412600" cy="43800"/>
          </a:xfrm>
          <a:prstGeom prst="straightConnector1">
            <a:avLst/>
          </a:prstGeom>
          <a:noFill/>
          <a:ln cap="flat" cmpd="sng" w="9525">
            <a:solidFill>
              <a:srgbClr val="3EADA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311700" y="4032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8" name="Google Shape;88;p19"/>
          <p:cNvCxnSpPr/>
          <p:nvPr/>
        </p:nvCxnSpPr>
        <p:spPr>
          <a:xfrm>
            <a:off x="292600" y="1331375"/>
            <a:ext cx="2823600" cy="29100"/>
          </a:xfrm>
          <a:prstGeom prst="straightConnector1">
            <a:avLst/>
          </a:prstGeom>
          <a:noFill/>
          <a:ln cap="flat" cmpd="sng" w="9525">
            <a:solidFill>
              <a:srgbClr val="3EADA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19"/>
          <p:cNvSpPr/>
          <p:nvPr/>
        </p:nvSpPr>
        <p:spPr>
          <a:xfrm>
            <a:off x="3189425" y="0"/>
            <a:ext cx="59547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EADA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b="1"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bg>
      <p:bgPr>
        <a:solidFill>
          <a:srgbClr val="3EADA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b="1"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trips_white.png" id="96" name="Google Shape;9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38963" y="3524250"/>
            <a:ext cx="2105025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Proxima Nova"/>
              <a:buNone/>
              <a:defRPr sz="42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0" name="Google Shape;100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roxima Nova"/>
              <a:buNone/>
              <a:defRPr sz="21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1" name="Google Shape;101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22"/>
          <p:cNvSpPr/>
          <p:nvPr/>
        </p:nvSpPr>
        <p:spPr>
          <a:xfrm>
            <a:off x="4433000" y="-125"/>
            <a:ext cx="234000" cy="5143500"/>
          </a:xfrm>
          <a:prstGeom prst="rect">
            <a:avLst/>
          </a:prstGeom>
          <a:solidFill>
            <a:srgbClr val="3EAD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22"/>
          <p:cNvCxnSpPr/>
          <p:nvPr/>
        </p:nvCxnSpPr>
        <p:spPr>
          <a:xfrm flipH="1" rot="10800000">
            <a:off x="1638600" y="2691925"/>
            <a:ext cx="1302000" cy="14700"/>
          </a:xfrm>
          <a:prstGeom prst="straightConnector1">
            <a:avLst/>
          </a:prstGeom>
          <a:noFill/>
          <a:ln cap="flat" cmpd="sng" w="9525">
            <a:solidFill>
              <a:srgbClr val="3EADA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7" name="Google Shape;10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3"/>
          <p:cNvSpPr/>
          <p:nvPr/>
        </p:nvSpPr>
        <p:spPr>
          <a:xfrm>
            <a:off x="-73150" y="5056825"/>
            <a:ext cx="9264000" cy="86400"/>
          </a:xfrm>
          <a:prstGeom prst="rect">
            <a:avLst/>
          </a:prstGeom>
          <a:solidFill>
            <a:srgbClr val="3EADA7"/>
          </a:solidFill>
          <a:ln cap="flat" cmpd="sng" w="9525">
            <a:solidFill>
              <a:srgbClr val="3EAD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/>
          <p:nvPr/>
        </p:nvSpPr>
        <p:spPr>
          <a:xfrm>
            <a:off x="0" y="3891675"/>
            <a:ext cx="9144000" cy="1251900"/>
          </a:xfrm>
          <a:prstGeom prst="rect">
            <a:avLst/>
          </a:prstGeom>
          <a:solidFill>
            <a:srgbClr val="3EAD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>
                <a:solidFill>
                  <a:srgbClr val="F3F3F3"/>
                </a:solidFill>
              </a:defRPr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5" name="Google Shape;11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25"/>
          <p:cNvSpPr/>
          <p:nvPr/>
        </p:nvSpPr>
        <p:spPr>
          <a:xfrm>
            <a:off x="100" y="0"/>
            <a:ext cx="9144000" cy="87600"/>
          </a:xfrm>
          <a:prstGeom prst="rect">
            <a:avLst/>
          </a:prstGeom>
          <a:solidFill>
            <a:srgbClr val="3EADA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5"/>
          <p:cNvSpPr txBox="1"/>
          <p:nvPr/>
        </p:nvSpPr>
        <p:spPr>
          <a:xfrm>
            <a:off x="1155800" y="1097275"/>
            <a:ext cx="67740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en" sz="12000" u="none" cap="none" strike="noStrike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rPr>
              <a:t>xx%</a:t>
            </a:r>
            <a:endParaRPr b="1" i="0" sz="12000" u="none" cap="none" strike="noStrike">
              <a:solidFill>
                <a:srgbClr val="000000"/>
              </a:solidFill>
              <a:latin typeface="Oi"/>
              <a:ea typeface="Oi"/>
              <a:cs typeface="Oi"/>
              <a:sym typeface="O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" name="Google Shape;12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05450" y="951000"/>
            <a:ext cx="3711525" cy="2783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26"/>
          <p:cNvCxnSpPr/>
          <p:nvPr/>
        </p:nvCxnSpPr>
        <p:spPr>
          <a:xfrm>
            <a:off x="4676250" y="386475"/>
            <a:ext cx="0" cy="4286700"/>
          </a:xfrm>
          <a:prstGeom prst="straightConnector1">
            <a:avLst/>
          </a:prstGeom>
          <a:noFill/>
          <a:ln cap="flat" cmpd="sng" w="9525">
            <a:solidFill>
              <a:srgbClr val="3EADA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26"/>
          <p:cNvSpPr txBox="1"/>
          <p:nvPr>
            <p:ph type="title"/>
          </p:nvPr>
        </p:nvSpPr>
        <p:spPr>
          <a:xfrm>
            <a:off x="658375" y="1389900"/>
            <a:ext cx="34236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1" type="subTitle"/>
          </p:nvPr>
        </p:nvSpPr>
        <p:spPr>
          <a:xfrm>
            <a:off x="658425" y="2574950"/>
            <a:ext cx="3423600" cy="17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>
            <p:ph type="ctrTitle"/>
          </p:nvPr>
        </p:nvSpPr>
        <p:spPr>
          <a:xfrm>
            <a:off x="311700" y="965800"/>
            <a:ext cx="77058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Tutorial 2</a:t>
            </a:r>
            <a:endParaRPr/>
          </a:p>
        </p:txBody>
      </p:sp>
      <p:sp>
        <p:nvSpPr>
          <p:cNvPr id="129" name="Google Shape;129;p27"/>
          <p:cNvSpPr txBox="1"/>
          <p:nvPr>
            <p:ph idx="1" type="subTitle"/>
          </p:nvPr>
        </p:nvSpPr>
        <p:spPr>
          <a:xfrm>
            <a:off x="311700" y="1838650"/>
            <a:ext cx="647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/>
              <a:t>Running programs to understand fork, wait and exec.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/>
          <p:nvPr>
            <p:ph type="title"/>
          </p:nvPr>
        </p:nvSpPr>
        <p:spPr>
          <a:xfrm>
            <a:off x="289825" y="169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135" name="Google Shape;13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Running an .exe file creates a </a:t>
            </a:r>
            <a:r>
              <a:rPr lang="en">
                <a:highlight>
                  <a:schemeClr val="accent6"/>
                </a:highlight>
              </a:rPr>
              <a:t>process ( A running program)</a:t>
            </a:r>
            <a:endParaRPr>
              <a:highlight>
                <a:schemeClr val="accent6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a one CPU computer. Now at a single instance only a single process can run, then how does so many processes work together? </a:t>
            </a:r>
            <a:r>
              <a:rPr lang="en">
                <a:highlight>
                  <a:schemeClr val="accent6"/>
                </a:highlight>
              </a:rPr>
              <a:t>Using timeshare</a:t>
            </a:r>
            <a:endParaRPr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Process has following components (Stored in PCB) 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 </a:t>
            </a:r>
            <a:r>
              <a:rPr lang="en">
                <a:highlight>
                  <a:schemeClr val="accent6"/>
                </a:highlight>
              </a:rPr>
              <a:t>unique </a:t>
            </a:r>
            <a:r>
              <a:rPr lang="en">
                <a:highlight>
                  <a:schemeClr val="accent6"/>
                </a:highlight>
              </a:rPr>
              <a:t>identifier</a:t>
            </a:r>
            <a:r>
              <a:rPr lang="en">
                <a:highlight>
                  <a:schemeClr val="accent6"/>
                </a:highlight>
              </a:rPr>
              <a:t> (PID)</a:t>
            </a:r>
            <a:endParaRPr>
              <a:highlight>
                <a:schemeClr val="accent6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Memory Space (Variables)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CPU Context (Registers, Pointers)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File Descriptors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/>
          <p:nvPr>
            <p:ph type="title"/>
          </p:nvPr>
        </p:nvSpPr>
        <p:spPr>
          <a:xfrm>
            <a:off x="289825" y="169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States of A Process </a:t>
            </a:r>
            <a:r>
              <a:rPr lang="en">
                <a:highlight>
                  <a:schemeClr val="accent6"/>
                </a:highlight>
              </a:rPr>
              <a:t>(Skip)</a:t>
            </a:r>
            <a:endParaRPr>
              <a:highlight>
                <a:schemeClr val="accent6"/>
              </a:highlight>
            </a:endParaRPr>
          </a:p>
        </p:txBody>
      </p:sp>
      <p:sp>
        <p:nvSpPr>
          <p:cNvPr id="141" name="Google Shape;1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Running (Currently </a:t>
            </a:r>
            <a:r>
              <a:rPr lang="en"/>
              <a:t>executing</a:t>
            </a:r>
            <a:r>
              <a:rPr lang="en"/>
              <a:t> on CPU)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Ready (Waiting to be scheduled)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Blocked (Not ready to run, maybe </a:t>
            </a:r>
            <a:r>
              <a:rPr lang="en"/>
              <a:t>waiting</a:t>
            </a:r>
            <a:r>
              <a:rPr lang="en"/>
              <a:t> for input)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 (Being created, yet to run)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Dead (Terminated)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 txBox="1"/>
          <p:nvPr>
            <p:ph type="title"/>
          </p:nvPr>
        </p:nvSpPr>
        <p:spPr>
          <a:xfrm>
            <a:off x="289825" y="169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Calls</a:t>
            </a:r>
            <a:endParaRPr/>
          </a:p>
        </p:txBody>
      </p:sp>
      <p:sp>
        <p:nvSpPr>
          <p:cNvPr id="147" name="Google Shape;147;p30"/>
          <p:cNvSpPr txBox="1"/>
          <p:nvPr>
            <p:ph idx="1" type="body"/>
          </p:nvPr>
        </p:nvSpPr>
        <p:spPr>
          <a:xfrm>
            <a:off x="289825" y="864350"/>
            <a:ext cx="8520600" cy="39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Functions that have authority to </a:t>
            </a:r>
            <a:r>
              <a:rPr lang="en">
                <a:highlight>
                  <a:schemeClr val="accent6"/>
                </a:highlight>
              </a:rPr>
              <a:t>run in kernel space</a:t>
            </a:r>
            <a:endParaRPr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chemeClr val="accent6"/>
                </a:highlight>
              </a:rPr>
              <a:t>Fork():</a:t>
            </a:r>
            <a:r>
              <a:rPr lang="en"/>
              <a:t> Creates a </a:t>
            </a:r>
            <a:r>
              <a:rPr lang="en"/>
              <a:t>new</a:t>
            </a:r>
            <a:r>
              <a:rPr lang="en"/>
              <a:t> child process, All processes are created using forking a parent. First Parent is init process.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chemeClr val="accent6"/>
                </a:highlight>
              </a:rPr>
              <a:t>Wait():</a:t>
            </a:r>
            <a:r>
              <a:rPr lang="en"/>
              <a:t> Blocks a parent process until it’s child terminates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chemeClr val="accent6"/>
                </a:highlight>
              </a:rPr>
              <a:t>Exec():</a:t>
            </a:r>
            <a:r>
              <a:rPr lang="en"/>
              <a:t> Executes another program. (Our case another C file)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(Basically ek process dusre program ko execute karta hai)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 txBox="1"/>
          <p:nvPr>
            <p:ph type="title"/>
          </p:nvPr>
        </p:nvSpPr>
        <p:spPr>
          <a:xfrm>
            <a:off x="289825" y="169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During Fork</a:t>
            </a:r>
            <a:endParaRPr/>
          </a:p>
        </p:txBody>
      </p:sp>
      <p:sp>
        <p:nvSpPr>
          <p:cNvPr id="153" name="Google Shape;15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</a:t>
            </a:r>
            <a:r>
              <a:rPr lang="en">
                <a:highlight>
                  <a:schemeClr val="accent6"/>
                </a:highlight>
              </a:rPr>
              <a:t>exact copy</a:t>
            </a:r>
            <a:r>
              <a:rPr lang="en"/>
              <a:t> in created of the PCB (means, memory space and pointers)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Memory space: (Agar variable fork se pehle created and its value a = 10, then both parent and child has a value equal to 10)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Pointer: (Jis line pe fork tha, naye child main bhi ussi line se hoga, not the start)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accent6"/>
                </a:highlight>
              </a:rPr>
              <a:t>Only one gets cpu</a:t>
            </a:r>
            <a:r>
              <a:rPr lang="en"/>
              <a:t>, sometimes it is the parent, sometimes it is the child. We never know who gets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accent6"/>
                </a:highlight>
              </a:rPr>
              <a:t>After fork, childs get independent </a:t>
            </a:r>
            <a:r>
              <a:rPr lang="en"/>
              <a:t>(Meri Marzi </a:t>
            </a:r>
            <a:r>
              <a:rPr lang="en"/>
              <a:t>😤)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>
            <p:ph type="title"/>
          </p:nvPr>
        </p:nvSpPr>
        <p:spPr>
          <a:xfrm>
            <a:off x="289825" y="169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fork by running</a:t>
            </a:r>
            <a:endParaRPr/>
          </a:p>
        </p:txBody>
      </p:sp>
      <p:sp>
        <p:nvSpPr>
          <p:cNvPr id="159" name="Google Shape;15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https://colab.research.google.com/drive/1e4G8PfzlG8VhrsRYtQyQSaOxFNYzrT7J?usp=sharing</a:t>
            </a:r>
            <a:endParaRPr sz="1600">
              <a:solidFill>
                <a:schemeClr val="accent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3"/>
          <p:cNvSpPr txBox="1"/>
          <p:nvPr>
            <p:ph type="title"/>
          </p:nvPr>
        </p:nvSpPr>
        <p:spPr>
          <a:xfrm>
            <a:off x="289825" y="169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Wait</a:t>
            </a:r>
            <a:endParaRPr/>
          </a:p>
        </p:txBody>
      </p:sp>
      <p:sp>
        <p:nvSpPr>
          <p:cNvPr id="165" name="Google Shape;16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 </a:t>
            </a:r>
            <a:r>
              <a:rPr lang="en">
                <a:highlight>
                  <a:schemeClr val="accent6"/>
                </a:highlight>
              </a:rPr>
              <a:t>process is dead (i.e. exit() is called)</a:t>
            </a:r>
            <a:endParaRPr>
              <a:highlight>
                <a:schemeClr val="accent6"/>
              </a:highlight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goes into a </a:t>
            </a:r>
            <a:r>
              <a:rPr lang="en">
                <a:highlight>
                  <a:schemeClr val="accent6"/>
                </a:highlight>
              </a:rPr>
              <a:t>zombie state</a:t>
            </a:r>
            <a:r>
              <a:rPr lang="en"/>
              <a:t> and when the parent calls wait(), zombie </a:t>
            </a:r>
            <a:r>
              <a:rPr lang="en"/>
              <a:t>child is cleaned up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 other words, </a:t>
            </a:r>
            <a:r>
              <a:rPr lang="en">
                <a:highlight>
                  <a:schemeClr val="accent6"/>
                </a:highlight>
              </a:rPr>
              <a:t>wait() blocks the parent to execute until its child dies.</a:t>
            </a:r>
            <a:endParaRPr>
              <a:highlight>
                <a:schemeClr val="accent6"/>
              </a:highlight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// </a:t>
            </a:r>
            <a:r>
              <a:rPr lang="en">
                <a:highlight>
                  <a:schemeClr val="accent6"/>
                </a:highlight>
              </a:rPr>
              <a:t>Application:</a:t>
            </a:r>
            <a:r>
              <a:rPr lang="en"/>
              <a:t> way to hold the parent, so the child always execute first.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 txBox="1"/>
          <p:nvPr>
            <p:ph type="title"/>
          </p:nvPr>
        </p:nvSpPr>
        <p:spPr>
          <a:xfrm>
            <a:off x="289825" y="169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 - Family</a:t>
            </a:r>
            <a:endParaRPr/>
          </a:p>
        </p:txBody>
      </p:sp>
      <p:sp>
        <p:nvSpPr>
          <p:cNvPr id="171" name="Google Shape;17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Basically, if </a:t>
            </a:r>
            <a:r>
              <a:rPr lang="en"/>
              <a:t>always creating a copy, then its usage and application is very less.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Remember child is independent after forking, so what it does, is become entirely different by calling exec()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</a:t>
            </a:r>
            <a:r>
              <a:rPr lang="en">
                <a:highlight>
                  <a:schemeClr val="accent6"/>
                </a:highlight>
              </a:rPr>
              <a:t>Easy words: Exec() allows running a different program, somewhere in memory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 txBox="1"/>
          <p:nvPr>
            <p:ph type="title"/>
          </p:nvPr>
        </p:nvSpPr>
        <p:spPr>
          <a:xfrm>
            <a:off x="289825" y="169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Makefile Snippet</a:t>
            </a:r>
            <a:endParaRPr/>
          </a:p>
        </p:txBody>
      </p:sp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/>
              <a:t>a</a:t>
            </a:r>
            <a:endParaRPr sz="100"/>
          </a:p>
        </p:txBody>
      </p:sp>
      <p:pic>
        <p:nvPicPr>
          <p:cNvPr id="178" name="Google Shape;17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152475"/>
            <a:ext cx="6180000" cy="378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311700" y="2036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IIT-Delhi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