
<file path=[Content_Types].xml><?xml version="1.0" encoding="utf-8"?>
<Types xmlns="http://schemas.openxmlformats.org/package/2006/content-types">
  <Override PartName="/_rels/.rels" ContentType="application/vnd.openxmlformats-package.relationships+xml"/>
  <Override PartName="/docProps/app.xml" ContentType="application/vnd.openxmlformats-officedocument.extended-properties+xml"/>
  <Override PartName="/docProps/core.xml" ContentType="application/vnd.openxmlformats-package.core-properties+xml"/>
  <Override PartName="/ppt/_rels/presentation.xml.rels" ContentType="application/vnd.openxmlformats-package.relationships+xml"/>
  <Override PartName="/ppt/media/image5.png" ContentType="image/png"/>
  <Override PartName="/ppt/media/image4.png" ContentType="image/png"/>
  <Override PartName="/ppt/media/image3.png" ContentType="image/png"/>
  <Override PartName="/ppt/media/image6.png" ContentType="image/png"/>
  <Override PartName="/ppt/media/image8.png" ContentType="image/png"/>
  <Override PartName="/ppt/media/image2.png" ContentType="image/png"/>
  <Override PartName="/ppt/media/image7.png" ContentType="image/png"/>
  <Override PartName="/ppt/media/image9.png" ContentType="image/png"/>
  <Override PartName="/ppt/media/image18.png" ContentType="image/png"/>
  <Override PartName="/ppt/media/image17.png" ContentType="image/png"/>
  <Override PartName="/ppt/media/image1.jpeg" ContentType="image/jpeg"/>
  <Override PartName="/ppt/media/image16.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18.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16.xml.rels" ContentType="application/vnd.openxmlformats-package.relationships+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s/_rels/slide28.xml.rels" ContentType="application/vnd.openxmlformats-package.relationships+xml"/>
  <Override PartName="/ppt/slides/_rels/slide27.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20.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8" name="PlaceHolder 2"/>
          <p:cNvSpPr>
            <a:spLocks noGrp="1"/>
          </p:cNvSpPr>
          <p:nvPr>
            <p:ph type="subTitle"/>
          </p:nvPr>
        </p:nvSpPr>
        <p:spPr>
          <a:xfrm>
            <a:off x="845280" y="1381320"/>
            <a:ext cx="10515240" cy="479844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10" name="PlaceHolder 2"/>
          <p:cNvSpPr>
            <a:spLocks noGrp="1"/>
          </p:cNvSpPr>
          <p:nvPr>
            <p:ph type="body"/>
          </p:nvPr>
        </p:nvSpPr>
        <p:spPr>
          <a:xfrm>
            <a:off x="845280" y="1381320"/>
            <a:ext cx="10515240" cy="479844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12" name="PlaceHolder 2"/>
          <p:cNvSpPr>
            <a:spLocks noGrp="1"/>
          </p:cNvSpPr>
          <p:nvPr>
            <p:ph type="body"/>
          </p:nvPr>
        </p:nvSpPr>
        <p:spPr>
          <a:xfrm>
            <a:off x="84528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13" name="PlaceHolder 3"/>
          <p:cNvSpPr>
            <a:spLocks noGrp="1"/>
          </p:cNvSpPr>
          <p:nvPr>
            <p:ph type="body"/>
          </p:nvPr>
        </p:nvSpPr>
        <p:spPr>
          <a:xfrm>
            <a:off x="623340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845280" y="365760"/>
            <a:ext cx="9445320" cy="382932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17"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18" name="PlaceHolder 3"/>
          <p:cNvSpPr>
            <a:spLocks noGrp="1"/>
          </p:cNvSpPr>
          <p:nvPr>
            <p:ph type="body"/>
          </p:nvPr>
        </p:nvSpPr>
        <p:spPr>
          <a:xfrm>
            <a:off x="623340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19" name="PlaceHolder 4"/>
          <p:cNvSpPr>
            <a:spLocks noGrp="1"/>
          </p:cNvSpPr>
          <p:nvPr>
            <p:ph type="body"/>
          </p:nvPr>
        </p:nvSpPr>
        <p:spPr>
          <a:xfrm>
            <a:off x="84528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21" name="PlaceHolder 2"/>
          <p:cNvSpPr>
            <a:spLocks noGrp="1"/>
          </p:cNvSpPr>
          <p:nvPr>
            <p:ph type="body"/>
          </p:nvPr>
        </p:nvSpPr>
        <p:spPr>
          <a:xfrm>
            <a:off x="84528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22"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23" name="PlaceHolder 4"/>
          <p:cNvSpPr>
            <a:spLocks noGrp="1"/>
          </p:cNvSpPr>
          <p:nvPr>
            <p:ph type="body"/>
          </p:nvPr>
        </p:nvSpPr>
        <p:spPr>
          <a:xfrm>
            <a:off x="623340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25"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26"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27" name="PlaceHolder 4"/>
          <p:cNvSpPr>
            <a:spLocks noGrp="1"/>
          </p:cNvSpPr>
          <p:nvPr>
            <p:ph type="body"/>
          </p:nvPr>
        </p:nvSpPr>
        <p:spPr>
          <a:xfrm>
            <a:off x="845280" y="388764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29" name="PlaceHolder 2"/>
          <p:cNvSpPr>
            <a:spLocks noGrp="1"/>
          </p:cNvSpPr>
          <p:nvPr>
            <p:ph type="body"/>
          </p:nvPr>
        </p:nvSpPr>
        <p:spPr>
          <a:xfrm>
            <a:off x="845280" y="138132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0" name="PlaceHolder 3"/>
          <p:cNvSpPr>
            <a:spLocks noGrp="1"/>
          </p:cNvSpPr>
          <p:nvPr>
            <p:ph type="body"/>
          </p:nvPr>
        </p:nvSpPr>
        <p:spPr>
          <a:xfrm>
            <a:off x="845280" y="388764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32"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3"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4" name="PlaceHolder 4"/>
          <p:cNvSpPr>
            <a:spLocks noGrp="1"/>
          </p:cNvSpPr>
          <p:nvPr>
            <p:ph type="body"/>
          </p:nvPr>
        </p:nvSpPr>
        <p:spPr>
          <a:xfrm>
            <a:off x="84528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5" name="PlaceHolder 5"/>
          <p:cNvSpPr>
            <a:spLocks noGrp="1"/>
          </p:cNvSpPr>
          <p:nvPr>
            <p:ph type="body"/>
          </p:nvPr>
        </p:nvSpPr>
        <p:spPr>
          <a:xfrm>
            <a:off x="623340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37" name="PlaceHolder 2"/>
          <p:cNvSpPr>
            <a:spLocks noGrp="1"/>
          </p:cNvSpPr>
          <p:nvPr>
            <p:ph type="body"/>
          </p:nvPr>
        </p:nvSpPr>
        <p:spPr>
          <a:xfrm>
            <a:off x="84528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8" name="PlaceHolder 3"/>
          <p:cNvSpPr>
            <a:spLocks noGrp="1"/>
          </p:cNvSpPr>
          <p:nvPr>
            <p:ph type="body"/>
          </p:nvPr>
        </p:nvSpPr>
        <p:spPr>
          <a:xfrm>
            <a:off x="440064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39" name="PlaceHolder 4"/>
          <p:cNvSpPr>
            <a:spLocks noGrp="1"/>
          </p:cNvSpPr>
          <p:nvPr>
            <p:ph type="body"/>
          </p:nvPr>
        </p:nvSpPr>
        <p:spPr>
          <a:xfrm>
            <a:off x="795636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40" name="PlaceHolder 5"/>
          <p:cNvSpPr>
            <a:spLocks noGrp="1"/>
          </p:cNvSpPr>
          <p:nvPr>
            <p:ph type="body"/>
          </p:nvPr>
        </p:nvSpPr>
        <p:spPr>
          <a:xfrm>
            <a:off x="84528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41" name="PlaceHolder 6"/>
          <p:cNvSpPr>
            <a:spLocks noGrp="1"/>
          </p:cNvSpPr>
          <p:nvPr>
            <p:ph type="body"/>
          </p:nvPr>
        </p:nvSpPr>
        <p:spPr>
          <a:xfrm>
            <a:off x="440064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42" name="PlaceHolder 7"/>
          <p:cNvSpPr>
            <a:spLocks noGrp="1"/>
          </p:cNvSpPr>
          <p:nvPr>
            <p:ph type="body"/>
          </p:nvPr>
        </p:nvSpPr>
        <p:spPr>
          <a:xfrm>
            <a:off x="795636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52" name="PlaceHolder 2"/>
          <p:cNvSpPr>
            <a:spLocks noGrp="1"/>
          </p:cNvSpPr>
          <p:nvPr>
            <p:ph type="subTitle"/>
          </p:nvPr>
        </p:nvSpPr>
        <p:spPr>
          <a:xfrm>
            <a:off x="845280" y="1381320"/>
            <a:ext cx="10515240" cy="479844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54" name="PlaceHolder 2"/>
          <p:cNvSpPr>
            <a:spLocks noGrp="1"/>
          </p:cNvSpPr>
          <p:nvPr>
            <p:ph type="body"/>
          </p:nvPr>
        </p:nvSpPr>
        <p:spPr>
          <a:xfrm>
            <a:off x="845280" y="1381320"/>
            <a:ext cx="10515240" cy="479844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56" name="PlaceHolder 2"/>
          <p:cNvSpPr>
            <a:spLocks noGrp="1"/>
          </p:cNvSpPr>
          <p:nvPr>
            <p:ph type="body"/>
          </p:nvPr>
        </p:nvSpPr>
        <p:spPr>
          <a:xfrm>
            <a:off x="84528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57" name="PlaceHolder 3"/>
          <p:cNvSpPr>
            <a:spLocks noGrp="1"/>
          </p:cNvSpPr>
          <p:nvPr>
            <p:ph type="body"/>
          </p:nvPr>
        </p:nvSpPr>
        <p:spPr>
          <a:xfrm>
            <a:off x="623340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845280" y="365760"/>
            <a:ext cx="9445320" cy="3829320"/>
          </a:xfrm>
          <a:prstGeom prst="rect">
            <a:avLst/>
          </a:prstGeom>
        </p:spPr>
        <p:txBody>
          <a:bodyPr lIns="0" rIns="0" tIns="0" bIns="0" anchor="ct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61"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62" name="PlaceHolder 3"/>
          <p:cNvSpPr>
            <a:spLocks noGrp="1"/>
          </p:cNvSpPr>
          <p:nvPr>
            <p:ph type="body"/>
          </p:nvPr>
        </p:nvSpPr>
        <p:spPr>
          <a:xfrm>
            <a:off x="623340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63" name="PlaceHolder 4"/>
          <p:cNvSpPr>
            <a:spLocks noGrp="1"/>
          </p:cNvSpPr>
          <p:nvPr>
            <p:ph type="body"/>
          </p:nvPr>
        </p:nvSpPr>
        <p:spPr>
          <a:xfrm>
            <a:off x="84528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65" name="PlaceHolder 2"/>
          <p:cNvSpPr>
            <a:spLocks noGrp="1"/>
          </p:cNvSpPr>
          <p:nvPr>
            <p:ph type="body"/>
          </p:nvPr>
        </p:nvSpPr>
        <p:spPr>
          <a:xfrm>
            <a:off x="845280" y="1381320"/>
            <a:ext cx="5131080" cy="4798440"/>
          </a:xfrm>
          <a:prstGeom prst="rect">
            <a:avLst/>
          </a:prstGeom>
        </p:spPr>
        <p:txBody>
          <a:bodyPr lIns="0" rIns="0" tIns="0" bIns="0">
            <a:normAutofit/>
          </a:bodyPr>
          <a:p>
            <a:endParaRPr b="0" lang="en-IN" sz="1400" spc="-1" strike="noStrike">
              <a:solidFill>
                <a:srgbClr val="000000"/>
              </a:solidFill>
              <a:latin typeface="Arial"/>
            </a:endParaRPr>
          </a:p>
        </p:txBody>
      </p:sp>
      <p:sp>
        <p:nvSpPr>
          <p:cNvPr id="66"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67" name="PlaceHolder 4"/>
          <p:cNvSpPr>
            <a:spLocks noGrp="1"/>
          </p:cNvSpPr>
          <p:nvPr>
            <p:ph type="body"/>
          </p:nvPr>
        </p:nvSpPr>
        <p:spPr>
          <a:xfrm>
            <a:off x="623340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69"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0"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1" name="PlaceHolder 4"/>
          <p:cNvSpPr>
            <a:spLocks noGrp="1"/>
          </p:cNvSpPr>
          <p:nvPr>
            <p:ph type="body"/>
          </p:nvPr>
        </p:nvSpPr>
        <p:spPr>
          <a:xfrm>
            <a:off x="845280" y="388764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73" name="PlaceHolder 2"/>
          <p:cNvSpPr>
            <a:spLocks noGrp="1"/>
          </p:cNvSpPr>
          <p:nvPr>
            <p:ph type="body"/>
          </p:nvPr>
        </p:nvSpPr>
        <p:spPr>
          <a:xfrm>
            <a:off x="845280" y="138132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4" name="PlaceHolder 3"/>
          <p:cNvSpPr>
            <a:spLocks noGrp="1"/>
          </p:cNvSpPr>
          <p:nvPr>
            <p:ph type="body"/>
          </p:nvPr>
        </p:nvSpPr>
        <p:spPr>
          <a:xfrm>
            <a:off x="845280" y="3887640"/>
            <a:ext cx="1051524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76" name="PlaceHolder 2"/>
          <p:cNvSpPr>
            <a:spLocks noGrp="1"/>
          </p:cNvSpPr>
          <p:nvPr>
            <p:ph type="body"/>
          </p:nvPr>
        </p:nvSpPr>
        <p:spPr>
          <a:xfrm>
            <a:off x="84528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7" name="PlaceHolder 3"/>
          <p:cNvSpPr>
            <a:spLocks noGrp="1"/>
          </p:cNvSpPr>
          <p:nvPr>
            <p:ph type="body"/>
          </p:nvPr>
        </p:nvSpPr>
        <p:spPr>
          <a:xfrm>
            <a:off x="6233400" y="138132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8" name="PlaceHolder 4"/>
          <p:cNvSpPr>
            <a:spLocks noGrp="1"/>
          </p:cNvSpPr>
          <p:nvPr>
            <p:ph type="body"/>
          </p:nvPr>
        </p:nvSpPr>
        <p:spPr>
          <a:xfrm>
            <a:off x="84528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79" name="PlaceHolder 5"/>
          <p:cNvSpPr>
            <a:spLocks noGrp="1"/>
          </p:cNvSpPr>
          <p:nvPr>
            <p:ph type="body"/>
          </p:nvPr>
        </p:nvSpPr>
        <p:spPr>
          <a:xfrm>
            <a:off x="6233400" y="3887640"/>
            <a:ext cx="513108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845280" y="365760"/>
            <a:ext cx="9445320" cy="825840"/>
          </a:xfrm>
          <a:prstGeom prst="rect">
            <a:avLst/>
          </a:prstGeom>
        </p:spPr>
        <p:txBody>
          <a:bodyPr lIns="0" rIns="0" tIns="0" bIns="0" anchor="ctr"/>
          <a:p>
            <a:endParaRPr b="0" lang="en-IN" sz="1400" spc="-1" strike="noStrike">
              <a:solidFill>
                <a:srgbClr val="000000"/>
              </a:solidFill>
              <a:latin typeface="Arial"/>
            </a:endParaRPr>
          </a:p>
        </p:txBody>
      </p:sp>
      <p:sp>
        <p:nvSpPr>
          <p:cNvPr id="81" name="PlaceHolder 2"/>
          <p:cNvSpPr>
            <a:spLocks noGrp="1"/>
          </p:cNvSpPr>
          <p:nvPr>
            <p:ph type="body"/>
          </p:nvPr>
        </p:nvSpPr>
        <p:spPr>
          <a:xfrm>
            <a:off x="84528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82" name="PlaceHolder 3"/>
          <p:cNvSpPr>
            <a:spLocks noGrp="1"/>
          </p:cNvSpPr>
          <p:nvPr>
            <p:ph type="body"/>
          </p:nvPr>
        </p:nvSpPr>
        <p:spPr>
          <a:xfrm>
            <a:off x="440064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83" name="PlaceHolder 4"/>
          <p:cNvSpPr>
            <a:spLocks noGrp="1"/>
          </p:cNvSpPr>
          <p:nvPr>
            <p:ph type="body"/>
          </p:nvPr>
        </p:nvSpPr>
        <p:spPr>
          <a:xfrm>
            <a:off x="7956360" y="138132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84" name="PlaceHolder 5"/>
          <p:cNvSpPr>
            <a:spLocks noGrp="1"/>
          </p:cNvSpPr>
          <p:nvPr>
            <p:ph type="body"/>
          </p:nvPr>
        </p:nvSpPr>
        <p:spPr>
          <a:xfrm>
            <a:off x="84528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85" name="PlaceHolder 6"/>
          <p:cNvSpPr>
            <a:spLocks noGrp="1"/>
          </p:cNvSpPr>
          <p:nvPr>
            <p:ph type="body"/>
          </p:nvPr>
        </p:nvSpPr>
        <p:spPr>
          <a:xfrm>
            <a:off x="440064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
        <p:nvSpPr>
          <p:cNvPr id="86" name="PlaceHolder 7"/>
          <p:cNvSpPr>
            <a:spLocks noGrp="1"/>
          </p:cNvSpPr>
          <p:nvPr>
            <p:ph type="body"/>
          </p:nvPr>
        </p:nvSpPr>
        <p:spPr>
          <a:xfrm>
            <a:off x="7956360" y="3887640"/>
            <a:ext cx="3385800" cy="2288520"/>
          </a:xfrm>
          <a:prstGeom prst="rect">
            <a:avLst/>
          </a:prstGeom>
        </p:spPr>
        <p:txBody>
          <a:bodyPr lIns="0" rIns="0" tIns="0" bIns="0">
            <a:normAutofit/>
          </a:bodyPr>
          <a:p>
            <a:endParaRPr b="0" lang="en-IN"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eada7"/>
        </a:solidFill>
      </p:bgPr>
    </p:bg>
    <p:spTree>
      <p:nvGrpSpPr>
        <p:cNvPr id="1" name=""/>
        <p:cNvGrpSpPr/>
        <p:nvPr/>
      </p:nvGrpSpPr>
      <p:grpSpPr>
        <a:xfrm>
          <a:off x="0" y="0"/>
          <a:ext cx="0" cy="0"/>
          <a:chOff x="0" y="0"/>
          <a:chExt cx="0" cy="0"/>
        </a:xfrm>
      </p:grpSpPr>
      <p:pic>
        <p:nvPicPr>
          <p:cNvPr id="0" name="Google Shape;12;p2" descr=""/>
          <p:cNvPicPr/>
          <p:nvPr/>
        </p:nvPicPr>
        <p:blipFill>
          <a:blip r:embed="rId2"/>
          <a:srcRect l="72907" t="69251" r="0" b="0"/>
          <a:stretch/>
        </p:blipFill>
        <p:spPr>
          <a:xfrm>
            <a:off x="9715680" y="4749840"/>
            <a:ext cx="2476080" cy="2107800"/>
          </a:xfrm>
          <a:prstGeom prst="rect">
            <a:avLst/>
          </a:prstGeom>
          <a:ln>
            <a:noFill/>
          </a:ln>
        </p:spPr>
      </p:pic>
      <p:sp>
        <p:nvSpPr>
          <p:cNvPr id="1" name="PlaceHolder 1"/>
          <p:cNvSpPr>
            <a:spLocks noGrp="1"/>
          </p:cNvSpPr>
          <p:nvPr>
            <p:ph type="title"/>
          </p:nvPr>
        </p:nvSpPr>
        <p:spPr>
          <a:xfrm>
            <a:off x="1523880" y="1063800"/>
            <a:ext cx="9753120" cy="1874520"/>
          </a:xfrm>
          <a:prstGeom prst="rect">
            <a:avLst/>
          </a:prstGeom>
        </p:spPr>
        <p:txBody>
          <a:bodyPr anchor="b">
            <a:normAutofit/>
          </a:bodyPr>
          <a:p>
            <a:r>
              <a:rPr b="0" lang="en-IN" sz="5400" spc="-1" strike="noStrike">
                <a:solidFill>
                  <a:srgbClr val="000000"/>
                </a:solidFill>
                <a:latin typeface="Arial"/>
              </a:rPr>
              <a:t>Click to edit the title text format</a:t>
            </a:r>
            <a:endParaRPr b="0" lang="en-IN" sz="5400" spc="-1" strike="noStrike">
              <a:solidFill>
                <a:srgbClr val="000000"/>
              </a:solidFill>
              <a:latin typeface="Arial"/>
            </a:endParaRPr>
          </a:p>
        </p:txBody>
      </p:sp>
      <p:sp>
        <p:nvSpPr>
          <p:cNvPr id="2" name="PlaceHolder 2"/>
          <p:cNvSpPr>
            <a:spLocks noGrp="1"/>
          </p:cNvSpPr>
          <p:nvPr>
            <p:ph type="dt"/>
          </p:nvPr>
        </p:nvSpPr>
        <p:spPr>
          <a:xfrm>
            <a:off x="5486400" y="6356520"/>
            <a:ext cx="2742840" cy="364680"/>
          </a:xfrm>
          <a:prstGeom prst="rect">
            <a:avLst/>
          </a:prstGeom>
        </p:spPr>
        <p:txBody>
          <a:bodyPr anchor="ctr"/>
          <a:p>
            <a:endParaRPr b="0" lang="en-IN" sz="2400" spc="-1" strike="noStrike">
              <a:latin typeface="Times New Roman"/>
            </a:endParaRPr>
          </a:p>
        </p:txBody>
      </p:sp>
      <p:sp>
        <p:nvSpPr>
          <p:cNvPr id="3" name="PlaceHolder 3"/>
          <p:cNvSpPr>
            <a:spLocks noGrp="1"/>
          </p:cNvSpPr>
          <p:nvPr>
            <p:ph type="sldNum"/>
          </p:nvPr>
        </p:nvSpPr>
        <p:spPr>
          <a:xfrm>
            <a:off x="8617680" y="6356520"/>
            <a:ext cx="2742840" cy="364680"/>
          </a:xfrm>
          <a:prstGeom prst="rect">
            <a:avLst/>
          </a:prstGeom>
        </p:spPr>
        <p:txBody>
          <a:bodyPr anchor="ctr"/>
          <a:p>
            <a:pPr algn="r">
              <a:lnSpc>
                <a:spcPct val="100000"/>
              </a:lnSpc>
            </a:pPr>
            <a:fld id="{FF952ED6-76B0-4571-AF89-02032A9C073A}" type="slidenum">
              <a:rPr b="0" lang="en-IN" sz="1100" spc="-1" strike="noStrike">
                <a:solidFill>
                  <a:srgbClr val="888888"/>
                </a:solidFill>
                <a:latin typeface="Calibri"/>
                <a:ea typeface="Calibri"/>
              </a:rPr>
              <a:t>&lt;number&gt;</a:t>
            </a:fld>
            <a:endParaRPr b="0" lang="en-IN" sz="1100" spc="-1" strike="noStrike">
              <a:latin typeface="Times New Roman"/>
            </a:endParaRPr>
          </a:p>
        </p:txBody>
      </p:sp>
      <p:sp>
        <p:nvSpPr>
          <p:cNvPr id="4" name="CustomShape 4"/>
          <p:cNvSpPr/>
          <p:nvPr/>
        </p:nvSpPr>
        <p:spPr>
          <a:xfrm>
            <a:off x="914400" y="3089520"/>
            <a:ext cx="10362960" cy="360"/>
          </a:xfrm>
          <a:custGeom>
            <a:avLst/>
            <a:gdLst/>
            <a:ahLst/>
            <a:rect l="l" t="t" r="r" b="b"/>
            <a:pathLst>
              <a:path w="21600" h="21600">
                <a:moveTo>
                  <a:pt x="0" y="0"/>
                </a:moveTo>
                <a:lnTo>
                  <a:pt x="21600" y="21600"/>
                </a:lnTo>
              </a:path>
            </a:pathLst>
          </a:custGeom>
          <a:noFill/>
          <a:ln w="9360">
            <a:solidFill>
              <a:schemeClr val="lt1"/>
            </a:solidFill>
            <a:round/>
          </a:ln>
        </p:spPr>
        <p:style>
          <a:lnRef idx="0"/>
          <a:fillRef idx="0"/>
          <a:effectRef idx="0"/>
          <a:fontRef idx="minor"/>
        </p:style>
      </p:sp>
      <p:pic>
        <p:nvPicPr>
          <p:cNvPr id="5" name="Google Shape;18;p2" descr=""/>
          <p:cNvPicPr/>
          <p:nvPr/>
        </p:nvPicPr>
        <p:blipFill>
          <a:blip r:embed="rId3"/>
          <a:stretch/>
        </p:blipFill>
        <p:spPr>
          <a:xfrm>
            <a:off x="914400" y="4534920"/>
            <a:ext cx="3013920" cy="1658520"/>
          </a:xfrm>
          <a:prstGeom prst="rect">
            <a:avLst/>
          </a:prstGeom>
          <a:ln>
            <a:noFill/>
          </a:ln>
        </p:spPr>
      </p:pic>
      <p:sp>
        <p:nvSpPr>
          <p:cNvPr id="6"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400" spc="-1" strike="noStrike">
                <a:solidFill>
                  <a:srgbClr val="000000"/>
                </a:solidFill>
                <a:latin typeface="Arial"/>
              </a:rPr>
              <a:t>Fourth Outline Level</a:t>
            </a:r>
            <a:endParaRPr b="0" lang="en-IN"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Outline 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Outline 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3" name="Google Shape;20;p3" descr=""/>
          <p:cNvPicPr/>
          <p:nvPr/>
        </p:nvPicPr>
        <p:blipFill>
          <a:blip r:embed="rId2"/>
          <a:srcRect l="72688" t="69865" r="0" b="0"/>
          <a:stretch/>
        </p:blipFill>
        <p:spPr>
          <a:xfrm>
            <a:off x="9694800" y="4789800"/>
            <a:ext cx="2496960" cy="2067840"/>
          </a:xfrm>
          <a:prstGeom prst="rect">
            <a:avLst/>
          </a:prstGeom>
          <a:ln>
            <a:noFill/>
          </a:ln>
        </p:spPr>
      </p:pic>
      <p:sp>
        <p:nvSpPr>
          <p:cNvPr id="44" name="PlaceHolder 1"/>
          <p:cNvSpPr>
            <a:spLocks noGrp="1"/>
          </p:cNvSpPr>
          <p:nvPr>
            <p:ph type="title"/>
          </p:nvPr>
        </p:nvSpPr>
        <p:spPr>
          <a:xfrm>
            <a:off x="845280" y="365760"/>
            <a:ext cx="9445320" cy="825840"/>
          </a:xfrm>
          <a:prstGeom prst="rect">
            <a:avLst/>
          </a:prstGeom>
        </p:spPr>
        <p:txBody>
          <a:bodyPr anchor="ctr">
            <a:normAutofit/>
          </a:bodyPr>
          <a:p>
            <a:r>
              <a:rPr b="0" lang="en-IN" sz="4400" spc="-1" strike="noStrike">
                <a:solidFill>
                  <a:srgbClr val="000000"/>
                </a:solidFill>
                <a:latin typeface="Arial"/>
              </a:rPr>
              <a:t>Click to edit the title text format</a:t>
            </a:r>
            <a:endParaRPr b="0" lang="en-IN" sz="4400" spc="-1" strike="noStrike">
              <a:solidFill>
                <a:srgbClr val="000000"/>
              </a:solidFill>
              <a:latin typeface="Arial"/>
            </a:endParaRPr>
          </a:p>
        </p:txBody>
      </p:sp>
      <p:sp>
        <p:nvSpPr>
          <p:cNvPr id="45" name="PlaceHolder 2"/>
          <p:cNvSpPr>
            <a:spLocks noGrp="1"/>
          </p:cNvSpPr>
          <p:nvPr>
            <p:ph type="body"/>
          </p:nvPr>
        </p:nvSpPr>
        <p:spPr>
          <a:xfrm>
            <a:off x="845280" y="1381320"/>
            <a:ext cx="10515240" cy="4798440"/>
          </a:xfrm>
          <a:prstGeom prst="rect">
            <a:avLst/>
          </a:prstGeom>
        </p:spPr>
        <p:txBody>
          <a:bodyPr>
            <a:normAutofit/>
          </a:bodyPr>
          <a:p>
            <a:pPr marL="432000" indent="-324000">
              <a:spcBef>
                <a:spcPts val="1417"/>
              </a:spcBef>
              <a:buClr>
                <a:srgbClr val="000000"/>
              </a:buClr>
              <a:buSzPct val="45000"/>
              <a:buFont typeface="Wingdings" charset="2"/>
              <a:buChar char=""/>
            </a:pPr>
            <a:r>
              <a:rPr b="0" lang="en-IN" sz="2800" spc="-1" strike="noStrike">
                <a:solidFill>
                  <a:srgbClr val="000000"/>
                </a:solidFill>
                <a:latin typeface="Arial"/>
              </a:rPr>
              <a:t>Click to edit the outline text format</a:t>
            </a:r>
            <a:endParaRPr b="0" lang="en-IN"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2800" spc="-1" strike="noStrike">
                <a:solidFill>
                  <a:srgbClr val="000000"/>
                </a:solidFill>
                <a:latin typeface="Arial"/>
              </a:rPr>
              <a:t>Second Outline Level</a:t>
            </a:r>
            <a:endParaRPr b="0" lang="en-IN"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2800" spc="-1" strike="noStrike">
                <a:solidFill>
                  <a:srgbClr val="000000"/>
                </a:solidFill>
                <a:latin typeface="Arial"/>
              </a:rPr>
              <a:t>Third Outline Level</a:t>
            </a:r>
            <a:endParaRPr b="0" lang="en-IN"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2800" spc="-1" strike="noStrike">
                <a:solidFill>
                  <a:srgbClr val="000000"/>
                </a:solidFill>
                <a:latin typeface="Arial"/>
              </a:rPr>
              <a:t>Fourth Outline Level</a:t>
            </a:r>
            <a:endParaRPr b="0" lang="en-IN"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800" spc="-1" strike="noStrike">
                <a:solidFill>
                  <a:srgbClr val="000000"/>
                </a:solidFill>
                <a:latin typeface="Arial"/>
              </a:rPr>
              <a:t>Fifth Outline Level</a:t>
            </a:r>
            <a:endParaRPr b="0" lang="en-IN"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800" spc="-1" strike="noStrike">
                <a:solidFill>
                  <a:srgbClr val="000000"/>
                </a:solidFill>
                <a:latin typeface="Arial"/>
              </a:rPr>
              <a:t>Sixth Outline Level</a:t>
            </a:r>
            <a:endParaRPr b="0" lang="en-IN"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800" spc="-1" strike="noStrike">
                <a:solidFill>
                  <a:srgbClr val="000000"/>
                </a:solidFill>
                <a:latin typeface="Arial"/>
              </a:rPr>
              <a:t>Seventh Outline Level</a:t>
            </a:r>
            <a:endParaRPr b="0" lang="en-IN" sz="2800" spc="-1" strike="noStrike">
              <a:solidFill>
                <a:srgbClr val="000000"/>
              </a:solidFill>
              <a:latin typeface="Arial"/>
            </a:endParaRPr>
          </a:p>
        </p:txBody>
      </p:sp>
      <p:sp>
        <p:nvSpPr>
          <p:cNvPr id="46" name="PlaceHolder 3"/>
          <p:cNvSpPr>
            <a:spLocks noGrp="1"/>
          </p:cNvSpPr>
          <p:nvPr>
            <p:ph type="dt"/>
          </p:nvPr>
        </p:nvSpPr>
        <p:spPr>
          <a:xfrm>
            <a:off x="838080" y="6356520"/>
            <a:ext cx="2742840" cy="364680"/>
          </a:xfrm>
          <a:prstGeom prst="rect">
            <a:avLst/>
          </a:prstGeom>
        </p:spPr>
        <p:txBody>
          <a:bodyPr anchor="ctr"/>
          <a:p>
            <a:endParaRPr b="0" lang="en-IN" sz="2400" spc="-1" strike="noStrike">
              <a:latin typeface="Times New Roman"/>
            </a:endParaRPr>
          </a:p>
        </p:txBody>
      </p:sp>
      <p:sp>
        <p:nvSpPr>
          <p:cNvPr id="47" name="PlaceHolder 4"/>
          <p:cNvSpPr>
            <a:spLocks noGrp="1"/>
          </p:cNvSpPr>
          <p:nvPr>
            <p:ph type="ftr"/>
          </p:nvPr>
        </p:nvSpPr>
        <p:spPr>
          <a:xfrm>
            <a:off x="4038480" y="6356520"/>
            <a:ext cx="4114440" cy="364680"/>
          </a:xfrm>
          <a:prstGeom prst="rect">
            <a:avLst/>
          </a:prstGeom>
        </p:spPr>
        <p:txBody>
          <a:bodyPr anchor="ctr"/>
          <a:p>
            <a:endParaRPr b="0" lang="en-IN" sz="2400" spc="-1" strike="noStrike">
              <a:latin typeface="Times New Roman"/>
            </a:endParaRPr>
          </a:p>
        </p:txBody>
      </p:sp>
      <p:sp>
        <p:nvSpPr>
          <p:cNvPr id="48" name="PlaceHolder 5"/>
          <p:cNvSpPr>
            <a:spLocks noGrp="1"/>
          </p:cNvSpPr>
          <p:nvPr>
            <p:ph type="sldNum"/>
          </p:nvPr>
        </p:nvSpPr>
        <p:spPr>
          <a:xfrm>
            <a:off x="8617680" y="6356520"/>
            <a:ext cx="2742840" cy="364680"/>
          </a:xfrm>
          <a:prstGeom prst="rect">
            <a:avLst/>
          </a:prstGeom>
        </p:spPr>
        <p:txBody>
          <a:bodyPr anchor="ctr"/>
          <a:p>
            <a:pPr algn="r">
              <a:lnSpc>
                <a:spcPct val="100000"/>
              </a:lnSpc>
            </a:pPr>
            <a:fld id="{270453B0-D06A-4F93-B5A3-1001B8929A5C}" type="slidenum">
              <a:rPr b="0" lang="en-IN" sz="1100" spc="-1" strike="noStrike">
                <a:solidFill>
                  <a:srgbClr val="888888"/>
                </a:solidFill>
                <a:latin typeface="Calibri"/>
                <a:ea typeface="Calibri"/>
              </a:rPr>
              <a:t>1</a:t>
            </a:fld>
            <a:endParaRPr b="0" lang="en-IN" sz="1100" spc="-1" strike="noStrike">
              <a:latin typeface="Times New Roman"/>
            </a:endParaRPr>
          </a:p>
        </p:txBody>
      </p:sp>
      <p:sp>
        <p:nvSpPr>
          <p:cNvPr id="49" name="CustomShape 6"/>
          <p:cNvSpPr/>
          <p:nvPr/>
        </p:nvSpPr>
        <p:spPr>
          <a:xfrm>
            <a:off x="845280" y="1191960"/>
            <a:ext cx="10515240" cy="360"/>
          </a:xfrm>
          <a:custGeom>
            <a:avLst/>
            <a:gdLst/>
            <a:ahLst/>
            <a:rect l="l" t="t" r="r" b="b"/>
            <a:pathLst>
              <a:path w="21600" h="21600">
                <a:moveTo>
                  <a:pt x="0" y="0"/>
                </a:moveTo>
                <a:lnTo>
                  <a:pt x="21600" y="21600"/>
                </a:lnTo>
              </a:path>
            </a:pathLst>
          </a:custGeom>
          <a:noFill/>
          <a:ln w="9360">
            <a:solidFill>
              <a:srgbClr val="3daca7"/>
            </a:solidFill>
            <a:round/>
          </a:ln>
        </p:spPr>
        <p:style>
          <a:lnRef idx="0"/>
          <a:fillRef idx="0"/>
          <a:effectRef idx="0"/>
          <a:fontRef idx="minor"/>
        </p:style>
      </p:sp>
      <p:pic>
        <p:nvPicPr>
          <p:cNvPr id="50" name="Google Shape;27;p3" descr=""/>
          <p:cNvPicPr/>
          <p:nvPr/>
        </p:nvPicPr>
        <p:blipFill>
          <a:blip r:embed="rId3"/>
          <a:stretch/>
        </p:blipFill>
        <p:spPr>
          <a:xfrm>
            <a:off x="10560600" y="555120"/>
            <a:ext cx="799920" cy="447480"/>
          </a:xfrm>
          <a:prstGeom prst="rect">
            <a:avLst/>
          </a:prstGeom>
          <a:ln>
            <a:noFill/>
          </a:ln>
        </p:spPr>
      </p:pic>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Shape 1"/>
          <p:cNvSpPr txBox="1"/>
          <p:nvPr/>
        </p:nvSpPr>
        <p:spPr>
          <a:xfrm>
            <a:off x="716400" y="2154960"/>
            <a:ext cx="6586560" cy="837720"/>
          </a:xfrm>
          <a:prstGeom prst="rect">
            <a:avLst/>
          </a:prstGeom>
          <a:noFill/>
          <a:ln>
            <a:noFill/>
          </a:ln>
        </p:spPr>
        <p:txBody>
          <a:bodyPr anchor="b">
            <a:normAutofit/>
          </a:bodyPr>
          <a:p>
            <a:pPr>
              <a:lnSpc>
                <a:spcPct val="100000"/>
              </a:lnSpc>
            </a:pPr>
            <a:r>
              <a:rPr b="1" lang="en-IN" sz="4400" spc="-1" strike="noStrike">
                <a:solidFill>
                  <a:srgbClr val="ffffff"/>
                </a:solidFill>
                <a:latin typeface="Proxima Nova"/>
                <a:ea typeface="Proxima Nova"/>
              </a:rPr>
              <a:t>Tutorial 4</a:t>
            </a:r>
            <a:endParaRPr b="0" lang="en-IN" sz="4400" spc="-1" strike="noStrike">
              <a:solidFill>
                <a:srgbClr val="000000"/>
              </a:solidFill>
              <a:latin typeface="Arial"/>
            </a:endParaRPr>
          </a:p>
        </p:txBody>
      </p:sp>
      <p:sp>
        <p:nvSpPr>
          <p:cNvPr id="88" name="TextShape 2"/>
          <p:cNvSpPr txBox="1"/>
          <p:nvPr/>
        </p:nvSpPr>
        <p:spPr>
          <a:xfrm>
            <a:off x="871560" y="3164400"/>
            <a:ext cx="3245760" cy="837720"/>
          </a:xfrm>
          <a:prstGeom prst="rect">
            <a:avLst/>
          </a:prstGeom>
          <a:noFill/>
          <a:ln>
            <a:noFill/>
          </a:ln>
        </p:spPr>
        <p:txBody>
          <a:bodyPr>
            <a:normAutofit/>
          </a:bodyPr>
          <a:p>
            <a:pPr algn="r">
              <a:lnSpc>
                <a:spcPct val="90000"/>
              </a:lnSpc>
            </a:pPr>
            <a:r>
              <a:rPr b="0" lang="en-IN" sz="3000" spc="-1" strike="noStrike">
                <a:solidFill>
                  <a:srgbClr val="e9f7f6"/>
                </a:solidFill>
                <a:latin typeface="Calibri"/>
                <a:ea typeface="Calibri"/>
              </a:rPr>
              <a:t>Scheduling Policies</a:t>
            </a:r>
            <a:endParaRPr b="0" lang="en-IN" sz="3000" spc="-1" strike="noStrike">
              <a:latin typeface="Arial"/>
            </a:endParaRPr>
          </a:p>
        </p:txBody>
      </p:sp>
    </p:spTree>
  </p:cSld>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400" spc="-1" strike="noStrike">
                <a:solidFill>
                  <a:srgbClr val="3eada7"/>
                </a:solidFill>
                <a:latin typeface="Arial"/>
                <a:ea typeface="Arial"/>
              </a:rPr>
              <a:t>Scheduler</a:t>
            </a:r>
            <a:endParaRPr b="0" lang="en-IN" sz="3400" spc="-1" strike="noStrike">
              <a:solidFill>
                <a:srgbClr val="000000"/>
              </a:solidFill>
              <a:latin typeface="Arial"/>
            </a:endParaRPr>
          </a:p>
        </p:txBody>
      </p:sp>
      <p:sp>
        <p:nvSpPr>
          <p:cNvPr id="90" name="TextShape 2"/>
          <p:cNvSpPr txBox="1"/>
          <p:nvPr/>
        </p:nvSpPr>
        <p:spPr>
          <a:xfrm>
            <a:off x="506880" y="1497960"/>
            <a:ext cx="10656360" cy="4798800"/>
          </a:xfrm>
          <a:prstGeom prst="rect">
            <a:avLst/>
          </a:prstGeom>
          <a:noFill/>
          <a:ln>
            <a:noFill/>
          </a:ln>
        </p:spPr>
        <p:txBody>
          <a:bodyPr/>
          <a:p>
            <a:pPr marL="457200" indent="-361440">
              <a:lnSpc>
                <a:spcPct val="115000"/>
              </a:lnSpc>
              <a:spcBef>
                <a:spcPts val="799"/>
              </a:spcBef>
              <a:buClr>
                <a:srgbClr val="000000"/>
              </a:buClr>
              <a:buFont typeface="Noto Sans Symbols"/>
              <a:buChar char="●"/>
            </a:pPr>
            <a:r>
              <a:rPr b="0" lang="en-IN" sz="2100" spc="-1" strike="noStrike">
                <a:solidFill>
                  <a:srgbClr val="000000"/>
                </a:solidFill>
                <a:latin typeface="Calibri"/>
                <a:ea typeface="Calibri"/>
              </a:rPr>
              <a:t>The</a:t>
            </a:r>
            <a:r>
              <a:rPr b="1" lang="en-IN" sz="2100" spc="-1" strike="noStrike">
                <a:solidFill>
                  <a:srgbClr val="3366ff"/>
                </a:solidFill>
                <a:latin typeface="Calibri"/>
                <a:ea typeface="Calibri"/>
              </a:rPr>
              <a:t> </a:t>
            </a:r>
            <a:r>
              <a:rPr b="1" lang="en-IN" sz="2100" spc="-1" strike="noStrike">
                <a:solidFill>
                  <a:srgbClr val="3daca7"/>
                </a:solidFill>
                <a:latin typeface="Calibri"/>
                <a:ea typeface="Calibri"/>
              </a:rPr>
              <a:t>scheduler </a:t>
            </a:r>
            <a:r>
              <a:rPr b="0" lang="en-IN" sz="2100" spc="-1" strike="noStrike">
                <a:solidFill>
                  <a:srgbClr val="000000"/>
                </a:solidFill>
                <a:latin typeface="Calibri"/>
                <a:ea typeface="Calibri"/>
              </a:rPr>
              <a:t>selects from among the processes in ready queue, and allocates a CPU core to one of them</a:t>
            </a:r>
            <a:endParaRPr b="0" lang="en-IN" sz="2100" spc="-1" strike="noStrike">
              <a:solidFill>
                <a:srgbClr val="000000"/>
              </a:solidFill>
              <a:latin typeface="Arial"/>
            </a:endParaRPr>
          </a:p>
          <a:p>
            <a:pPr marL="457200" indent="-361440">
              <a:lnSpc>
                <a:spcPct val="115000"/>
              </a:lnSpc>
              <a:buClr>
                <a:srgbClr val="000000"/>
              </a:buClr>
              <a:buFont typeface="Noto Sans Symbols"/>
              <a:buChar char="●"/>
            </a:pPr>
            <a:r>
              <a:rPr b="0" lang="en-IN" sz="2100" spc="-1" strike="noStrike">
                <a:solidFill>
                  <a:srgbClr val="000000"/>
                </a:solidFill>
                <a:latin typeface="Calibri"/>
                <a:ea typeface="Calibri"/>
              </a:rPr>
              <a:t>The ready queue may be ordered in various ways</a:t>
            </a:r>
            <a:endParaRPr b="0" lang="en-IN" sz="2100" spc="-1" strike="noStrike">
              <a:solidFill>
                <a:srgbClr val="000000"/>
              </a:solidFill>
              <a:latin typeface="Arial"/>
            </a:endParaRPr>
          </a:p>
          <a:p>
            <a:pPr marL="457200" indent="-361440">
              <a:lnSpc>
                <a:spcPct val="115000"/>
              </a:lnSpc>
              <a:buClr>
                <a:srgbClr val="000000"/>
              </a:buClr>
              <a:buFont typeface="Noto Sans Symbols"/>
              <a:buChar char="●"/>
            </a:pPr>
            <a:r>
              <a:rPr b="0" lang="en-IN" sz="2100" spc="-1" strike="noStrike">
                <a:solidFill>
                  <a:srgbClr val="000000"/>
                </a:solidFill>
                <a:latin typeface="Calibri"/>
                <a:ea typeface="Calibri"/>
              </a:rPr>
              <a:t>CPU scheduling decisions may take place when a process:</a:t>
            </a:r>
            <a:endParaRPr b="0" lang="en-IN" sz="2100" spc="-1" strike="noStrike">
              <a:solidFill>
                <a:srgbClr val="000000"/>
              </a:solidFill>
              <a:latin typeface="Arial"/>
            </a:endParaRPr>
          </a:p>
          <a:p>
            <a:pPr marL="800280">
              <a:lnSpc>
                <a:spcPct val="115000"/>
              </a:lnSpc>
              <a:spcBef>
                <a:spcPts val="799"/>
              </a:spcBef>
            </a:pPr>
            <a:r>
              <a:rPr b="0" lang="en-IN" sz="2100" spc="-1" strike="noStrike">
                <a:solidFill>
                  <a:srgbClr val="3daca7"/>
                </a:solidFill>
                <a:latin typeface="Calibri"/>
                <a:ea typeface="Calibri"/>
              </a:rPr>
              <a:t>1. </a:t>
            </a:r>
            <a:r>
              <a:rPr b="0" lang="en-IN" sz="2100" spc="-1" strike="noStrike">
                <a:solidFill>
                  <a:srgbClr val="cc6600"/>
                </a:solidFill>
                <a:latin typeface="Calibri"/>
                <a:ea typeface="Calibri"/>
              </a:rPr>
              <a:t> </a:t>
            </a:r>
            <a:r>
              <a:rPr b="0" lang="en-IN" sz="2100" spc="-1" strike="noStrike">
                <a:solidFill>
                  <a:srgbClr val="000000"/>
                </a:solidFill>
                <a:latin typeface="Calibri"/>
                <a:ea typeface="Calibri"/>
              </a:rPr>
              <a:t>Switches from running to waiting state</a:t>
            </a:r>
            <a:endParaRPr b="0" lang="en-IN" sz="2100" spc="-1" strike="noStrike">
              <a:solidFill>
                <a:srgbClr val="000000"/>
              </a:solidFill>
              <a:latin typeface="Arial"/>
            </a:endParaRPr>
          </a:p>
          <a:p>
            <a:pPr marL="800280">
              <a:lnSpc>
                <a:spcPct val="115000"/>
              </a:lnSpc>
              <a:spcBef>
                <a:spcPts val="799"/>
              </a:spcBef>
            </a:pPr>
            <a:r>
              <a:rPr b="0" lang="en-IN" sz="2100" spc="-1" strike="noStrike">
                <a:solidFill>
                  <a:srgbClr val="3daca7"/>
                </a:solidFill>
                <a:latin typeface="Calibri"/>
                <a:ea typeface="Calibri"/>
              </a:rPr>
              <a:t>2. </a:t>
            </a:r>
            <a:r>
              <a:rPr b="0" lang="en-IN" sz="2100" spc="-1" strike="noStrike">
                <a:solidFill>
                  <a:srgbClr val="000000"/>
                </a:solidFill>
                <a:latin typeface="Calibri"/>
                <a:ea typeface="Calibri"/>
              </a:rPr>
              <a:t> Switches from running to ready state</a:t>
            </a:r>
            <a:endParaRPr b="0" lang="en-IN" sz="2100" spc="-1" strike="noStrike">
              <a:solidFill>
                <a:srgbClr val="000000"/>
              </a:solidFill>
              <a:latin typeface="Arial"/>
            </a:endParaRPr>
          </a:p>
          <a:p>
            <a:pPr marL="800280">
              <a:lnSpc>
                <a:spcPct val="115000"/>
              </a:lnSpc>
              <a:spcBef>
                <a:spcPts val="799"/>
              </a:spcBef>
            </a:pPr>
            <a:r>
              <a:rPr b="0" lang="en-IN" sz="2100" spc="-1" strike="noStrike">
                <a:solidFill>
                  <a:srgbClr val="3daca7"/>
                </a:solidFill>
                <a:latin typeface="Calibri"/>
                <a:ea typeface="Calibri"/>
              </a:rPr>
              <a:t>3.</a:t>
            </a:r>
            <a:r>
              <a:rPr b="0" lang="en-IN" sz="2100" spc="-1" strike="noStrike">
                <a:solidFill>
                  <a:srgbClr val="000000"/>
                </a:solidFill>
                <a:latin typeface="Calibri"/>
                <a:ea typeface="Calibri"/>
              </a:rPr>
              <a:t>  Switches from waiting to ready</a:t>
            </a:r>
            <a:endParaRPr b="0" lang="en-IN" sz="2100" spc="-1" strike="noStrike">
              <a:solidFill>
                <a:srgbClr val="000000"/>
              </a:solidFill>
              <a:latin typeface="Arial"/>
            </a:endParaRPr>
          </a:p>
          <a:p>
            <a:pPr marL="12600">
              <a:lnSpc>
                <a:spcPct val="115000"/>
              </a:lnSpc>
              <a:spcBef>
                <a:spcPts val="799"/>
              </a:spcBef>
            </a:pPr>
            <a:r>
              <a:rPr b="0" lang="en-IN" sz="2200" spc="-1" strike="noStrike">
                <a:solidFill>
                  <a:srgbClr val="cc6600"/>
                </a:solidFill>
                <a:latin typeface="Calibri"/>
                <a:ea typeface="Calibri"/>
              </a:rPr>
              <a:t>             </a:t>
            </a:r>
            <a:r>
              <a:rPr b="0" lang="en-IN" sz="2200" spc="-1" strike="noStrike">
                <a:solidFill>
                  <a:srgbClr val="3daca7"/>
                </a:solidFill>
                <a:latin typeface="Calibri"/>
                <a:ea typeface="Calibri"/>
              </a:rPr>
              <a:t>4.</a:t>
            </a:r>
            <a:r>
              <a:rPr b="0" lang="en-IN" sz="2100" spc="-1" strike="noStrike">
                <a:solidFill>
                  <a:srgbClr val="000000"/>
                </a:solidFill>
                <a:latin typeface="Calibri"/>
                <a:ea typeface="Calibri"/>
              </a:rPr>
              <a:t>Terminates</a:t>
            </a:r>
            <a:endParaRPr b="0" lang="en-IN" sz="2100" spc="-1" strike="noStrike">
              <a:solidFill>
                <a:srgbClr val="000000"/>
              </a:solidFill>
              <a:latin typeface="Arial"/>
            </a:endParaRPr>
          </a:p>
          <a:p>
            <a:pPr marL="457200" indent="-361440">
              <a:lnSpc>
                <a:spcPct val="115000"/>
              </a:lnSpc>
              <a:spcBef>
                <a:spcPts val="799"/>
              </a:spcBef>
              <a:buClr>
                <a:srgbClr val="000000"/>
              </a:buClr>
              <a:buFont typeface="Noto Sans Symbols"/>
              <a:buChar char="●"/>
            </a:pPr>
            <a:r>
              <a:rPr b="0" lang="en-IN" sz="2100" spc="-1" strike="noStrike">
                <a:solidFill>
                  <a:srgbClr val="000000"/>
                </a:solidFill>
                <a:latin typeface="Calibri"/>
                <a:ea typeface="Calibri"/>
              </a:rPr>
              <a:t>For situations 1 and 4, there is no choice in terms of scheduling. A new process (if one exists in the ready queue) must be selected for execution.</a:t>
            </a:r>
            <a:endParaRPr b="0" lang="en-IN" sz="2100" spc="-1" strike="noStrike">
              <a:solidFill>
                <a:srgbClr val="000000"/>
              </a:solidFill>
              <a:latin typeface="Arial"/>
            </a:endParaRPr>
          </a:p>
          <a:p>
            <a:pPr marL="457200" indent="-361440">
              <a:lnSpc>
                <a:spcPct val="115000"/>
              </a:lnSpc>
              <a:buClr>
                <a:srgbClr val="000000"/>
              </a:buClr>
              <a:buFont typeface="Noto Sans Symbols"/>
              <a:buChar char="●"/>
            </a:pPr>
            <a:r>
              <a:rPr b="0" lang="en-IN" sz="2100" spc="-1" strike="noStrike">
                <a:solidFill>
                  <a:srgbClr val="000000"/>
                </a:solidFill>
                <a:latin typeface="Calibri"/>
                <a:ea typeface="Calibri"/>
              </a:rPr>
              <a:t>For situations 2 and 3, however, there is  a choice.</a:t>
            </a:r>
            <a:endParaRPr b="0" lang="en-IN" sz="2100" spc="-1" strike="noStrike">
              <a:solidFill>
                <a:srgbClr val="000000"/>
              </a:solidFill>
              <a:latin typeface="Arial"/>
            </a:endParaRPr>
          </a:p>
          <a:p>
            <a:pPr>
              <a:lnSpc>
                <a:spcPct val="90000"/>
              </a:lnSpc>
              <a:spcBef>
                <a:spcPts val="1001"/>
              </a:spcBef>
            </a:pPr>
            <a:endParaRPr b="0" lang="en-IN" sz="2100" spc="-1" strike="noStrike">
              <a:solidFill>
                <a:srgbClr val="000000"/>
              </a:solidFill>
              <a:latin typeface="Arial"/>
            </a:endParaRPr>
          </a:p>
        </p:txBody>
      </p:sp>
    </p:spTree>
  </p:cSld>
  <p:timing>
    <p:tnLst>
      <p:par>
        <p:cTn id="3" dur="indefinite" restart="never" nodeType="tmRoot">
          <p:childTnLst>
            <p:seq>
              <p:cTn id="4" dur="indefinite"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2800" spc="-1" strike="noStrike">
                <a:solidFill>
                  <a:srgbClr val="3daca7"/>
                </a:solidFill>
                <a:latin typeface="Arial"/>
                <a:ea typeface="Arial"/>
              </a:rPr>
              <a:t>Preemptive and Nonpreemptive Scheduling</a:t>
            </a:r>
            <a:endParaRPr b="0" lang="en-IN" sz="2800" spc="-1" strike="noStrike">
              <a:solidFill>
                <a:srgbClr val="000000"/>
              </a:solidFill>
              <a:latin typeface="Arial"/>
            </a:endParaRPr>
          </a:p>
        </p:txBody>
      </p:sp>
      <p:sp>
        <p:nvSpPr>
          <p:cNvPr id="92" name="TextShape 2"/>
          <p:cNvSpPr txBox="1"/>
          <p:nvPr/>
        </p:nvSpPr>
        <p:spPr>
          <a:xfrm>
            <a:off x="845280" y="1381320"/>
            <a:ext cx="10515240" cy="4798800"/>
          </a:xfrm>
          <a:prstGeom prst="rect">
            <a:avLst/>
          </a:prstGeom>
          <a:noFill/>
          <a:ln>
            <a:noFill/>
          </a:ln>
        </p:spPr>
        <p:txBody>
          <a:bodyPr>
            <a:normAutofit/>
          </a:bodyPr>
          <a:p>
            <a:pPr marL="457200" indent="-374400">
              <a:lnSpc>
                <a:spcPct val="115000"/>
              </a:lnSpc>
              <a:spcBef>
                <a:spcPts val="799"/>
              </a:spcBef>
              <a:buClr>
                <a:srgbClr val="000000"/>
              </a:buClr>
              <a:buFont typeface="Noto Sans Symbols"/>
              <a:buChar char="●"/>
            </a:pPr>
            <a:r>
              <a:rPr b="0" lang="en-IN" sz="2300" spc="-1" strike="noStrike">
                <a:solidFill>
                  <a:srgbClr val="000000"/>
                </a:solidFill>
                <a:latin typeface="Calibri"/>
                <a:ea typeface="Calibri"/>
              </a:rPr>
              <a:t>When scheduling takes place only under circumstances 1 and 4, the scheduling scheme is </a:t>
            </a:r>
            <a:r>
              <a:rPr b="1" lang="en-IN" sz="2300" spc="-1" strike="noStrike">
                <a:solidFill>
                  <a:srgbClr val="3eada7"/>
                </a:solidFill>
                <a:latin typeface="Calibri"/>
                <a:ea typeface="Calibri"/>
              </a:rPr>
              <a:t>nonpreemptive</a:t>
            </a:r>
            <a:r>
              <a:rPr b="0" lang="en-IN" sz="2300" spc="-1" strike="noStrike">
                <a:solidFill>
                  <a:srgbClr val="000000"/>
                </a:solidFill>
                <a:latin typeface="Calibri"/>
                <a:ea typeface="Calibri"/>
              </a:rPr>
              <a:t>.</a:t>
            </a:r>
            <a:endParaRPr b="0" lang="en-IN" sz="2300" spc="-1" strike="noStrike">
              <a:solidFill>
                <a:srgbClr val="000000"/>
              </a:solidFill>
              <a:latin typeface="Arial"/>
            </a:endParaRPr>
          </a:p>
          <a:p>
            <a:pPr marL="457200" indent="-374400">
              <a:lnSpc>
                <a:spcPct val="115000"/>
              </a:lnSpc>
              <a:buClr>
                <a:srgbClr val="000000"/>
              </a:buClr>
              <a:buFont typeface="Noto Sans Symbols"/>
              <a:buChar char="●"/>
            </a:pPr>
            <a:r>
              <a:rPr b="0" lang="en-IN" sz="2300" spc="-1" strike="noStrike">
                <a:solidFill>
                  <a:srgbClr val="000000"/>
                </a:solidFill>
                <a:latin typeface="Calibri"/>
                <a:ea typeface="Calibri"/>
              </a:rPr>
              <a:t>Otherwise, it is </a:t>
            </a:r>
            <a:r>
              <a:rPr b="1" lang="en-IN" sz="2300" spc="-1" strike="noStrike">
                <a:solidFill>
                  <a:srgbClr val="3eada7"/>
                </a:solidFill>
                <a:latin typeface="Calibri"/>
                <a:ea typeface="Calibri"/>
              </a:rPr>
              <a:t>preemptive</a:t>
            </a:r>
            <a:r>
              <a:rPr b="0" lang="en-IN" sz="2300" spc="-1" strike="noStrike">
                <a:solidFill>
                  <a:srgbClr val="000000"/>
                </a:solidFill>
                <a:latin typeface="Calibri"/>
                <a:ea typeface="Calibri"/>
              </a:rPr>
              <a:t>.</a:t>
            </a:r>
            <a:endParaRPr b="0" lang="en-IN" sz="2300" spc="-1" strike="noStrike">
              <a:solidFill>
                <a:srgbClr val="000000"/>
              </a:solidFill>
              <a:latin typeface="Arial"/>
            </a:endParaRPr>
          </a:p>
          <a:p>
            <a:pPr marL="457200" indent="-374400">
              <a:lnSpc>
                <a:spcPct val="115000"/>
              </a:lnSpc>
              <a:buClr>
                <a:srgbClr val="000000"/>
              </a:buClr>
              <a:buFont typeface="Noto Sans Symbols"/>
              <a:buChar char="●"/>
            </a:pPr>
            <a:r>
              <a:rPr b="0" lang="en-IN" sz="2300" spc="-1" strike="noStrike">
                <a:solidFill>
                  <a:srgbClr val="000000"/>
                </a:solidFill>
                <a:latin typeface="Calibri"/>
                <a:ea typeface="Calibri"/>
              </a:rPr>
              <a:t>Under Nonpreemptive scheduling, once the CPU has been allocated to a process, the process keeps the CPU until it releases it either by terminating or by switching to the waiting state.</a:t>
            </a:r>
            <a:endParaRPr b="0" lang="en-IN" sz="2300" spc="-1" strike="noStrike">
              <a:solidFill>
                <a:srgbClr val="000000"/>
              </a:solidFill>
              <a:latin typeface="Arial"/>
            </a:endParaRPr>
          </a:p>
          <a:p>
            <a:pPr marL="457200" indent="-374400">
              <a:lnSpc>
                <a:spcPct val="115000"/>
              </a:lnSpc>
              <a:buClr>
                <a:srgbClr val="000000"/>
              </a:buClr>
              <a:buFont typeface="Noto Sans Symbols"/>
              <a:buChar char="●"/>
            </a:pPr>
            <a:r>
              <a:rPr b="0" lang="en-IN" sz="2300" spc="-1" strike="noStrike">
                <a:solidFill>
                  <a:srgbClr val="000000"/>
                </a:solidFill>
                <a:latin typeface="Calibri"/>
                <a:ea typeface="Calibri"/>
              </a:rPr>
              <a:t>What is the potential problem?</a:t>
            </a:r>
            <a:endParaRPr b="0" lang="en-IN" sz="2300" spc="-1" strike="noStrike">
              <a:solidFill>
                <a:srgbClr val="000000"/>
              </a:solidFill>
              <a:latin typeface="Arial"/>
            </a:endParaRPr>
          </a:p>
          <a:p>
            <a:pPr marL="457200" indent="-374400">
              <a:lnSpc>
                <a:spcPct val="115000"/>
              </a:lnSpc>
              <a:buClr>
                <a:srgbClr val="000000"/>
              </a:buClr>
              <a:buFont typeface="Noto Sans Symbols"/>
              <a:buChar char="●"/>
            </a:pPr>
            <a:r>
              <a:rPr b="0" lang="en-IN" sz="2300" spc="-1" strike="noStrike">
                <a:solidFill>
                  <a:srgbClr val="000000"/>
                </a:solidFill>
                <a:latin typeface="Calibri"/>
                <a:ea typeface="Calibri"/>
              </a:rPr>
              <a:t>Virtually all modern operating systems including Windows, MacOS, Linux, and UNIX use preemptive scheduling algorithms.</a:t>
            </a:r>
            <a:endParaRPr b="0" lang="en-IN" sz="2300" spc="-1" strike="noStrike">
              <a:solidFill>
                <a:srgbClr val="000000"/>
              </a:solidFill>
              <a:latin typeface="Arial"/>
            </a:endParaRPr>
          </a:p>
        </p:txBody>
      </p:sp>
    </p:spTree>
  </p:cSld>
  <p:timing>
    <p:tnLst>
      <p:par>
        <p:cTn id="5" dur="indefinite" restart="never" nodeType="tmRoot">
          <p:childTnLst>
            <p:seq>
              <p:cTn id="6" dur="indefinite"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Shape 1"/>
          <p:cNvSpPr txBox="1"/>
          <p:nvPr/>
        </p:nvSpPr>
        <p:spPr>
          <a:xfrm>
            <a:off x="418320" y="396360"/>
            <a:ext cx="11562840" cy="828720"/>
          </a:xfrm>
          <a:prstGeom prst="rect">
            <a:avLst/>
          </a:prstGeom>
          <a:noFill/>
          <a:ln>
            <a:noFill/>
          </a:ln>
        </p:spPr>
        <p:txBody>
          <a:bodyPr anchor="ctr">
            <a:normAutofit/>
          </a:bodyPr>
          <a:p>
            <a:pPr>
              <a:lnSpc>
                <a:spcPct val="90000"/>
              </a:lnSpc>
            </a:pPr>
            <a:r>
              <a:rPr b="1" lang="en-IN" sz="3259" spc="-1" strike="noStrike">
                <a:solidFill>
                  <a:srgbClr val="3eada7"/>
                </a:solidFill>
                <a:latin typeface="Arial"/>
                <a:ea typeface="Arial"/>
              </a:rPr>
              <a:t>Preemptive Scheduling and Race Conditions</a:t>
            </a:r>
            <a:endParaRPr b="0" lang="en-IN" sz="3259" spc="-1" strike="noStrike">
              <a:solidFill>
                <a:srgbClr val="000000"/>
              </a:solidFill>
              <a:latin typeface="Arial"/>
            </a:endParaRPr>
          </a:p>
        </p:txBody>
      </p:sp>
      <p:sp>
        <p:nvSpPr>
          <p:cNvPr id="94" name="TextShape 2"/>
          <p:cNvSpPr txBox="1"/>
          <p:nvPr/>
        </p:nvSpPr>
        <p:spPr>
          <a:xfrm>
            <a:off x="845280" y="1652040"/>
            <a:ext cx="10515240" cy="4527720"/>
          </a:xfrm>
          <a:prstGeom prst="rect">
            <a:avLst/>
          </a:prstGeom>
          <a:noFill/>
          <a:ln>
            <a:noFill/>
          </a:ln>
        </p:spPr>
        <p:txBody>
          <a:bodyPr>
            <a:normAutofit/>
          </a:bodyPr>
          <a:p>
            <a:pPr marL="457200" indent="-355320">
              <a:lnSpc>
                <a:spcPct val="115000"/>
              </a:lnSpc>
              <a:spcBef>
                <a:spcPts val="799"/>
              </a:spcBef>
              <a:buClr>
                <a:srgbClr val="000000"/>
              </a:buClr>
              <a:buFont typeface="Noto Sans Symbols"/>
              <a:buChar char="●"/>
            </a:pPr>
            <a:r>
              <a:rPr b="0" lang="en-IN" sz="2000" spc="-1" strike="noStrike">
                <a:solidFill>
                  <a:srgbClr val="000000"/>
                </a:solidFill>
                <a:latin typeface="Calibri"/>
                <a:ea typeface="Calibri"/>
              </a:rPr>
              <a:t>Preemptive scheduling can result in race conditions when data are shared among several processes.</a:t>
            </a:r>
            <a:endParaRPr b="0" lang="en-IN" sz="2000" spc="-1" strike="noStrike">
              <a:solidFill>
                <a:srgbClr val="000000"/>
              </a:solidFill>
              <a:latin typeface="Arial"/>
            </a:endParaRPr>
          </a:p>
          <a:p>
            <a:pPr marL="457200">
              <a:lnSpc>
                <a:spcPct val="115000"/>
              </a:lnSpc>
              <a:spcBef>
                <a:spcPts val="799"/>
              </a:spcBef>
            </a:pPr>
            <a:endParaRPr b="0" lang="en-IN" sz="2000" spc="-1" strike="noStrike">
              <a:solidFill>
                <a:srgbClr val="000000"/>
              </a:solidFill>
              <a:latin typeface="Arial"/>
            </a:endParaRPr>
          </a:p>
          <a:p>
            <a:pPr marL="457200" indent="-355320">
              <a:lnSpc>
                <a:spcPct val="115000"/>
              </a:lnSpc>
              <a:spcBef>
                <a:spcPts val="799"/>
              </a:spcBef>
              <a:buClr>
                <a:srgbClr val="000000"/>
              </a:buClr>
              <a:buFont typeface="Noto Sans Symbols"/>
              <a:buChar char="●"/>
            </a:pPr>
            <a:r>
              <a:rPr b="0" lang="en-IN" sz="2000" spc="-1" strike="noStrike">
                <a:solidFill>
                  <a:srgbClr val="000000"/>
                </a:solidFill>
                <a:latin typeface="Calibri"/>
                <a:ea typeface="Calibri"/>
              </a:rPr>
              <a:t>Consider the case of two processes that share data. While one process is updating the data, it is preempted so that the second process can run. The second process then tries to read the data, which are in an inconsistent state.</a:t>
            </a:r>
            <a:endParaRPr b="0" lang="en-IN" sz="2000" spc="-1" strike="noStrike">
              <a:solidFill>
                <a:srgbClr val="000000"/>
              </a:solidFill>
              <a:latin typeface="Arial"/>
            </a:endParaRPr>
          </a:p>
          <a:p>
            <a:pPr>
              <a:lnSpc>
                <a:spcPct val="115000"/>
              </a:lnSpc>
              <a:spcBef>
                <a:spcPts val="799"/>
              </a:spcBef>
            </a:pPr>
            <a:endParaRPr b="0" lang="en-IN" sz="2000" spc="-1" strike="noStrike">
              <a:solidFill>
                <a:srgbClr val="000000"/>
              </a:solidFill>
              <a:latin typeface="Arial"/>
            </a:endParaRPr>
          </a:p>
          <a:p>
            <a:pPr>
              <a:lnSpc>
                <a:spcPct val="90000"/>
              </a:lnSpc>
              <a:spcBef>
                <a:spcPts val="1001"/>
              </a:spcBef>
            </a:pPr>
            <a:endParaRPr b="0" lang="en-IN" sz="2000" spc="-1" strike="noStrike">
              <a:solidFill>
                <a:srgbClr val="000000"/>
              </a:solidFill>
              <a:latin typeface="Arial"/>
            </a:endParaRPr>
          </a:p>
        </p:txBody>
      </p:sp>
    </p:spTree>
  </p:cSld>
  <p:timing>
    <p:tnLst>
      <p:par>
        <p:cTn id="7" dur="indefinite" restart="never" nodeType="tmRoot">
          <p:childTnLst>
            <p:seq>
              <p:cTn id="8" dur="indefinite"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daca7"/>
                </a:solidFill>
                <a:latin typeface="Arial"/>
                <a:ea typeface="Arial"/>
              </a:rPr>
              <a:t>Dispatcher</a:t>
            </a:r>
            <a:endParaRPr b="0" lang="en-IN" sz="3200" spc="-1" strike="noStrike">
              <a:solidFill>
                <a:srgbClr val="000000"/>
              </a:solidFill>
              <a:latin typeface="Arial"/>
            </a:endParaRPr>
          </a:p>
        </p:txBody>
      </p:sp>
      <p:sp>
        <p:nvSpPr>
          <p:cNvPr id="96" name="TextShape 2"/>
          <p:cNvSpPr txBox="1"/>
          <p:nvPr/>
        </p:nvSpPr>
        <p:spPr>
          <a:xfrm>
            <a:off x="845280" y="1381320"/>
            <a:ext cx="10515240" cy="4798800"/>
          </a:xfrm>
          <a:prstGeom prst="rect">
            <a:avLst/>
          </a:prstGeom>
          <a:noFill/>
          <a:ln>
            <a:noFill/>
          </a:ln>
        </p:spPr>
        <p:txBody>
          <a:bodyPr>
            <a:normAutofit/>
          </a:bodyPr>
          <a:p>
            <a:pPr marL="457200" indent="-348840">
              <a:lnSpc>
                <a:spcPct val="115000"/>
              </a:lnSpc>
              <a:spcBef>
                <a:spcPts val="799"/>
              </a:spcBef>
              <a:buClr>
                <a:srgbClr val="000000"/>
              </a:buClr>
              <a:buFont typeface="Noto Sans Symbols"/>
              <a:buChar char="●"/>
            </a:pPr>
            <a:r>
              <a:rPr b="0" lang="en-IN" sz="1900" spc="-1" strike="noStrike">
                <a:solidFill>
                  <a:srgbClr val="000000"/>
                </a:solidFill>
                <a:latin typeface="Calibri"/>
                <a:ea typeface="Calibri"/>
              </a:rPr>
              <a:t>Dispatcher module gives control of the CPU to the process selected by the CPU scheduler; this involves:</a:t>
            </a:r>
            <a:endParaRPr b="0" lang="en-IN" sz="1900" spc="-1" strike="noStrike">
              <a:solidFill>
                <a:srgbClr val="000000"/>
              </a:solidFill>
              <a:latin typeface="Arial"/>
            </a:endParaRPr>
          </a:p>
          <a:p>
            <a:pPr marL="12600">
              <a:lnSpc>
                <a:spcPct val="115000"/>
              </a:lnSpc>
              <a:spcBef>
                <a:spcPts val="799"/>
              </a:spcBef>
            </a:pPr>
            <a:r>
              <a:rPr b="0" lang="en-IN" sz="2000" spc="-1" strike="noStrike">
                <a:solidFill>
                  <a:srgbClr val="3eada7"/>
                </a:solidFill>
                <a:latin typeface="Calibri"/>
                <a:ea typeface="Calibri"/>
              </a:rPr>
              <a:t>•</a:t>
            </a:r>
            <a:r>
              <a:rPr b="0" lang="en-IN" sz="1900" spc="-1" strike="noStrike">
                <a:solidFill>
                  <a:srgbClr val="000000"/>
                </a:solidFill>
                <a:latin typeface="Calibri"/>
                <a:ea typeface="Calibri"/>
              </a:rPr>
              <a:t>Switching context</a:t>
            </a:r>
            <a:endParaRPr b="0" lang="en-IN" sz="1900" spc="-1" strike="noStrike">
              <a:solidFill>
                <a:srgbClr val="000000"/>
              </a:solidFill>
              <a:latin typeface="Arial"/>
            </a:endParaRPr>
          </a:p>
          <a:p>
            <a:pPr marL="12600">
              <a:lnSpc>
                <a:spcPct val="115000"/>
              </a:lnSpc>
              <a:spcBef>
                <a:spcPts val="799"/>
              </a:spcBef>
            </a:pPr>
            <a:r>
              <a:rPr b="0" lang="en-IN" sz="2000" spc="-1" strike="noStrike">
                <a:solidFill>
                  <a:srgbClr val="3eada7"/>
                </a:solidFill>
                <a:latin typeface="Calibri"/>
                <a:ea typeface="Calibri"/>
              </a:rPr>
              <a:t>•</a:t>
            </a:r>
            <a:r>
              <a:rPr b="0" lang="en-IN" sz="1900" spc="-1" strike="noStrike">
                <a:solidFill>
                  <a:srgbClr val="000000"/>
                </a:solidFill>
                <a:latin typeface="Calibri"/>
                <a:ea typeface="Calibri"/>
              </a:rPr>
              <a:t>Switching to user mode</a:t>
            </a:r>
            <a:endParaRPr b="0" lang="en-IN" sz="1900" spc="-1" strike="noStrike">
              <a:solidFill>
                <a:srgbClr val="000000"/>
              </a:solidFill>
              <a:latin typeface="Arial"/>
            </a:endParaRPr>
          </a:p>
          <a:p>
            <a:pPr marL="12600">
              <a:lnSpc>
                <a:spcPct val="115000"/>
              </a:lnSpc>
              <a:spcBef>
                <a:spcPts val="799"/>
              </a:spcBef>
            </a:pPr>
            <a:r>
              <a:rPr b="0" lang="en-IN" sz="2000" spc="-1" strike="noStrike">
                <a:solidFill>
                  <a:srgbClr val="3eada7"/>
                </a:solidFill>
                <a:latin typeface="Calibri"/>
                <a:ea typeface="Calibri"/>
              </a:rPr>
              <a:t>•</a:t>
            </a:r>
            <a:r>
              <a:rPr b="0" lang="en-IN" sz="1900" spc="-1" strike="noStrike">
                <a:solidFill>
                  <a:srgbClr val="000000"/>
                </a:solidFill>
                <a:latin typeface="Calibri"/>
                <a:ea typeface="Calibri"/>
              </a:rPr>
              <a:t>Jumping to the proper location in the user program to restart that </a:t>
            </a:r>
            <a:endParaRPr b="0" lang="en-IN" sz="1900" spc="-1" strike="noStrike">
              <a:solidFill>
                <a:srgbClr val="000000"/>
              </a:solidFill>
              <a:latin typeface="Arial"/>
            </a:endParaRPr>
          </a:p>
          <a:p>
            <a:pPr marL="12600">
              <a:lnSpc>
                <a:spcPct val="115000"/>
              </a:lnSpc>
              <a:spcBef>
                <a:spcPts val="799"/>
              </a:spcBef>
            </a:pPr>
            <a:r>
              <a:rPr b="0" lang="en-IN" sz="1900" spc="-1" strike="noStrike">
                <a:solidFill>
                  <a:srgbClr val="000000"/>
                </a:solidFill>
                <a:latin typeface="Calibri"/>
                <a:ea typeface="Calibri"/>
              </a:rPr>
              <a:t>program</a:t>
            </a:r>
            <a:endParaRPr b="0" lang="en-IN" sz="1900" spc="-1" strike="noStrike">
              <a:solidFill>
                <a:srgbClr val="000000"/>
              </a:solidFill>
              <a:latin typeface="Arial"/>
            </a:endParaRPr>
          </a:p>
          <a:p>
            <a:pPr marL="457200" indent="-348840">
              <a:lnSpc>
                <a:spcPct val="115000"/>
              </a:lnSpc>
              <a:spcBef>
                <a:spcPts val="799"/>
              </a:spcBef>
              <a:buClr>
                <a:srgbClr val="000000"/>
              </a:buClr>
              <a:buFont typeface="Noto Sans Symbols"/>
              <a:buChar char="●"/>
            </a:pPr>
            <a:r>
              <a:rPr b="1" lang="en-IN" sz="1900" spc="-1" strike="noStrike">
                <a:solidFill>
                  <a:srgbClr val="3eada7"/>
                </a:solidFill>
                <a:latin typeface="Calibri"/>
                <a:ea typeface="Calibri"/>
              </a:rPr>
              <a:t>Dispatch latency </a:t>
            </a:r>
            <a:r>
              <a:rPr b="0" lang="en-IN" sz="1900" spc="-1" strike="noStrike">
                <a:solidFill>
                  <a:srgbClr val="000000"/>
                </a:solidFill>
                <a:latin typeface="Calibri"/>
                <a:ea typeface="Calibri"/>
              </a:rPr>
              <a:t>– time it takes for the dispatcher to stop one process</a:t>
            </a:r>
            <a:endParaRPr b="0" lang="en-IN" sz="1900" spc="-1" strike="noStrike">
              <a:solidFill>
                <a:srgbClr val="000000"/>
              </a:solidFill>
              <a:latin typeface="Arial"/>
            </a:endParaRPr>
          </a:p>
          <a:p>
            <a:pPr>
              <a:lnSpc>
                <a:spcPct val="115000"/>
              </a:lnSpc>
              <a:spcBef>
                <a:spcPts val="799"/>
              </a:spcBef>
            </a:pPr>
            <a:r>
              <a:rPr b="0" lang="en-IN" sz="1900" spc="-1" strike="noStrike">
                <a:solidFill>
                  <a:srgbClr val="000000"/>
                </a:solidFill>
                <a:latin typeface="Calibri"/>
                <a:ea typeface="Calibri"/>
              </a:rPr>
              <a:t> </a:t>
            </a:r>
            <a:r>
              <a:rPr b="0" lang="en-IN" sz="1900" spc="-1" strike="noStrike">
                <a:solidFill>
                  <a:srgbClr val="000000"/>
                </a:solidFill>
                <a:latin typeface="Calibri"/>
                <a:ea typeface="Calibri"/>
              </a:rPr>
              <a:t>and start another running</a:t>
            </a:r>
            <a:endParaRPr b="0" lang="en-IN" sz="1900" spc="-1" strike="noStrike">
              <a:solidFill>
                <a:srgbClr val="000000"/>
              </a:solidFill>
              <a:latin typeface="Arial"/>
            </a:endParaRPr>
          </a:p>
          <a:p>
            <a:pPr>
              <a:lnSpc>
                <a:spcPct val="90000"/>
              </a:lnSpc>
              <a:spcBef>
                <a:spcPts val="1001"/>
              </a:spcBef>
            </a:pPr>
            <a:endParaRPr b="0" lang="en-IN" sz="1900" spc="-1" strike="noStrike">
              <a:solidFill>
                <a:srgbClr val="000000"/>
              </a:solidFill>
              <a:latin typeface="Arial"/>
            </a:endParaRPr>
          </a:p>
        </p:txBody>
      </p:sp>
      <p:pic>
        <p:nvPicPr>
          <p:cNvPr id="97" name="Google Shape;194;p23" descr=""/>
          <p:cNvPicPr/>
          <p:nvPr/>
        </p:nvPicPr>
        <p:blipFill>
          <a:blip r:embed="rId1"/>
          <a:srcRect l="0" t="0" r="40481" b="0"/>
          <a:stretch/>
        </p:blipFill>
        <p:spPr>
          <a:xfrm>
            <a:off x="8173800" y="2384280"/>
            <a:ext cx="3746520" cy="4235760"/>
          </a:xfrm>
          <a:prstGeom prst="rect">
            <a:avLst/>
          </a:prstGeom>
          <a:ln>
            <a:noFill/>
          </a:ln>
        </p:spPr>
      </p:pic>
    </p:spTree>
  </p:cSld>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daca7"/>
                </a:solidFill>
                <a:latin typeface="Arial"/>
                <a:ea typeface="Arial"/>
              </a:rPr>
              <a:t>Scheduling Criteria</a:t>
            </a:r>
            <a:endParaRPr b="0" lang="en-IN" sz="3200" spc="-1" strike="noStrike">
              <a:solidFill>
                <a:srgbClr val="000000"/>
              </a:solidFill>
              <a:latin typeface="Arial"/>
            </a:endParaRPr>
          </a:p>
        </p:txBody>
      </p:sp>
      <p:sp>
        <p:nvSpPr>
          <p:cNvPr id="99" name="TextShape 2"/>
          <p:cNvSpPr txBox="1"/>
          <p:nvPr/>
        </p:nvSpPr>
        <p:spPr>
          <a:xfrm>
            <a:off x="838080" y="1503000"/>
            <a:ext cx="10515240" cy="4798800"/>
          </a:xfrm>
          <a:prstGeom prst="rect">
            <a:avLst/>
          </a:prstGeom>
          <a:noFill/>
          <a:ln>
            <a:noFill/>
          </a:ln>
        </p:spPr>
        <p:txBody>
          <a:bodyPr>
            <a:normAutofit/>
          </a:bodyPr>
          <a:p>
            <a:pPr marL="457200" indent="-367920">
              <a:lnSpc>
                <a:spcPct val="150000"/>
              </a:lnSpc>
              <a:spcBef>
                <a:spcPts val="799"/>
              </a:spcBef>
              <a:buClr>
                <a:srgbClr val="000000"/>
              </a:buClr>
              <a:buFont typeface="Noto Sans Symbols"/>
              <a:buChar char="●"/>
            </a:pPr>
            <a:r>
              <a:rPr b="1" lang="en-IN" sz="2200" spc="-1" strike="noStrike">
                <a:solidFill>
                  <a:srgbClr val="000000"/>
                </a:solidFill>
                <a:latin typeface="Calibri"/>
                <a:ea typeface="Calibri"/>
              </a:rPr>
              <a:t>CPU utilization </a:t>
            </a:r>
            <a:r>
              <a:rPr b="0" lang="en-IN" sz="2200" spc="-1" strike="noStrike">
                <a:solidFill>
                  <a:srgbClr val="000000"/>
                </a:solidFill>
                <a:latin typeface="Calibri"/>
                <a:ea typeface="Calibri"/>
              </a:rPr>
              <a:t>– keep the CPU as busy as possible</a:t>
            </a:r>
            <a:endParaRPr b="0" lang="en-IN" sz="2200" spc="-1" strike="noStrike">
              <a:solidFill>
                <a:srgbClr val="000000"/>
              </a:solidFill>
              <a:latin typeface="Arial"/>
            </a:endParaRPr>
          </a:p>
          <a:p>
            <a:pPr marL="457200" indent="-367920">
              <a:lnSpc>
                <a:spcPct val="150000"/>
              </a:lnSpc>
              <a:buClr>
                <a:srgbClr val="000000"/>
              </a:buClr>
              <a:buFont typeface="Noto Sans Symbols"/>
              <a:buChar char="●"/>
            </a:pPr>
            <a:r>
              <a:rPr b="1" lang="en-IN" sz="2200" spc="-1" strike="noStrike">
                <a:solidFill>
                  <a:srgbClr val="000000"/>
                </a:solidFill>
                <a:latin typeface="Calibri"/>
                <a:ea typeface="Calibri"/>
              </a:rPr>
              <a:t>Throughput</a:t>
            </a:r>
            <a:r>
              <a:rPr b="0" lang="en-IN" sz="2200" spc="-1" strike="noStrike">
                <a:solidFill>
                  <a:srgbClr val="000000"/>
                </a:solidFill>
                <a:latin typeface="Calibri"/>
                <a:ea typeface="Calibri"/>
              </a:rPr>
              <a:t> – # of processes that complete their execution per time unit</a:t>
            </a:r>
            <a:endParaRPr b="0" lang="en-IN" sz="2200" spc="-1" strike="noStrike">
              <a:solidFill>
                <a:srgbClr val="000000"/>
              </a:solidFill>
              <a:latin typeface="Arial"/>
            </a:endParaRPr>
          </a:p>
          <a:p>
            <a:pPr marL="457200" indent="-367920">
              <a:lnSpc>
                <a:spcPct val="150000"/>
              </a:lnSpc>
              <a:buClr>
                <a:srgbClr val="000000"/>
              </a:buClr>
              <a:buFont typeface="Noto Sans Symbols"/>
              <a:buChar char="●"/>
            </a:pPr>
            <a:r>
              <a:rPr b="1" lang="en-IN" sz="2200" spc="-1" strike="noStrike">
                <a:solidFill>
                  <a:srgbClr val="000000"/>
                </a:solidFill>
                <a:latin typeface="Calibri"/>
                <a:ea typeface="Calibri"/>
              </a:rPr>
              <a:t>Turnaround time </a:t>
            </a:r>
            <a:r>
              <a:rPr b="0" lang="en-IN" sz="2200" spc="-1" strike="noStrike">
                <a:solidFill>
                  <a:srgbClr val="000000"/>
                </a:solidFill>
                <a:latin typeface="Calibri"/>
                <a:ea typeface="Calibri"/>
              </a:rPr>
              <a:t>– amount of time to execute a particular process</a:t>
            </a:r>
            <a:endParaRPr b="0" lang="en-IN" sz="2200" spc="-1" strike="noStrike">
              <a:solidFill>
                <a:srgbClr val="000000"/>
              </a:solidFill>
              <a:latin typeface="Arial"/>
            </a:endParaRPr>
          </a:p>
          <a:p>
            <a:pPr marL="457200" indent="-367920">
              <a:lnSpc>
                <a:spcPct val="150000"/>
              </a:lnSpc>
              <a:buClr>
                <a:srgbClr val="000000"/>
              </a:buClr>
              <a:buFont typeface="Noto Sans Symbols"/>
              <a:buChar char="●"/>
            </a:pPr>
            <a:r>
              <a:rPr b="1" lang="en-IN" sz="2200" spc="-1" strike="noStrike">
                <a:solidFill>
                  <a:srgbClr val="000000"/>
                </a:solidFill>
                <a:latin typeface="Calibri"/>
                <a:ea typeface="Calibri"/>
              </a:rPr>
              <a:t>Waiting time </a:t>
            </a:r>
            <a:r>
              <a:rPr b="0" lang="en-IN" sz="2200" spc="-1" strike="noStrike">
                <a:solidFill>
                  <a:srgbClr val="000000"/>
                </a:solidFill>
                <a:latin typeface="Calibri"/>
                <a:ea typeface="Calibri"/>
              </a:rPr>
              <a:t>– amount of time a process has been waiting in the ready queue</a:t>
            </a:r>
            <a:endParaRPr b="0" lang="en-IN" sz="2200" spc="-1" strike="noStrike">
              <a:solidFill>
                <a:srgbClr val="000000"/>
              </a:solidFill>
              <a:latin typeface="Arial"/>
            </a:endParaRPr>
          </a:p>
          <a:p>
            <a:pPr marL="457200" indent="-367920">
              <a:lnSpc>
                <a:spcPct val="150000"/>
              </a:lnSpc>
              <a:buClr>
                <a:srgbClr val="000000"/>
              </a:buClr>
              <a:buFont typeface="Noto Sans Symbols"/>
              <a:buChar char="●"/>
            </a:pPr>
            <a:r>
              <a:rPr b="1" lang="en-IN" sz="2200" spc="-1" strike="noStrike">
                <a:solidFill>
                  <a:srgbClr val="000000"/>
                </a:solidFill>
                <a:latin typeface="Calibri"/>
                <a:ea typeface="Calibri"/>
              </a:rPr>
              <a:t>Response time </a:t>
            </a:r>
            <a:r>
              <a:rPr b="0" lang="en-IN" sz="2200" spc="-1" strike="noStrike">
                <a:solidFill>
                  <a:srgbClr val="000000"/>
                </a:solidFill>
                <a:latin typeface="Calibri"/>
                <a:ea typeface="Calibri"/>
              </a:rPr>
              <a:t>– amount of time it takes from when a request was submitted until the first response is produced. </a:t>
            </a:r>
            <a:endParaRPr b="0" lang="en-IN" sz="2200" spc="-1" strike="noStrike">
              <a:solidFill>
                <a:srgbClr val="000000"/>
              </a:solidFill>
              <a:latin typeface="Arial"/>
            </a:endParaRPr>
          </a:p>
          <a:p>
            <a:pPr>
              <a:lnSpc>
                <a:spcPct val="150000"/>
              </a:lnSpc>
              <a:spcBef>
                <a:spcPts val="1001"/>
              </a:spcBef>
            </a:pPr>
            <a:endParaRPr b="0" lang="en-IN" sz="2200" spc="-1" strike="noStrike">
              <a:solidFill>
                <a:srgbClr val="000000"/>
              </a:solidFill>
              <a:latin typeface="Arial"/>
            </a:endParaRPr>
          </a:p>
        </p:txBody>
      </p:sp>
    </p:spTree>
  </p:cSld>
  <p:timing>
    <p:tnLst>
      <p:par>
        <p:cTn id="15" dur="indefinite" restart="never" nodeType="tmRoot">
          <p:childTnLst>
            <p:seq>
              <p:cTn id="16" dur="indefinite"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2800" spc="-1" strike="noStrike">
                <a:solidFill>
                  <a:srgbClr val="3eada7"/>
                </a:solidFill>
                <a:latin typeface="Arial"/>
                <a:ea typeface="Arial"/>
              </a:rPr>
              <a:t>Optimization Criteria for Scheduling Algorithms</a:t>
            </a:r>
            <a:endParaRPr b="0" lang="en-IN" sz="2800" spc="-1" strike="noStrike">
              <a:solidFill>
                <a:srgbClr val="000000"/>
              </a:solidFill>
              <a:latin typeface="Arial"/>
            </a:endParaRPr>
          </a:p>
        </p:txBody>
      </p:sp>
      <p:sp>
        <p:nvSpPr>
          <p:cNvPr id="101" name="TextShape 2"/>
          <p:cNvSpPr txBox="1"/>
          <p:nvPr/>
        </p:nvSpPr>
        <p:spPr>
          <a:xfrm>
            <a:off x="845280" y="1381320"/>
            <a:ext cx="10515240" cy="4798800"/>
          </a:xfrm>
          <a:prstGeom prst="rect">
            <a:avLst/>
          </a:prstGeom>
          <a:noFill/>
          <a:ln>
            <a:noFill/>
          </a:ln>
        </p:spPr>
        <p:txBody>
          <a:bodyPr>
            <a:normAutofit/>
          </a:bodyPr>
          <a:p>
            <a:pPr marL="457200" indent="-355320">
              <a:lnSpc>
                <a:spcPct val="150000"/>
              </a:lnSpc>
              <a:spcBef>
                <a:spcPts val="799"/>
              </a:spcBef>
              <a:buClr>
                <a:srgbClr val="000000"/>
              </a:buClr>
              <a:buFont typeface="Noto Sans Symbols"/>
              <a:buChar char="●"/>
            </a:pPr>
            <a:r>
              <a:rPr b="0" lang="en-IN" sz="2000" spc="-1" strike="noStrike">
                <a:solidFill>
                  <a:srgbClr val="000000"/>
                </a:solidFill>
                <a:latin typeface="Calibri"/>
                <a:ea typeface="Calibri"/>
              </a:rPr>
              <a:t>Max CPU utilization</a:t>
            </a:r>
            <a:endParaRPr b="0" lang="en-IN" sz="2000" spc="-1" strike="noStrike">
              <a:solidFill>
                <a:srgbClr val="000000"/>
              </a:solidFill>
              <a:latin typeface="Arial"/>
            </a:endParaRPr>
          </a:p>
          <a:p>
            <a:pPr marL="457200" indent="-355320">
              <a:lnSpc>
                <a:spcPct val="150000"/>
              </a:lnSpc>
              <a:buClr>
                <a:srgbClr val="000000"/>
              </a:buClr>
              <a:buFont typeface="Noto Sans Symbols"/>
              <a:buChar char="●"/>
            </a:pPr>
            <a:r>
              <a:rPr b="0" lang="en-IN" sz="2000" spc="-1" strike="noStrike">
                <a:solidFill>
                  <a:srgbClr val="000000"/>
                </a:solidFill>
                <a:latin typeface="Calibri"/>
                <a:ea typeface="Calibri"/>
              </a:rPr>
              <a:t>Max throughput</a:t>
            </a:r>
            <a:endParaRPr b="0" lang="en-IN" sz="2000" spc="-1" strike="noStrike">
              <a:solidFill>
                <a:srgbClr val="000000"/>
              </a:solidFill>
              <a:latin typeface="Arial"/>
            </a:endParaRPr>
          </a:p>
          <a:p>
            <a:pPr marL="457200" indent="-355320">
              <a:lnSpc>
                <a:spcPct val="150000"/>
              </a:lnSpc>
              <a:buClr>
                <a:srgbClr val="000000"/>
              </a:buClr>
              <a:buFont typeface="Noto Sans Symbols"/>
              <a:buChar char="●"/>
            </a:pPr>
            <a:r>
              <a:rPr b="0" lang="en-IN" sz="2000" spc="-1" strike="noStrike">
                <a:solidFill>
                  <a:srgbClr val="000000"/>
                </a:solidFill>
                <a:latin typeface="Calibri"/>
                <a:ea typeface="Calibri"/>
              </a:rPr>
              <a:t>Min turnaround time</a:t>
            </a:r>
            <a:endParaRPr b="0" lang="en-IN" sz="2000" spc="-1" strike="noStrike">
              <a:solidFill>
                <a:srgbClr val="000000"/>
              </a:solidFill>
              <a:latin typeface="Arial"/>
            </a:endParaRPr>
          </a:p>
          <a:p>
            <a:pPr marL="457200" indent="-355320">
              <a:lnSpc>
                <a:spcPct val="150000"/>
              </a:lnSpc>
              <a:buClr>
                <a:srgbClr val="000000"/>
              </a:buClr>
              <a:buFont typeface="Noto Sans Symbols"/>
              <a:buChar char="●"/>
            </a:pPr>
            <a:r>
              <a:rPr b="0" lang="en-IN" sz="2000" spc="-1" strike="noStrike">
                <a:solidFill>
                  <a:srgbClr val="000000"/>
                </a:solidFill>
                <a:latin typeface="Calibri"/>
                <a:ea typeface="Calibri"/>
              </a:rPr>
              <a:t>Min waiting time</a:t>
            </a:r>
            <a:endParaRPr b="0" lang="en-IN" sz="2000" spc="-1" strike="noStrike">
              <a:solidFill>
                <a:srgbClr val="000000"/>
              </a:solidFill>
              <a:latin typeface="Arial"/>
            </a:endParaRPr>
          </a:p>
          <a:p>
            <a:pPr marL="457200" indent="-355320">
              <a:lnSpc>
                <a:spcPct val="150000"/>
              </a:lnSpc>
              <a:buClr>
                <a:srgbClr val="000000"/>
              </a:buClr>
              <a:buFont typeface="Noto Sans Symbols"/>
              <a:buChar char="●"/>
            </a:pPr>
            <a:r>
              <a:rPr b="0" lang="en-IN" sz="2000" spc="-1" strike="noStrike">
                <a:solidFill>
                  <a:srgbClr val="000000"/>
                </a:solidFill>
                <a:latin typeface="Calibri"/>
                <a:ea typeface="Calibri"/>
              </a:rPr>
              <a:t>Min response time</a:t>
            </a:r>
            <a:endParaRPr b="0" lang="en-IN" sz="2000" spc="-1" strike="noStrike">
              <a:solidFill>
                <a:srgbClr val="000000"/>
              </a:solidFill>
              <a:latin typeface="Arial"/>
            </a:endParaRPr>
          </a:p>
          <a:p>
            <a:pPr>
              <a:lnSpc>
                <a:spcPct val="90000"/>
              </a:lnSpc>
              <a:spcBef>
                <a:spcPts val="1001"/>
              </a:spcBef>
            </a:pPr>
            <a:endParaRPr b="0" lang="en-IN" sz="2000" spc="-1" strike="noStrike">
              <a:solidFill>
                <a:srgbClr val="000000"/>
              </a:solidFill>
              <a:latin typeface="Arial"/>
            </a:endParaRPr>
          </a:p>
        </p:txBody>
      </p:sp>
    </p:spTree>
  </p:cSld>
  <p:timing>
    <p:tnLst>
      <p:par>
        <p:cTn id="17" dur="indefinite" restart="never" nodeType="tmRoot">
          <p:childTnLst>
            <p:seq>
              <p:cTn id="18" dur="indefinite"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2600" spc="-1" strike="noStrike">
                <a:solidFill>
                  <a:srgbClr val="3eada7"/>
                </a:solidFill>
                <a:latin typeface="Arial"/>
                <a:ea typeface="Arial"/>
              </a:rPr>
              <a:t>First- Come, First-Served (FCFS) Scheduling</a:t>
            </a:r>
            <a:endParaRPr b="0" lang="en-IN" sz="2600" spc="-1" strike="noStrike">
              <a:solidFill>
                <a:srgbClr val="000000"/>
              </a:solidFill>
              <a:latin typeface="Arial"/>
            </a:endParaRPr>
          </a:p>
        </p:txBody>
      </p:sp>
      <p:sp>
        <p:nvSpPr>
          <p:cNvPr id="103" name="TextShape 2"/>
          <p:cNvSpPr txBox="1"/>
          <p:nvPr/>
        </p:nvSpPr>
        <p:spPr>
          <a:xfrm>
            <a:off x="845280" y="1381320"/>
            <a:ext cx="10515240" cy="5299920"/>
          </a:xfrm>
          <a:prstGeom prst="rect">
            <a:avLst/>
          </a:prstGeom>
          <a:noFill/>
          <a:ln>
            <a:noFill/>
          </a:ln>
        </p:spPr>
        <p:txBody>
          <a:bodyPr/>
          <a:p>
            <a:pPr marL="457200" indent="-342720">
              <a:lnSpc>
                <a:spcPct val="80000"/>
              </a:lnSpc>
              <a:spcBef>
                <a:spcPts val="799"/>
              </a:spcBef>
              <a:buClr>
                <a:srgbClr val="000000"/>
              </a:buClr>
              <a:buFont typeface="Arial"/>
              <a:buChar char="●"/>
            </a:pPr>
            <a:r>
              <a:rPr b="0" lang="en-IN" sz="1600" spc="-1" strike="noStrike">
                <a:solidFill>
                  <a:srgbClr val="000000"/>
                </a:solidFill>
                <a:latin typeface="Arial"/>
                <a:ea typeface="Arial"/>
              </a:rPr>
              <a:t>Example with 3 processes </a:t>
            </a:r>
            <a:r>
              <a:rPr b="0" lang="en-IN" sz="2100" spc="-1" strike="noStrike">
                <a:solidFill>
                  <a:srgbClr val="000000"/>
                </a:solidFill>
                <a:latin typeface="Arial"/>
                <a:ea typeface="Arial"/>
              </a:rPr>
              <a:t> </a:t>
            </a:r>
            <a:endParaRPr b="0" lang="en-IN" sz="2100" spc="-1" strike="noStrike">
              <a:solidFill>
                <a:srgbClr val="000000"/>
              </a:solidFill>
              <a:latin typeface="Arial"/>
            </a:endParaRPr>
          </a:p>
          <a:p>
            <a:pPr>
              <a:lnSpc>
                <a:spcPct val="80000"/>
              </a:lnSpc>
              <a:spcBef>
                <a:spcPts val="700"/>
              </a:spcBef>
            </a:pPr>
            <a:r>
              <a:rPr b="0" lang="en-IN" sz="2100" spc="-1" strike="noStrike">
                <a:solidFill>
                  <a:srgbClr val="000000"/>
                </a:solidFill>
                <a:latin typeface="Arial"/>
                <a:ea typeface="Arial"/>
              </a:rPr>
              <a:t>                        </a:t>
            </a:r>
            <a:r>
              <a:rPr b="0" lang="en-IN" sz="21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u="sng">
                <a:solidFill>
                  <a:srgbClr val="000000"/>
                </a:solidFill>
                <a:uFillTx/>
                <a:latin typeface="Arial"/>
                <a:ea typeface="Arial"/>
              </a:rPr>
              <a:t>Process</a:t>
            </a:r>
            <a:r>
              <a:rPr b="0" lang="en-IN" sz="1600" spc="-1" strike="noStrike">
                <a:solidFill>
                  <a:srgbClr val="000000"/>
                </a:solidFill>
                <a:latin typeface="Arial"/>
                <a:ea typeface="Arial"/>
              </a:rPr>
              <a:t>  </a:t>
            </a:r>
            <a:r>
              <a:rPr b="0" lang="en-IN" sz="1600" spc="-1" strike="noStrike" u="sng">
                <a:solidFill>
                  <a:srgbClr val="000000"/>
                </a:solidFill>
                <a:uFillTx/>
                <a:latin typeface="Arial"/>
                <a:ea typeface="Arial"/>
              </a:rPr>
              <a:t>Burst Time</a:t>
            </a:r>
            <a:endParaRPr b="0" lang="en-IN" sz="1600" spc="-1" strike="noStrike">
              <a:solidFill>
                <a:srgbClr val="000000"/>
              </a:solidFill>
              <a:latin typeface="Arial"/>
            </a:endParaRPr>
          </a:p>
          <a:p>
            <a:pPr marL="343080">
              <a:lnSpc>
                <a:spcPct val="80000"/>
              </a:lnSpc>
              <a:spcBef>
                <a:spcPts val="799"/>
              </a:spcBef>
            </a:pP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1</a:t>
            </a:r>
            <a:r>
              <a:rPr b="0" lang="en-IN" sz="1600" spc="-1" strike="noStrike">
                <a:solidFill>
                  <a:srgbClr val="000000"/>
                </a:solidFill>
                <a:latin typeface="Arial"/>
                <a:ea typeface="Arial"/>
              </a:rPr>
              <a:t>      24</a:t>
            </a:r>
            <a:endParaRPr b="0" lang="en-IN" sz="1600" spc="-1" strike="noStrike">
              <a:solidFill>
                <a:srgbClr val="000000"/>
              </a:solidFill>
              <a:latin typeface="Arial"/>
            </a:endParaRPr>
          </a:p>
          <a:p>
            <a:pPr marL="343080">
              <a:lnSpc>
                <a:spcPct val="80000"/>
              </a:lnSpc>
              <a:spcBef>
                <a:spcPts val="799"/>
              </a:spcBef>
            </a:pP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2</a:t>
            </a:r>
            <a:r>
              <a:rPr b="0" lang="en-IN" sz="1600" spc="-1" strike="noStrike">
                <a:solidFill>
                  <a:srgbClr val="000000"/>
                </a:solidFill>
                <a:latin typeface="Arial"/>
                <a:ea typeface="Arial"/>
              </a:rPr>
              <a:t>       3</a:t>
            </a:r>
            <a:endParaRPr b="0" lang="en-IN" sz="1600" spc="-1" strike="noStrike">
              <a:solidFill>
                <a:srgbClr val="000000"/>
              </a:solidFill>
              <a:latin typeface="Arial"/>
            </a:endParaRPr>
          </a:p>
          <a:p>
            <a:pPr marL="2743200">
              <a:lnSpc>
                <a:spcPct val="80000"/>
              </a:lnSpc>
              <a:spcBef>
                <a:spcPts val="799"/>
              </a:spcBef>
            </a:pP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3        </a:t>
            </a:r>
            <a:r>
              <a:rPr b="0" lang="en-IN" sz="1600" spc="-1" strike="noStrike">
                <a:solidFill>
                  <a:srgbClr val="000000"/>
                </a:solidFill>
                <a:latin typeface="Arial"/>
                <a:ea typeface="Arial"/>
              </a:rPr>
              <a:t>3</a:t>
            </a:r>
            <a:endParaRPr b="0" lang="en-IN" sz="1600" spc="-1" strike="noStrike">
              <a:solidFill>
                <a:srgbClr val="000000"/>
              </a:solidFill>
              <a:latin typeface="Arial"/>
            </a:endParaRPr>
          </a:p>
          <a:p>
            <a:pPr marL="457200" indent="-342720">
              <a:lnSpc>
                <a:spcPct val="80000"/>
              </a:lnSpc>
              <a:spcBef>
                <a:spcPts val="799"/>
              </a:spcBef>
              <a:buClr>
                <a:srgbClr val="000000"/>
              </a:buClr>
              <a:buFont typeface="Arial"/>
              <a:buChar char="●"/>
            </a:pPr>
            <a:r>
              <a:rPr b="0" lang="en-IN" sz="1600" spc="-1" strike="noStrike">
                <a:solidFill>
                  <a:srgbClr val="000000"/>
                </a:solidFill>
                <a:latin typeface="Arial"/>
                <a:ea typeface="Arial"/>
              </a:rPr>
              <a:t>Suppose that the processes arrive in the order: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1</a:t>
            </a:r>
            <a:r>
              <a:rPr b="0" lang="en-IN" sz="1600" spc="-1" strike="noStrike">
                <a:solidFill>
                  <a:srgbClr val="000000"/>
                </a:solidFill>
                <a:latin typeface="Arial"/>
                <a:ea typeface="Arial"/>
              </a:rPr>
              <a:t> ,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2</a:t>
            </a:r>
            <a:r>
              <a:rPr b="0" lang="en-IN" sz="1600" spc="-1" strike="noStrike">
                <a:solidFill>
                  <a:srgbClr val="000000"/>
                </a:solidFill>
                <a:latin typeface="Arial"/>
                <a:ea typeface="Arial"/>
              </a:rPr>
              <a:t> ,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3 </a:t>
            </a:r>
            <a:endParaRPr b="0" lang="en-IN" sz="2300" spc="-1" strike="noStrike">
              <a:solidFill>
                <a:srgbClr val="000000"/>
              </a:solidFill>
              <a:latin typeface="Arial"/>
            </a:endParaRPr>
          </a:p>
          <a:p>
            <a:pPr>
              <a:lnSpc>
                <a:spcPct val="80000"/>
              </a:lnSpc>
              <a:spcBef>
                <a:spcPts val="799"/>
              </a:spcBef>
            </a:pPr>
            <a:r>
              <a:rPr b="0" lang="en-IN" sz="1600" spc="-1" strike="noStrike">
                <a:solidFill>
                  <a:srgbClr val="000000"/>
                </a:solidFill>
                <a:latin typeface="Arial"/>
                <a:ea typeface="Arial"/>
              </a:rPr>
              <a:t>The Gantt Chart for the above schedule is:</a:t>
            </a:r>
            <a:endParaRPr b="0" lang="en-IN" sz="1600" spc="-1" strike="noStrike">
              <a:solidFill>
                <a:srgbClr val="000000"/>
              </a:solidFill>
              <a:latin typeface="Arial"/>
            </a:endParaRPr>
          </a:p>
          <a:p>
            <a:pPr>
              <a:lnSpc>
                <a:spcPct val="80000"/>
              </a:lnSpc>
              <a:spcBef>
                <a:spcPts val="799"/>
              </a:spcBef>
            </a:pPr>
            <a:endParaRPr b="0" lang="en-IN" sz="1600" spc="-1" strike="noStrike">
              <a:solidFill>
                <a:srgbClr val="000000"/>
              </a:solidFill>
              <a:latin typeface="Arial"/>
            </a:endParaRPr>
          </a:p>
          <a:p>
            <a:pPr>
              <a:lnSpc>
                <a:spcPct val="80000"/>
              </a:lnSpc>
              <a:spcBef>
                <a:spcPts val="799"/>
              </a:spcBef>
            </a:pPr>
            <a:endParaRPr b="0" lang="en-IN" sz="1600" spc="-1" strike="noStrike">
              <a:solidFill>
                <a:srgbClr val="000000"/>
              </a:solidFill>
              <a:latin typeface="Arial"/>
            </a:endParaRPr>
          </a:p>
          <a:p>
            <a:pPr>
              <a:lnSpc>
                <a:spcPct val="80000"/>
              </a:lnSpc>
              <a:spcBef>
                <a:spcPts val="799"/>
              </a:spcBef>
            </a:pPr>
            <a:endParaRPr b="0" lang="en-IN" sz="1600" spc="-1" strike="noStrike">
              <a:solidFill>
                <a:srgbClr val="000000"/>
              </a:solidFill>
              <a:latin typeface="Arial"/>
            </a:endParaRPr>
          </a:p>
          <a:p>
            <a:pPr marL="457200" indent="-342720">
              <a:lnSpc>
                <a:spcPct val="80000"/>
              </a:lnSpc>
              <a:spcBef>
                <a:spcPts val="799"/>
              </a:spcBef>
              <a:buClr>
                <a:srgbClr val="000000"/>
              </a:buClr>
              <a:buFont typeface="Arial"/>
              <a:buChar char="●"/>
            </a:pPr>
            <a:r>
              <a:rPr b="0" lang="en-IN" sz="1600" spc="-1" strike="noStrike">
                <a:solidFill>
                  <a:srgbClr val="000000"/>
                </a:solidFill>
                <a:latin typeface="Arial"/>
                <a:ea typeface="Arial"/>
              </a:rPr>
              <a:t>Waiting time for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1</a:t>
            </a:r>
            <a:r>
              <a:rPr b="0" lang="en-IN" sz="1600" spc="-1" strike="noStrike">
                <a:solidFill>
                  <a:srgbClr val="000000"/>
                </a:solidFill>
                <a:latin typeface="Arial"/>
                <a:ea typeface="Arial"/>
              </a:rPr>
              <a:t>  = 0;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2</a:t>
            </a:r>
            <a:r>
              <a:rPr b="0" lang="en-IN" sz="1600" spc="-1" strike="noStrike">
                <a:solidFill>
                  <a:srgbClr val="000000"/>
                </a:solidFill>
                <a:latin typeface="Arial"/>
                <a:ea typeface="Arial"/>
              </a:rPr>
              <a:t>  = 24;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3 </a:t>
            </a:r>
            <a:r>
              <a:rPr b="0" lang="en-IN" sz="1600" spc="-1" strike="noStrike">
                <a:solidFill>
                  <a:srgbClr val="000000"/>
                </a:solidFill>
                <a:latin typeface="Arial"/>
                <a:ea typeface="Arial"/>
              </a:rPr>
              <a:t>= 27</a:t>
            </a:r>
            <a:endParaRPr b="0" lang="en-IN" sz="1600" spc="-1" strike="noStrike">
              <a:solidFill>
                <a:srgbClr val="000000"/>
              </a:solidFill>
              <a:latin typeface="Arial"/>
            </a:endParaRPr>
          </a:p>
          <a:p>
            <a:pPr marL="457200" indent="-329760">
              <a:lnSpc>
                <a:spcPct val="80000"/>
              </a:lnSpc>
              <a:buClr>
                <a:srgbClr val="000000"/>
              </a:buClr>
              <a:buFont typeface="Arial"/>
              <a:buChar char="●"/>
            </a:pPr>
            <a:r>
              <a:rPr b="0" lang="en-IN" sz="1600" spc="-1" strike="noStrike">
                <a:solidFill>
                  <a:srgbClr val="000000"/>
                </a:solidFill>
                <a:latin typeface="Arial"/>
                <a:ea typeface="Arial"/>
              </a:rPr>
              <a:t>Average waiting time:  (0 + 24 + 27)/3 = 17</a:t>
            </a:r>
            <a:endParaRPr b="0" lang="en-IN" sz="1600" spc="-1" strike="noStrike">
              <a:solidFill>
                <a:srgbClr val="000000"/>
              </a:solidFill>
              <a:latin typeface="Arial"/>
            </a:endParaRPr>
          </a:p>
          <a:p>
            <a:pPr>
              <a:lnSpc>
                <a:spcPct val="80000"/>
              </a:lnSpc>
              <a:spcBef>
                <a:spcPts val="1001"/>
              </a:spcBef>
            </a:pPr>
            <a:endParaRPr b="0" lang="en-IN" sz="1600" spc="-1" strike="noStrike">
              <a:solidFill>
                <a:srgbClr val="000000"/>
              </a:solidFill>
              <a:latin typeface="Arial"/>
            </a:endParaRPr>
          </a:p>
        </p:txBody>
      </p:sp>
      <p:pic>
        <p:nvPicPr>
          <p:cNvPr id="104" name="Google Shape;213;p26" descr=""/>
          <p:cNvPicPr/>
          <p:nvPr/>
        </p:nvPicPr>
        <p:blipFill>
          <a:blip r:embed="rId1"/>
          <a:stretch/>
        </p:blipFill>
        <p:spPr>
          <a:xfrm>
            <a:off x="3645360" y="4595760"/>
            <a:ext cx="6531840" cy="754200"/>
          </a:xfrm>
          <a:prstGeom prst="rect">
            <a:avLst/>
          </a:prstGeom>
          <a:ln>
            <a:noFill/>
          </a:ln>
        </p:spPr>
      </p:pic>
    </p:spTree>
  </p:cSld>
  <p:timing>
    <p:tnLst>
      <p:par>
        <p:cTn id="19" dur="indefinite" restart="never" nodeType="tmRoot">
          <p:childTnLst>
            <p:seq>
              <p:cTn id="20" dur="indefinite" nodeType="mainSeq">
                <p:childTnLst>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4400" spc="-1" strike="noStrike">
                <a:solidFill>
                  <a:srgbClr val="3eada7"/>
                </a:solidFill>
                <a:latin typeface="Quattrocento Sans"/>
                <a:ea typeface="Quattrocento Sans"/>
              </a:rPr>
              <a:t>Cont.</a:t>
            </a:r>
            <a:endParaRPr b="0" lang="en-IN" sz="4400" spc="-1" strike="noStrike">
              <a:solidFill>
                <a:srgbClr val="000000"/>
              </a:solidFill>
              <a:latin typeface="Arial"/>
            </a:endParaRPr>
          </a:p>
        </p:txBody>
      </p:sp>
      <p:sp>
        <p:nvSpPr>
          <p:cNvPr id="106" name="TextShape 2"/>
          <p:cNvSpPr txBox="1"/>
          <p:nvPr/>
        </p:nvSpPr>
        <p:spPr>
          <a:xfrm>
            <a:off x="845280" y="1381320"/>
            <a:ext cx="10515240" cy="4798800"/>
          </a:xfrm>
          <a:prstGeom prst="rect">
            <a:avLst/>
          </a:prstGeom>
          <a:noFill/>
          <a:ln>
            <a:noFill/>
          </a:ln>
        </p:spPr>
        <p:txBody>
          <a:bodyPr/>
          <a:p>
            <a:pPr marL="343080">
              <a:lnSpc>
                <a:spcPct val="115000"/>
              </a:lnSpc>
              <a:spcBef>
                <a:spcPts val="799"/>
              </a:spcBef>
            </a:pPr>
            <a:r>
              <a:rPr b="0" lang="en-IN" sz="1700" spc="-1" strike="noStrike">
                <a:solidFill>
                  <a:srgbClr val="000000"/>
                </a:solidFill>
                <a:latin typeface="Arial"/>
                <a:ea typeface="Arial"/>
              </a:rPr>
              <a:t>Suppose that the processes arrive in the order:</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2</a:t>
            </a:r>
            <a:r>
              <a:rPr b="0" lang="en-IN" sz="1700" spc="-1" strike="noStrike">
                <a:solidFill>
                  <a:srgbClr val="000000"/>
                </a:solidFill>
                <a:latin typeface="Arial"/>
                <a:ea typeface="Arial"/>
              </a:rPr>
              <a:t> ,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3</a:t>
            </a:r>
            <a:r>
              <a:rPr b="0" lang="en-IN" sz="1700" spc="-1" strike="noStrike">
                <a:solidFill>
                  <a:srgbClr val="000000"/>
                </a:solidFill>
                <a:latin typeface="Arial"/>
                <a:ea typeface="Arial"/>
              </a:rPr>
              <a:t> ,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1</a:t>
            </a:r>
            <a:endParaRPr b="0" lang="en-IN" sz="2400" spc="-1" strike="noStrike">
              <a:solidFill>
                <a:srgbClr val="000000"/>
              </a:solidFill>
              <a:latin typeface="Arial"/>
            </a:endParaRPr>
          </a:p>
          <a:p>
            <a:pPr marL="457200" indent="-336240">
              <a:lnSpc>
                <a:spcPct val="115000"/>
              </a:lnSpc>
              <a:spcBef>
                <a:spcPts val="799"/>
              </a:spcBef>
              <a:buClr>
                <a:srgbClr val="000000"/>
              </a:buClr>
              <a:buFont typeface="Arial"/>
              <a:buChar char="●"/>
            </a:pPr>
            <a:r>
              <a:rPr b="0" lang="en-IN" sz="1700" spc="-1" strike="noStrike">
                <a:solidFill>
                  <a:srgbClr val="000000"/>
                </a:solidFill>
                <a:latin typeface="Arial"/>
                <a:ea typeface="Arial"/>
              </a:rPr>
              <a:t>The Gantt chart for the schedule is:</a:t>
            </a: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marL="457200" indent="-342720">
              <a:lnSpc>
                <a:spcPct val="150000"/>
              </a:lnSpc>
              <a:spcBef>
                <a:spcPts val="799"/>
              </a:spcBef>
              <a:buClr>
                <a:srgbClr val="000000"/>
              </a:buClr>
              <a:buFont typeface="Arial"/>
              <a:buChar char="●"/>
            </a:pPr>
            <a:r>
              <a:rPr b="0" lang="en-IN" sz="1700" spc="-1" strike="noStrike">
                <a:solidFill>
                  <a:srgbClr val="000000"/>
                </a:solidFill>
                <a:latin typeface="Arial"/>
                <a:ea typeface="Arial"/>
              </a:rPr>
              <a:t>Waiting time for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1 </a:t>
            </a:r>
            <a:r>
              <a:rPr b="0" i="1" lang="en-IN" sz="1700" spc="-1" strike="noStrike">
                <a:solidFill>
                  <a:srgbClr val="000000"/>
                </a:solidFill>
                <a:latin typeface="Arial"/>
                <a:ea typeface="Arial"/>
              </a:rPr>
              <a:t>=</a:t>
            </a:r>
            <a:r>
              <a:rPr b="0" lang="en-IN" sz="1700" spc="-1" strike="noStrike">
                <a:solidFill>
                  <a:srgbClr val="000000"/>
                </a:solidFill>
                <a:latin typeface="Arial"/>
                <a:ea typeface="Arial"/>
              </a:rPr>
              <a:t> 6</a:t>
            </a:r>
            <a:r>
              <a:rPr b="0" i="1" lang="en-IN" sz="1700" spc="-1" strike="noStrike">
                <a:solidFill>
                  <a:srgbClr val="000000"/>
                </a:solidFill>
                <a:latin typeface="Arial"/>
                <a:ea typeface="Arial"/>
              </a:rPr>
              <a:t>;</a:t>
            </a:r>
            <a:r>
              <a:rPr b="0" i="1" lang="en-IN" sz="2400" spc="-1" strike="noStrike" baseline="-25000">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2</a:t>
            </a:r>
            <a:r>
              <a:rPr b="0" lang="en-IN" sz="1700" spc="-1" strike="noStrike">
                <a:solidFill>
                  <a:srgbClr val="000000"/>
                </a:solidFill>
                <a:latin typeface="Arial"/>
                <a:ea typeface="Arial"/>
              </a:rPr>
              <a:t> = 0 ;</a:t>
            </a:r>
            <a:r>
              <a:rPr b="0" i="1" lang="en-IN" sz="2400" spc="-1" strike="noStrike" baseline="-25000">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3 </a:t>
            </a:r>
            <a:r>
              <a:rPr b="0" i="1" lang="en-IN" sz="1700" spc="-1" strike="noStrike">
                <a:solidFill>
                  <a:srgbClr val="000000"/>
                </a:solidFill>
                <a:latin typeface="Arial"/>
                <a:ea typeface="Arial"/>
              </a:rPr>
              <a:t>= </a:t>
            </a:r>
            <a:r>
              <a:rPr b="0" lang="en-IN" sz="1700" spc="-1" strike="noStrike">
                <a:solidFill>
                  <a:srgbClr val="000000"/>
                </a:solidFill>
                <a:latin typeface="Arial"/>
                <a:ea typeface="Arial"/>
              </a:rPr>
              <a:t>3</a:t>
            </a:r>
            <a:endParaRPr b="0" lang="en-IN" sz="1700" spc="-1" strike="noStrike">
              <a:solidFill>
                <a:srgbClr val="000000"/>
              </a:solidFill>
              <a:latin typeface="Arial"/>
            </a:endParaRPr>
          </a:p>
          <a:p>
            <a:pPr marL="457200" indent="-336240">
              <a:lnSpc>
                <a:spcPct val="150000"/>
              </a:lnSpc>
              <a:buClr>
                <a:srgbClr val="000000"/>
              </a:buClr>
              <a:buFont typeface="Arial"/>
              <a:buChar char="●"/>
            </a:pPr>
            <a:r>
              <a:rPr b="0" lang="en-IN" sz="1700" spc="-1" strike="noStrike">
                <a:solidFill>
                  <a:srgbClr val="000000"/>
                </a:solidFill>
                <a:latin typeface="Arial"/>
                <a:ea typeface="Arial"/>
              </a:rPr>
              <a:t>Average waiting time:   (6 + 0 + 3)/3 = 3</a:t>
            </a:r>
            <a:endParaRPr b="0" lang="en-IN" sz="1700" spc="-1" strike="noStrike">
              <a:solidFill>
                <a:srgbClr val="000000"/>
              </a:solidFill>
              <a:latin typeface="Arial"/>
            </a:endParaRPr>
          </a:p>
          <a:p>
            <a:pPr marL="457200" indent="-336240">
              <a:lnSpc>
                <a:spcPct val="150000"/>
              </a:lnSpc>
              <a:buClr>
                <a:srgbClr val="000000"/>
              </a:buClr>
              <a:buFont typeface="Arial"/>
              <a:buChar char="●"/>
            </a:pPr>
            <a:r>
              <a:rPr b="0" lang="en-IN" sz="1700" spc="-1" strike="noStrike">
                <a:solidFill>
                  <a:srgbClr val="000000"/>
                </a:solidFill>
                <a:latin typeface="Arial"/>
                <a:ea typeface="Arial"/>
              </a:rPr>
              <a:t>Much better than previous case</a:t>
            </a: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a:lnSpc>
                <a:spcPct val="90000"/>
              </a:lnSpc>
              <a:spcBef>
                <a:spcPts val="1001"/>
              </a:spcBef>
            </a:pPr>
            <a:endParaRPr b="0" lang="en-IN" sz="1700" spc="-1" strike="noStrike">
              <a:solidFill>
                <a:srgbClr val="000000"/>
              </a:solidFill>
              <a:latin typeface="Arial"/>
            </a:endParaRPr>
          </a:p>
        </p:txBody>
      </p:sp>
      <p:pic>
        <p:nvPicPr>
          <p:cNvPr id="107" name="Google Shape;220;p27" descr=""/>
          <p:cNvPicPr/>
          <p:nvPr/>
        </p:nvPicPr>
        <p:blipFill>
          <a:blip r:embed="rId1"/>
          <a:stretch/>
        </p:blipFill>
        <p:spPr>
          <a:xfrm>
            <a:off x="2670120" y="2674800"/>
            <a:ext cx="7316640" cy="825840"/>
          </a:xfrm>
          <a:prstGeom prst="rect">
            <a:avLst/>
          </a:prstGeom>
          <a:ln>
            <a:noFill/>
          </a:ln>
        </p:spPr>
      </p:pic>
    </p:spTree>
  </p:cSld>
  <p:timing>
    <p:tnLst>
      <p:par>
        <p:cTn id="25" dur="indefinite" restart="never" nodeType="tmRoot">
          <p:childTnLst>
            <p:seq>
              <p:cTn id="26" dur="indefinite" nodeType="mainSeq">
                <p:childTnLst>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Shortest-Job-First (SJF) Scheduling</a:t>
            </a:r>
            <a:endParaRPr b="0" lang="en-IN" sz="3200" spc="-1" strike="noStrike">
              <a:solidFill>
                <a:srgbClr val="000000"/>
              </a:solidFill>
              <a:latin typeface="Arial"/>
            </a:endParaRPr>
          </a:p>
        </p:txBody>
      </p:sp>
      <p:sp>
        <p:nvSpPr>
          <p:cNvPr id="109" name="TextShape 2"/>
          <p:cNvSpPr txBox="1"/>
          <p:nvPr/>
        </p:nvSpPr>
        <p:spPr>
          <a:xfrm>
            <a:off x="845280" y="1381320"/>
            <a:ext cx="10515240" cy="4798800"/>
          </a:xfrm>
          <a:prstGeom prst="rect">
            <a:avLst/>
          </a:prstGeom>
          <a:noFill/>
          <a:ln>
            <a:noFill/>
          </a:ln>
        </p:spPr>
        <p:txBody>
          <a:bodyPr>
            <a:normAutofit/>
          </a:bodyPr>
          <a:p>
            <a:pPr marL="457200" indent="-361440">
              <a:lnSpc>
                <a:spcPct val="150000"/>
              </a:lnSpc>
              <a:spcBef>
                <a:spcPts val="799"/>
              </a:spcBef>
              <a:buClr>
                <a:srgbClr val="000000"/>
              </a:buClr>
              <a:buFont typeface="Arial"/>
              <a:buChar char="●"/>
            </a:pPr>
            <a:r>
              <a:rPr b="0" lang="en-IN" sz="2100" spc="-1" strike="noStrike">
                <a:solidFill>
                  <a:srgbClr val="000000"/>
                </a:solidFill>
                <a:latin typeface="Arial"/>
                <a:ea typeface="Arial"/>
              </a:rPr>
              <a:t>Associate with each process the length of its next CPU burst</a:t>
            </a:r>
            <a:endParaRPr b="0" lang="en-IN" sz="2100" spc="-1" strike="noStrike">
              <a:solidFill>
                <a:srgbClr val="000000"/>
              </a:solidFill>
              <a:latin typeface="Arial"/>
            </a:endParaRPr>
          </a:p>
          <a:p>
            <a:pPr marL="12600">
              <a:lnSpc>
                <a:spcPct val="150000"/>
              </a:lnSpc>
              <a:spcBef>
                <a:spcPts val="799"/>
              </a:spcBef>
            </a:pPr>
            <a:r>
              <a:rPr b="0" lang="en-IN" sz="2200" spc="-1" strike="noStrike">
                <a:solidFill>
                  <a:srgbClr val="3eada7"/>
                </a:solidFill>
                <a:latin typeface="Arial"/>
                <a:ea typeface="Arial"/>
              </a:rPr>
              <a:t>•</a:t>
            </a:r>
            <a:r>
              <a:rPr b="0" lang="en-IN" sz="2100" spc="-1" strike="noStrike">
                <a:solidFill>
                  <a:srgbClr val="000000"/>
                </a:solidFill>
                <a:latin typeface="Arial"/>
                <a:ea typeface="Arial"/>
              </a:rPr>
              <a:t>Use these lengths to schedule the process with the shortest time</a:t>
            </a:r>
            <a:endParaRPr b="0" lang="en-IN" sz="2100" spc="-1" strike="noStrike">
              <a:solidFill>
                <a:srgbClr val="000000"/>
              </a:solidFill>
              <a:latin typeface="Arial"/>
            </a:endParaRPr>
          </a:p>
          <a:p>
            <a:pPr marL="457200" indent="-361440">
              <a:lnSpc>
                <a:spcPct val="150000"/>
              </a:lnSpc>
              <a:spcBef>
                <a:spcPts val="799"/>
              </a:spcBef>
              <a:buClr>
                <a:srgbClr val="000000"/>
              </a:buClr>
              <a:buFont typeface="Arial"/>
              <a:buChar char="●"/>
            </a:pPr>
            <a:r>
              <a:rPr b="0" lang="en-IN" sz="2100" spc="-1" strike="noStrike">
                <a:solidFill>
                  <a:srgbClr val="000000"/>
                </a:solidFill>
                <a:latin typeface="Arial"/>
                <a:ea typeface="Arial"/>
              </a:rPr>
              <a:t>SJF is optimal – gives minimum average waiting time for a given set of processes</a:t>
            </a:r>
            <a:endParaRPr b="0" lang="en-IN" sz="2100" spc="-1" strike="noStrike">
              <a:solidFill>
                <a:srgbClr val="000000"/>
              </a:solidFill>
              <a:latin typeface="Arial"/>
            </a:endParaRPr>
          </a:p>
          <a:p>
            <a:pPr marL="457200">
              <a:lnSpc>
                <a:spcPct val="150000"/>
              </a:lnSpc>
              <a:spcBef>
                <a:spcPts val="799"/>
              </a:spcBef>
            </a:pPr>
            <a:endParaRPr b="0" lang="en-IN" sz="2100" spc="-1" strike="noStrike">
              <a:solidFill>
                <a:srgbClr val="000000"/>
              </a:solidFill>
              <a:latin typeface="Arial"/>
            </a:endParaRPr>
          </a:p>
          <a:p>
            <a:pPr>
              <a:lnSpc>
                <a:spcPct val="150000"/>
              </a:lnSpc>
              <a:spcBef>
                <a:spcPts val="799"/>
              </a:spcBef>
            </a:pPr>
            <a:endParaRPr b="0" lang="en-IN" sz="2100" spc="-1" strike="noStrike">
              <a:solidFill>
                <a:srgbClr val="000000"/>
              </a:solidFill>
              <a:latin typeface="Arial"/>
            </a:endParaRPr>
          </a:p>
          <a:p>
            <a:pPr marL="12600">
              <a:lnSpc>
                <a:spcPct val="150000"/>
              </a:lnSpc>
              <a:spcBef>
                <a:spcPts val="799"/>
              </a:spcBef>
            </a:pPr>
            <a:endParaRPr b="0" lang="en-IN" sz="2100" spc="-1" strike="noStrike">
              <a:solidFill>
                <a:srgbClr val="000000"/>
              </a:solidFill>
              <a:latin typeface="Arial"/>
            </a:endParaRPr>
          </a:p>
        </p:txBody>
      </p:sp>
    </p:spTree>
  </p:cSld>
  <p:timing>
    <p:tnLst>
      <p:par>
        <p:cTn id="31" dur="indefinite" restart="never" nodeType="tmRoot">
          <p:childTnLst>
            <p:seq>
              <p:cTn id="32" dur="indefinite"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4400" spc="-1" strike="noStrike">
                <a:solidFill>
                  <a:srgbClr val="3eada7"/>
                </a:solidFill>
                <a:latin typeface="Quattrocento Sans"/>
                <a:ea typeface="Quattrocento Sans"/>
              </a:rPr>
              <a:t>Example</a:t>
            </a:r>
            <a:endParaRPr b="0" lang="en-IN" sz="4400" spc="-1" strike="noStrike">
              <a:solidFill>
                <a:srgbClr val="000000"/>
              </a:solidFill>
              <a:latin typeface="Arial"/>
            </a:endParaRPr>
          </a:p>
        </p:txBody>
      </p:sp>
      <p:sp>
        <p:nvSpPr>
          <p:cNvPr id="111" name="TextShape 2"/>
          <p:cNvSpPr txBox="1"/>
          <p:nvPr/>
        </p:nvSpPr>
        <p:spPr>
          <a:xfrm>
            <a:off x="845280" y="1381320"/>
            <a:ext cx="10515240" cy="4798800"/>
          </a:xfrm>
          <a:prstGeom prst="rect">
            <a:avLst/>
          </a:prstGeom>
          <a:noFill/>
          <a:ln>
            <a:noFill/>
          </a:ln>
        </p:spPr>
        <p:txBody>
          <a:bodyPr>
            <a:normAutofit/>
          </a:bodyPr>
          <a:p>
            <a:pPr marL="343080">
              <a:lnSpc>
                <a:spcPct val="115000"/>
              </a:lnSpc>
              <a:spcBef>
                <a:spcPts val="799"/>
              </a:spcBef>
            </a:pP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u="sng">
                <a:solidFill>
                  <a:srgbClr val="000000"/>
                </a:solidFill>
                <a:uFillTx/>
                <a:latin typeface="Arial"/>
                <a:ea typeface="Arial"/>
              </a:rPr>
              <a:t>Process</a:t>
            </a:r>
            <a:r>
              <a:rPr b="0" lang="en-IN" sz="1500" spc="-1" strike="noStrike" u="sng">
                <a:solidFill>
                  <a:srgbClr val="ffffff"/>
                </a:solidFill>
                <a:uFillTx/>
                <a:latin typeface="Arial"/>
                <a:ea typeface="Arial"/>
              </a:rPr>
              <a:t>Arriv  l Time</a:t>
            </a:r>
            <a:r>
              <a:rPr b="0" lang="en-IN" sz="1500" spc="-1" strike="noStrike">
                <a:solidFill>
                  <a:srgbClr val="000000"/>
                </a:solidFill>
                <a:latin typeface="Arial"/>
                <a:ea typeface="Arial"/>
              </a:rPr>
              <a:t>  </a:t>
            </a:r>
            <a:r>
              <a:rPr b="0" lang="en-IN" sz="1500" spc="-1" strike="noStrike" u="sng">
                <a:solidFill>
                  <a:srgbClr val="000000"/>
                </a:solidFill>
                <a:uFillTx/>
                <a:latin typeface="Arial"/>
                <a:ea typeface="Arial"/>
              </a:rPr>
              <a:t>Burst Time</a:t>
            </a:r>
            <a:endParaRPr b="0" lang="en-IN" sz="1500" spc="-1" strike="noStrike">
              <a:solidFill>
                <a:srgbClr val="000000"/>
              </a:solidFill>
              <a:latin typeface="Arial"/>
            </a:endParaRPr>
          </a:p>
          <a:p>
            <a:pPr marL="343080">
              <a:lnSpc>
                <a:spcPct val="115000"/>
              </a:lnSpc>
              <a:spcBef>
                <a:spcPts val="799"/>
              </a:spcBef>
            </a:pP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i="1" lang="en-IN" sz="1500" spc="-1" strike="noStrike">
                <a:solidFill>
                  <a:srgbClr val="000000"/>
                </a:solidFill>
                <a:latin typeface="Arial"/>
                <a:ea typeface="Arial"/>
              </a:rPr>
              <a:t>P</a:t>
            </a:r>
            <a:r>
              <a:rPr b="0" i="1" lang="en-IN" sz="2200" spc="-1" strike="noStrike" baseline="-25000">
                <a:solidFill>
                  <a:srgbClr val="000000"/>
                </a:solidFill>
                <a:latin typeface="Arial"/>
                <a:ea typeface="Arial"/>
              </a:rPr>
              <a:t>1</a:t>
            </a:r>
            <a:r>
              <a:rPr b="0" lang="en-IN" sz="1500" spc="-1" strike="noStrike">
                <a:solidFill>
                  <a:srgbClr val="000000"/>
                </a:solidFill>
                <a:latin typeface="Arial"/>
                <a:ea typeface="Arial"/>
              </a:rPr>
              <a:t>                         </a:t>
            </a:r>
            <a:r>
              <a:rPr b="0" lang="en-IN" sz="1500" spc="-1" strike="noStrike">
                <a:solidFill>
                  <a:srgbClr val="ffffff"/>
                </a:solidFill>
                <a:latin typeface="Arial"/>
                <a:ea typeface="Arial"/>
              </a:rPr>
              <a:t>0.0</a:t>
            </a:r>
            <a:r>
              <a:rPr b="0" lang="en-IN" sz="1500" spc="-1" strike="noStrike">
                <a:solidFill>
                  <a:srgbClr val="000000"/>
                </a:solidFill>
                <a:latin typeface="Arial"/>
                <a:ea typeface="Arial"/>
              </a:rPr>
              <a:t>  6</a:t>
            </a:r>
            <a:endParaRPr b="0" lang="en-IN" sz="1500" spc="-1" strike="noStrike">
              <a:solidFill>
                <a:srgbClr val="000000"/>
              </a:solidFill>
              <a:latin typeface="Arial"/>
            </a:endParaRPr>
          </a:p>
          <a:p>
            <a:pPr marL="343080">
              <a:lnSpc>
                <a:spcPct val="115000"/>
              </a:lnSpc>
              <a:spcBef>
                <a:spcPts val="799"/>
              </a:spcBef>
            </a:pP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i="1" lang="en-IN" sz="1500" spc="-1" strike="noStrike">
                <a:solidFill>
                  <a:srgbClr val="000000"/>
                </a:solidFill>
                <a:latin typeface="Arial"/>
                <a:ea typeface="Arial"/>
              </a:rPr>
              <a:t>P</a:t>
            </a:r>
            <a:r>
              <a:rPr b="0" i="1" lang="en-IN" sz="2200" spc="-1" strike="noStrike" baseline="-25000">
                <a:solidFill>
                  <a:srgbClr val="000000"/>
                </a:solidFill>
                <a:latin typeface="Arial"/>
                <a:ea typeface="Arial"/>
              </a:rPr>
              <a:t>2   </a:t>
            </a:r>
            <a:r>
              <a:rPr b="0" lang="en-IN" sz="1500" spc="-1" strike="noStrike">
                <a:solidFill>
                  <a:srgbClr val="ffffff"/>
                </a:solidFill>
                <a:latin typeface="Arial"/>
                <a:ea typeface="Arial"/>
              </a:rPr>
              <a:t>2.0     </a:t>
            </a:r>
            <a:r>
              <a:rPr b="0" lang="en-IN" sz="1500" spc="-1" strike="noStrike">
                <a:solidFill>
                  <a:srgbClr val="000000"/>
                </a:solidFill>
                <a:latin typeface="Arial"/>
                <a:ea typeface="Arial"/>
              </a:rPr>
              <a:t>                    8</a:t>
            </a:r>
            <a:endParaRPr b="0" lang="en-IN" sz="1500" spc="-1" strike="noStrike">
              <a:solidFill>
                <a:srgbClr val="000000"/>
              </a:solidFill>
              <a:latin typeface="Arial"/>
            </a:endParaRPr>
          </a:p>
          <a:p>
            <a:pPr marL="343080">
              <a:lnSpc>
                <a:spcPct val="115000"/>
              </a:lnSpc>
              <a:spcBef>
                <a:spcPts val="799"/>
              </a:spcBef>
            </a:pP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i="1" lang="en-IN" sz="1500" spc="-1" strike="noStrike">
                <a:solidFill>
                  <a:srgbClr val="000000"/>
                </a:solidFill>
                <a:latin typeface="Arial"/>
                <a:ea typeface="Arial"/>
              </a:rPr>
              <a:t>P</a:t>
            </a:r>
            <a:r>
              <a:rPr b="0" i="1" lang="en-IN" sz="2200" spc="-1" strike="noStrike" baseline="-25000">
                <a:solidFill>
                  <a:srgbClr val="000000"/>
                </a:solidFill>
                <a:latin typeface="Arial"/>
                <a:ea typeface="Arial"/>
              </a:rPr>
              <a:t>3</a:t>
            </a:r>
            <a:r>
              <a:rPr b="0" lang="en-IN" sz="1500" spc="-1" strike="noStrike">
                <a:solidFill>
                  <a:srgbClr val="000000"/>
                </a:solidFill>
                <a:latin typeface="Arial"/>
                <a:ea typeface="Arial"/>
              </a:rPr>
              <a:t>  </a:t>
            </a:r>
            <a:r>
              <a:rPr b="0" lang="en-IN" sz="1500" spc="-1" strike="noStrike">
                <a:solidFill>
                  <a:srgbClr val="ffffff"/>
                </a:solidFill>
                <a:latin typeface="Arial"/>
                <a:ea typeface="Arial"/>
              </a:rPr>
              <a:t>4.0</a:t>
            </a:r>
            <a:r>
              <a:rPr b="0" lang="en-IN" sz="1500" spc="-1" strike="noStrike">
                <a:solidFill>
                  <a:srgbClr val="000000"/>
                </a:solidFill>
                <a:latin typeface="Arial"/>
                <a:ea typeface="Arial"/>
              </a:rPr>
              <a:t>                           7</a:t>
            </a:r>
            <a:endParaRPr b="0" lang="en-IN" sz="1500" spc="-1" strike="noStrike">
              <a:solidFill>
                <a:srgbClr val="000000"/>
              </a:solidFill>
              <a:latin typeface="Arial"/>
            </a:endParaRPr>
          </a:p>
          <a:p>
            <a:pPr marL="343080">
              <a:lnSpc>
                <a:spcPct val="115000"/>
              </a:lnSpc>
              <a:spcBef>
                <a:spcPts val="799"/>
              </a:spcBef>
            </a:pP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lang="en-IN" sz="1500" spc="-1" strike="noStrike">
                <a:solidFill>
                  <a:srgbClr val="000000"/>
                </a:solidFill>
                <a:latin typeface="Arial"/>
                <a:ea typeface="Arial"/>
              </a:rPr>
              <a:t>  </a:t>
            </a:r>
            <a:r>
              <a:rPr b="0" i="1" lang="en-IN" sz="1500" spc="-1" strike="noStrike">
                <a:solidFill>
                  <a:srgbClr val="000000"/>
                </a:solidFill>
                <a:latin typeface="Arial"/>
                <a:ea typeface="Arial"/>
              </a:rPr>
              <a:t>P</a:t>
            </a:r>
            <a:r>
              <a:rPr b="0" i="1" lang="en-IN" sz="2200" spc="-1" strike="noStrike" baseline="-25000">
                <a:solidFill>
                  <a:srgbClr val="000000"/>
                </a:solidFill>
                <a:latin typeface="Arial"/>
                <a:ea typeface="Arial"/>
              </a:rPr>
              <a:t>4</a:t>
            </a:r>
            <a:r>
              <a:rPr b="0" lang="en-IN" sz="1500" spc="-1" strike="noStrike">
                <a:solidFill>
                  <a:srgbClr val="000000"/>
                </a:solidFill>
                <a:latin typeface="Arial"/>
                <a:ea typeface="Arial"/>
              </a:rPr>
              <a:t>  </a:t>
            </a:r>
            <a:r>
              <a:rPr b="0" lang="en-IN" sz="1500" spc="-1" strike="noStrike">
                <a:solidFill>
                  <a:srgbClr val="ffffff"/>
                </a:solidFill>
                <a:latin typeface="Arial"/>
                <a:ea typeface="Arial"/>
              </a:rPr>
              <a:t>5.0</a:t>
            </a:r>
            <a:r>
              <a:rPr b="0" lang="en-IN" sz="1500" spc="-1" strike="noStrike">
                <a:solidFill>
                  <a:srgbClr val="000000"/>
                </a:solidFill>
                <a:latin typeface="Arial"/>
                <a:ea typeface="Arial"/>
              </a:rPr>
              <a:t>                           3</a:t>
            </a:r>
            <a:endParaRPr b="0" lang="en-IN" sz="1500" spc="-1" strike="noStrike">
              <a:solidFill>
                <a:srgbClr val="000000"/>
              </a:solidFill>
              <a:latin typeface="Arial"/>
            </a:endParaRPr>
          </a:p>
          <a:p>
            <a:pPr marL="457200" indent="-323640">
              <a:lnSpc>
                <a:spcPct val="115000"/>
              </a:lnSpc>
              <a:spcBef>
                <a:spcPts val="799"/>
              </a:spcBef>
              <a:buClr>
                <a:srgbClr val="000000"/>
              </a:buClr>
              <a:buFont typeface="Arial"/>
              <a:buChar char="●"/>
            </a:pPr>
            <a:r>
              <a:rPr b="0" lang="en-IN" sz="1500" spc="-1" strike="noStrike">
                <a:solidFill>
                  <a:srgbClr val="000000"/>
                </a:solidFill>
                <a:latin typeface="Arial"/>
                <a:ea typeface="Arial"/>
              </a:rPr>
              <a:t>SJF scheduling chart</a:t>
            </a:r>
            <a:endParaRPr b="0" lang="en-IN" sz="1500" spc="-1" strike="noStrike">
              <a:solidFill>
                <a:srgbClr val="000000"/>
              </a:solidFill>
              <a:latin typeface="Arial"/>
            </a:endParaRPr>
          </a:p>
          <a:p>
            <a:pPr>
              <a:lnSpc>
                <a:spcPct val="115000"/>
              </a:lnSpc>
              <a:spcBef>
                <a:spcPts val="799"/>
              </a:spcBef>
            </a:pPr>
            <a:endParaRPr b="0" lang="en-IN" sz="1500" spc="-1" strike="noStrike">
              <a:solidFill>
                <a:srgbClr val="000000"/>
              </a:solidFill>
              <a:latin typeface="Arial"/>
            </a:endParaRPr>
          </a:p>
          <a:p>
            <a:pPr>
              <a:lnSpc>
                <a:spcPct val="115000"/>
              </a:lnSpc>
              <a:spcBef>
                <a:spcPts val="799"/>
              </a:spcBef>
            </a:pPr>
            <a:endParaRPr b="0" lang="en-IN" sz="1500" spc="-1" strike="noStrike">
              <a:solidFill>
                <a:srgbClr val="000000"/>
              </a:solidFill>
              <a:latin typeface="Arial"/>
            </a:endParaRPr>
          </a:p>
          <a:p>
            <a:pPr>
              <a:lnSpc>
                <a:spcPct val="115000"/>
              </a:lnSpc>
              <a:spcBef>
                <a:spcPts val="799"/>
              </a:spcBef>
            </a:pPr>
            <a:endParaRPr b="0" lang="en-IN" sz="1500" spc="-1" strike="noStrike">
              <a:solidFill>
                <a:srgbClr val="000000"/>
              </a:solidFill>
              <a:latin typeface="Arial"/>
            </a:endParaRPr>
          </a:p>
          <a:p>
            <a:pPr marL="457200" indent="-323640">
              <a:lnSpc>
                <a:spcPct val="115000"/>
              </a:lnSpc>
              <a:spcBef>
                <a:spcPts val="799"/>
              </a:spcBef>
              <a:buClr>
                <a:srgbClr val="000000"/>
              </a:buClr>
              <a:buFont typeface="Arial"/>
              <a:buChar char="●"/>
            </a:pPr>
            <a:r>
              <a:rPr b="0" lang="en-IN" sz="1500" spc="-1" strike="noStrike">
                <a:solidFill>
                  <a:srgbClr val="000000"/>
                </a:solidFill>
                <a:latin typeface="Arial"/>
                <a:ea typeface="Arial"/>
              </a:rPr>
              <a:t>Average waiting time = (3 + 16 + 9 + 0) / 4 = 7</a:t>
            </a:r>
            <a:endParaRPr b="0" lang="en-IN" sz="1500" spc="-1" strike="noStrike">
              <a:solidFill>
                <a:srgbClr val="000000"/>
              </a:solidFill>
              <a:latin typeface="Arial"/>
            </a:endParaRPr>
          </a:p>
          <a:p>
            <a:pPr>
              <a:lnSpc>
                <a:spcPct val="90000"/>
              </a:lnSpc>
              <a:spcBef>
                <a:spcPts val="1001"/>
              </a:spcBef>
            </a:pPr>
            <a:endParaRPr b="0" lang="en-IN" sz="1500" spc="-1" strike="noStrike">
              <a:solidFill>
                <a:srgbClr val="000000"/>
              </a:solidFill>
              <a:latin typeface="Arial"/>
            </a:endParaRPr>
          </a:p>
        </p:txBody>
      </p:sp>
      <p:pic>
        <p:nvPicPr>
          <p:cNvPr id="112" name="Google Shape;233;p29" descr=""/>
          <p:cNvPicPr/>
          <p:nvPr/>
        </p:nvPicPr>
        <p:blipFill>
          <a:blip r:embed="rId1"/>
          <a:stretch/>
        </p:blipFill>
        <p:spPr>
          <a:xfrm>
            <a:off x="3084840" y="4146120"/>
            <a:ext cx="7205400" cy="949680"/>
          </a:xfrm>
          <a:prstGeom prst="rect">
            <a:avLst/>
          </a:prstGeom>
          <a:ln>
            <a:noFill/>
          </a:ln>
        </p:spPr>
      </p:pic>
    </p:spTree>
  </p:cSld>
  <p:timing>
    <p:tnLst>
      <p:par>
        <p:cTn id="33" dur="indefinite" restart="never" nodeType="tmRoot">
          <p:childTnLst>
            <p:seq>
              <p:cTn id="34" dur="indefinite" nodeType="mainSeq">
                <p:childTnLst>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2800" spc="-1" strike="noStrike">
                <a:solidFill>
                  <a:srgbClr val="3eada7"/>
                </a:solidFill>
                <a:latin typeface="Arial"/>
                <a:ea typeface="Arial"/>
              </a:rPr>
              <a:t>Shortest Remaining Time First Scheduling</a:t>
            </a:r>
            <a:endParaRPr b="0" lang="en-IN" sz="2800" spc="-1" strike="noStrike">
              <a:solidFill>
                <a:srgbClr val="000000"/>
              </a:solidFill>
              <a:latin typeface="Arial"/>
            </a:endParaRPr>
          </a:p>
        </p:txBody>
      </p:sp>
      <p:sp>
        <p:nvSpPr>
          <p:cNvPr id="114" name="TextShape 2"/>
          <p:cNvSpPr txBox="1"/>
          <p:nvPr/>
        </p:nvSpPr>
        <p:spPr>
          <a:xfrm>
            <a:off x="845280" y="1381320"/>
            <a:ext cx="10515240" cy="4798800"/>
          </a:xfrm>
          <a:prstGeom prst="rect">
            <a:avLst/>
          </a:prstGeom>
          <a:noFill/>
          <a:ln>
            <a:noFill/>
          </a:ln>
        </p:spPr>
        <p:txBody>
          <a:bodyPr>
            <a:normAutofit/>
          </a:bodyPr>
          <a:p>
            <a:pPr marL="457200" indent="-348840">
              <a:lnSpc>
                <a:spcPct val="150000"/>
              </a:lnSpc>
              <a:spcBef>
                <a:spcPts val="799"/>
              </a:spcBef>
              <a:buClr>
                <a:srgbClr val="000000"/>
              </a:buClr>
              <a:buFont typeface="Arial"/>
              <a:buChar char="●"/>
            </a:pPr>
            <a:r>
              <a:rPr b="0" lang="en-IN" sz="1900" spc="-1" strike="noStrike">
                <a:solidFill>
                  <a:srgbClr val="000000"/>
                </a:solidFill>
                <a:latin typeface="Arial"/>
                <a:ea typeface="Arial"/>
              </a:rPr>
              <a:t>Preemptive version of SJN</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Whenever a new process arrives in the ready queue, the decision on which process to schedule next is redone using the SJN algorithm.</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Is SRT more “optimal” than SJN in terms of the minimum average waiting time for a given set of processes?</a:t>
            </a:r>
            <a:endParaRPr b="0" lang="en-IN" sz="1900" spc="-1" strike="noStrike">
              <a:solidFill>
                <a:srgbClr val="000000"/>
              </a:solidFill>
              <a:latin typeface="Arial"/>
            </a:endParaRPr>
          </a:p>
          <a:p>
            <a:pPr>
              <a:lnSpc>
                <a:spcPct val="150000"/>
              </a:lnSpc>
              <a:spcBef>
                <a:spcPts val="799"/>
              </a:spcBef>
            </a:pPr>
            <a:endParaRPr b="0" lang="en-IN" sz="1900" spc="-1" strike="noStrike">
              <a:solidFill>
                <a:srgbClr val="000000"/>
              </a:solidFill>
              <a:latin typeface="Arial"/>
            </a:endParaRPr>
          </a:p>
        </p:txBody>
      </p:sp>
    </p:spTree>
  </p:cSld>
  <p:timing>
    <p:tnLst>
      <p:par>
        <p:cTn id="39" dur="indefinite" restart="never" nodeType="tmRoot">
          <p:childTnLst>
            <p:seq>
              <p:cTn id="40" dur="indefinite"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000" spc="-1" strike="noStrike">
                <a:solidFill>
                  <a:srgbClr val="3eada7"/>
                </a:solidFill>
                <a:latin typeface="Arial"/>
                <a:ea typeface="Arial"/>
              </a:rPr>
              <a:t>Example of Shortest-remaining-time-first</a:t>
            </a:r>
            <a:endParaRPr b="0" lang="en-IN" sz="3000" spc="-1" strike="noStrike">
              <a:solidFill>
                <a:srgbClr val="000000"/>
              </a:solidFill>
              <a:latin typeface="Arial"/>
            </a:endParaRPr>
          </a:p>
        </p:txBody>
      </p:sp>
      <p:sp>
        <p:nvSpPr>
          <p:cNvPr id="116" name="TextShape 2"/>
          <p:cNvSpPr txBox="1"/>
          <p:nvPr/>
        </p:nvSpPr>
        <p:spPr>
          <a:xfrm>
            <a:off x="845280" y="1381320"/>
            <a:ext cx="10515240" cy="4798800"/>
          </a:xfrm>
          <a:prstGeom prst="rect">
            <a:avLst/>
          </a:prstGeom>
          <a:noFill/>
          <a:ln>
            <a:noFill/>
          </a:ln>
        </p:spPr>
        <p:txBody>
          <a:bodyPr/>
          <a:p>
            <a:pPr marL="457200" indent="-329760">
              <a:lnSpc>
                <a:spcPct val="115000"/>
              </a:lnSpc>
              <a:spcBef>
                <a:spcPts val="799"/>
              </a:spcBef>
              <a:buClr>
                <a:srgbClr val="000000"/>
              </a:buClr>
              <a:buFont typeface="Arial"/>
              <a:buChar char="●"/>
            </a:pPr>
            <a:r>
              <a:rPr b="0" lang="en-IN" sz="1600" spc="-1" strike="noStrike">
                <a:solidFill>
                  <a:srgbClr val="000000"/>
                </a:solidFill>
                <a:latin typeface="Arial"/>
                <a:ea typeface="Arial"/>
              </a:rPr>
              <a:t>Now we add the concepts of varying arrival times and preemption to the analysis</a:t>
            </a:r>
            <a:endParaRPr b="0" lang="en-IN" sz="1600" spc="-1" strike="noStrike">
              <a:solidFill>
                <a:srgbClr val="000000"/>
              </a:solidFill>
              <a:latin typeface="Arial"/>
            </a:endParaRPr>
          </a:p>
          <a:p>
            <a:pPr marL="343080">
              <a:lnSpc>
                <a:spcPct val="115000"/>
              </a:lnSpc>
              <a:spcBef>
                <a:spcPts val="799"/>
              </a:spcBef>
            </a:pPr>
            <a:r>
              <a:rPr b="0" lang="en-IN" sz="1600" spc="-1" strike="noStrike">
                <a:solidFill>
                  <a:srgbClr val="000000"/>
                </a:solidFill>
                <a:latin typeface="Arial"/>
                <a:ea typeface="Arial"/>
              </a:rPr>
              <a:t>       </a:t>
            </a:r>
            <a:r>
              <a:rPr b="0" lang="en-IN" sz="1600" spc="-1" strike="noStrike">
                <a:solidFill>
                  <a:srgbClr val="000000"/>
                </a:solidFill>
                <a:latin typeface="Arial"/>
                <a:ea typeface="Arial"/>
              </a:rPr>
              <a:t>	</a:t>
            </a:r>
            <a:r>
              <a:rPr b="0" lang="en-IN" sz="1600" spc="-1" strike="noStrike" u="sng">
                <a:solidFill>
                  <a:srgbClr val="000000"/>
                </a:solidFill>
                <a:uFillTx/>
                <a:latin typeface="Arial"/>
                <a:ea typeface="Arial"/>
              </a:rPr>
              <a:t>Process</a:t>
            </a:r>
            <a:r>
              <a:rPr b="0" lang="en-IN" sz="1600" spc="-1" strike="noStrike" u="sng">
                <a:solidFill>
                  <a:srgbClr val="ffffff"/>
                </a:solidFill>
                <a:uFillTx/>
                <a:latin typeface="Arial"/>
                <a:ea typeface="Arial"/>
              </a:rPr>
              <a:t>A  arri </a:t>
            </a:r>
            <a:r>
              <a:rPr b="0" i="1" lang="en-IN" sz="1600" spc="-1" strike="noStrike" u="sng">
                <a:solidFill>
                  <a:srgbClr val="000000"/>
                </a:solidFill>
                <a:uFillTx/>
                <a:latin typeface="Arial"/>
                <a:ea typeface="Arial"/>
              </a:rPr>
              <a:t>Arrival </a:t>
            </a:r>
            <a:r>
              <a:rPr b="0" lang="en-IN" sz="1600" spc="-1" strike="noStrike" u="sng">
                <a:solidFill>
                  <a:srgbClr val="000000"/>
                </a:solidFill>
                <a:uFillTx/>
                <a:latin typeface="Arial"/>
                <a:ea typeface="Arial"/>
              </a:rPr>
              <a:t>Time</a:t>
            </a:r>
            <a:r>
              <a:rPr b="0" lang="en-IN" sz="1600" spc="-1" strike="noStrike" u="sng">
                <a:solidFill>
                  <a:srgbClr val="ffffff"/>
                </a:solidFill>
                <a:uFillTx/>
                <a:latin typeface="Arial"/>
                <a:ea typeface="Arial"/>
              </a:rPr>
              <a:t>T </a:t>
            </a:r>
            <a:r>
              <a:rPr b="0" lang="en-IN" sz="1600" spc="-1" strike="noStrike">
                <a:solidFill>
                  <a:srgbClr val="000000"/>
                </a:solidFill>
                <a:latin typeface="Arial"/>
                <a:ea typeface="Arial"/>
              </a:rPr>
              <a:t>  </a:t>
            </a:r>
            <a:r>
              <a:rPr b="0" lang="en-IN" sz="1600" spc="-1" strike="noStrike" u="sng">
                <a:solidFill>
                  <a:srgbClr val="000000"/>
                </a:solidFill>
                <a:uFillTx/>
                <a:latin typeface="Arial"/>
                <a:ea typeface="Arial"/>
              </a:rPr>
              <a:t>Burst Time</a:t>
            </a:r>
            <a:endParaRPr b="0" lang="en-IN" sz="1600" spc="-1" strike="noStrike">
              <a:solidFill>
                <a:srgbClr val="000000"/>
              </a:solidFill>
              <a:latin typeface="Arial"/>
            </a:endParaRPr>
          </a:p>
          <a:p>
            <a:pPr marL="343080">
              <a:lnSpc>
                <a:spcPct val="115000"/>
              </a:lnSpc>
              <a:spcBef>
                <a:spcPts val="799"/>
              </a:spcBef>
            </a:pP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1</a:t>
            </a:r>
            <a:r>
              <a:rPr b="0" lang="en-IN" sz="1600" spc="-1" strike="noStrike">
                <a:solidFill>
                  <a:srgbClr val="000000"/>
                </a:solidFill>
                <a:latin typeface="Arial"/>
                <a:ea typeface="Arial"/>
              </a:rPr>
              <a:t>                    0                      8</a:t>
            </a:r>
            <a:endParaRPr b="0" lang="en-IN" sz="1600" spc="-1" strike="noStrike">
              <a:solidFill>
                <a:srgbClr val="000000"/>
              </a:solidFill>
              <a:latin typeface="Arial"/>
            </a:endParaRPr>
          </a:p>
          <a:p>
            <a:pPr marL="343080">
              <a:lnSpc>
                <a:spcPct val="115000"/>
              </a:lnSpc>
              <a:spcBef>
                <a:spcPts val="799"/>
              </a:spcBef>
            </a:pP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2                       </a:t>
            </a:r>
            <a:r>
              <a:rPr b="0" lang="en-IN" sz="1600" spc="-1" strike="noStrike">
                <a:solidFill>
                  <a:srgbClr val="000000"/>
                </a:solidFill>
                <a:latin typeface="Arial"/>
                <a:ea typeface="Arial"/>
              </a:rPr>
              <a:t>1                      4</a:t>
            </a:r>
            <a:endParaRPr b="0" lang="en-IN" sz="1600" spc="-1" strike="noStrike">
              <a:solidFill>
                <a:srgbClr val="000000"/>
              </a:solidFill>
              <a:latin typeface="Arial"/>
            </a:endParaRPr>
          </a:p>
          <a:p>
            <a:pPr marL="343080">
              <a:lnSpc>
                <a:spcPct val="115000"/>
              </a:lnSpc>
              <a:spcBef>
                <a:spcPts val="799"/>
              </a:spcBef>
            </a:pP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3</a:t>
            </a:r>
            <a:r>
              <a:rPr b="0" lang="en-IN" sz="1600" spc="-1" strike="noStrike">
                <a:solidFill>
                  <a:srgbClr val="000000"/>
                </a:solidFill>
                <a:latin typeface="Arial"/>
                <a:ea typeface="Arial"/>
              </a:rPr>
              <a:t>                     2                      9</a:t>
            </a:r>
            <a:endParaRPr b="0" lang="en-IN" sz="1600" spc="-1" strike="noStrike">
              <a:solidFill>
                <a:srgbClr val="000000"/>
              </a:solidFill>
              <a:latin typeface="Arial"/>
            </a:endParaRPr>
          </a:p>
          <a:p>
            <a:pPr marL="343080">
              <a:lnSpc>
                <a:spcPct val="115000"/>
              </a:lnSpc>
              <a:spcBef>
                <a:spcPts val="799"/>
              </a:spcBef>
            </a:pPr>
            <a:r>
              <a:rPr b="0" lang="en-IN" sz="1600" spc="-1" strike="noStrike">
                <a:solidFill>
                  <a:srgbClr val="000000"/>
                </a:solidFill>
                <a:latin typeface="Arial"/>
                <a:ea typeface="Arial"/>
              </a:rPr>
              <a:t>               </a:t>
            </a:r>
            <a:r>
              <a:rPr b="0" i="1" lang="en-IN" sz="1600" spc="-1" strike="noStrike">
                <a:solidFill>
                  <a:srgbClr val="000000"/>
                </a:solidFill>
                <a:latin typeface="Arial"/>
                <a:ea typeface="Arial"/>
              </a:rPr>
              <a:t>P</a:t>
            </a:r>
            <a:r>
              <a:rPr b="0" i="1" lang="en-IN" sz="2300" spc="-1" strike="noStrike" baseline="-25000">
                <a:solidFill>
                  <a:srgbClr val="000000"/>
                </a:solidFill>
                <a:latin typeface="Arial"/>
                <a:ea typeface="Arial"/>
              </a:rPr>
              <a:t>4</a:t>
            </a:r>
            <a:r>
              <a:rPr b="0" lang="en-IN" sz="1600" spc="-1" strike="noStrike">
                <a:solidFill>
                  <a:srgbClr val="000000"/>
                </a:solidFill>
                <a:latin typeface="Arial"/>
                <a:ea typeface="Arial"/>
              </a:rPr>
              <a:t>                     3                      5</a:t>
            </a:r>
            <a:endParaRPr b="0" lang="en-IN" sz="1600" spc="-1" strike="noStrike">
              <a:solidFill>
                <a:srgbClr val="000000"/>
              </a:solidFill>
              <a:latin typeface="Arial"/>
            </a:endParaRPr>
          </a:p>
          <a:p>
            <a:pPr marL="457200" indent="-329760">
              <a:lnSpc>
                <a:spcPct val="115000"/>
              </a:lnSpc>
              <a:spcBef>
                <a:spcPts val="799"/>
              </a:spcBef>
              <a:buClr>
                <a:srgbClr val="000000"/>
              </a:buClr>
              <a:buFont typeface="Arial"/>
              <a:buChar char="●"/>
            </a:pPr>
            <a:r>
              <a:rPr b="0" i="1" lang="en-IN" sz="1600" spc="-1" strike="noStrike">
                <a:solidFill>
                  <a:srgbClr val="000000"/>
                </a:solidFill>
                <a:latin typeface="Arial"/>
                <a:ea typeface="Arial"/>
              </a:rPr>
              <a:t>Preemptive </a:t>
            </a:r>
            <a:r>
              <a:rPr b="0" lang="en-IN" sz="1600" spc="-1" strike="noStrike">
                <a:solidFill>
                  <a:srgbClr val="000000"/>
                </a:solidFill>
                <a:latin typeface="Arial"/>
                <a:ea typeface="Arial"/>
              </a:rPr>
              <a:t>SJF Gantt Chart</a:t>
            </a:r>
            <a:endParaRPr b="0" lang="en-IN" sz="1600" spc="-1" strike="noStrike">
              <a:solidFill>
                <a:srgbClr val="000000"/>
              </a:solidFill>
              <a:latin typeface="Arial"/>
            </a:endParaRPr>
          </a:p>
          <a:p>
            <a:pPr>
              <a:lnSpc>
                <a:spcPct val="115000"/>
              </a:lnSpc>
              <a:spcBef>
                <a:spcPts val="799"/>
              </a:spcBef>
            </a:pPr>
            <a:endParaRPr b="0" lang="en-IN" sz="1600" spc="-1" strike="noStrike">
              <a:solidFill>
                <a:srgbClr val="000000"/>
              </a:solidFill>
              <a:latin typeface="Arial"/>
            </a:endParaRPr>
          </a:p>
          <a:p>
            <a:pPr>
              <a:lnSpc>
                <a:spcPct val="115000"/>
              </a:lnSpc>
              <a:spcBef>
                <a:spcPts val="799"/>
              </a:spcBef>
            </a:pPr>
            <a:endParaRPr b="0" lang="en-IN" sz="1600" spc="-1" strike="noStrike">
              <a:solidFill>
                <a:srgbClr val="000000"/>
              </a:solidFill>
              <a:latin typeface="Arial"/>
            </a:endParaRPr>
          </a:p>
          <a:p>
            <a:pPr marL="457200" indent="-329760">
              <a:lnSpc>
                <a:spcPct val="115000"/>
              </a:lnSpc>
              <a:spcBef>
                <a:spcPts val="799"/>
              </a:spcBef>
              <a:buClr>
                <a:srgbClr val="000000"/>
              </a:buClr>
              <a:buFont typeface="Arial"/>
              <a:buChar char="●"/>
            </a:pPr>
            <a:r>
              <a:rPr b="0" lang="en-IN" sz="1600" spc="-1" strike="noStrike">
                <a:solidFill>
                  <a:srgbClr val="000000"/>
                </a:solidFill>
                <a:latin typeface="Arial"/>
                <a:ea typeface="Arial"/>
              </a:rPr>
              <a:t>Average waiting time = [(10-1)+(1-1)+(17-2)+(5-3)]/4 = 26/4 = 6.5</a:t>
            </a:r>
            <a:endParaRPr b="0" lang="en-IN" sz="1600" spc="-1" strike="noStrike">
              <a:solidFill>
                <a:srgbClr val="000000"/>
              </a:solidFill>
              <a:latin typeface="Arial"/>
            </a:endParaRPr>
          </a:p>
          <a:p>
            <a:pPr>
              <a:lnSpc>
                <a:spcPct val="115000"/>
              </a:lnSpc>
              <a:spcBef>
                <a:spcPts val="799"/>
              </a:spcBef>
            </a:pPr>
            <a:endParaRPr b="0" lang="en-IN" sz="1600" spc="-1" strike="noStrike">
              <a:solidFill>
                <a:srgbClr val="000000"/>
              </a:solidFill>
              <a:latin typeface="Arial"/>
            </a:endParaRPr>
          </a:p>
          <a:p>
            <a:pPr>
              <a:lnSpc>
                <a:spcPct val="90000"/>
              </a:lnSpc>
              <a:spcBef>
                <a:spcPts val="1001"/>
              </a:spcBef>
            </a:pPr>
            <a:endParaRPr b="0" lang="en-IN" sz="1600" spc="-1" strike="noStrike">
              <a:solidFill>
                <a:srgbClr val="000000"/>
              </a:solidFill>
              <a:latin typeface="Arial"/>
            </a:endParaRPr>
          </a:p>
        </p:txBody>
      </p:sp>
      <p:pic>
        <p:nvPicPr>
          <p:cNvPr id="117" name="Google Shape;246;p31" descr=""/>
          <p:cNvPicPr/>
          <p:nvPr/>
        </p:nvPicPr>
        <p:blipFill>
          <a:blip r:embed="rId1"/>
          <a:stretch/>
        </p:blipFill>
        <p:spPr>
          <a:xfrm>
            <a:off x="4120200" y="4435920"/>
            <a:ext cx="6760800" cy="825840"/>
          </a:xfrm>
          <a:prstGeom prst="rect">
            <a:avLst/>
          </a:prstGeom>
          <a:ln>
            <a:noFill/>
          </a:ln>
        </p:spPr>
      </p:pic>
    </p:spTree>
  </p:cSld>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Round Robin (RR)</a:t>
            </a:r>
            <a:endParaRPr b="0" lang="en-IN" sz="3200" spc="-1" strike="noStrike">
              <a:solidFill>
                <a:srgbClr val="000000"/>
              </a:solidFill>
              <a:latin typeface="Arial"/>
            </a:endParaRPr>
          </a:p>
        </p:txBody>
      </p:sp>
      <p:sp>
        <p:nvSpPr>
          <p:cNvPr id="119" name="TextShape 2"/>
          <p:cNvSpPr txBox="1"/>
          <p:nvPr/>
        </p:nvSpPr>
        <p:spPr>
          <a:xfrm>
            <a:off x="845280" y="1381320"/>
            <a:ext cx="10515240" cy="4798800"/>
          </a:xfrm>
          <a:prstGeom prst="rect">
            <a:avLst/>
          </a:prstGeom>
          <a:noFill/>
          <a:ln>
            <a:noFill/>
          </a:ln>
        </p:spPr>
        <p:txBody>
          <a:bodyPr/>
          <a:p>
            <a:pPr marL="457200" indent="-355320">
              <a:lnSpc>
                <a:spcPct val="150000"/>
              </a:lnSpc>
              <a:spcBef>
                <a:spcPts val="799"/>
              </a:spcBef>
              <a:buClr>
                <a:srgbClr val="000000"/>
              </a:buClr>
              <a:buFont typeface="Arial"/>
              <a:buChar char="●"/>
            </a:pPr>
            <a:r>
              <a:rPr b="0" lang="en-IN" sz="2000" spc="-1" strike="noStrike">
                <a:solidFill>
                  <a:srgbClr val="000000"/>
                </a:solidFill>
                <a:latin typeface="Arial"/>
                <a:ea typeface="Arial"/>
              </a:rPr>
              <a:t>Each process gets a small unit of CPU time (</a:t>
            </a:r>
            <a:r>
              <a:rPr b="1" lang="en-IN" sz="2000" spc="-1" strike="noStrike">
                <a:solidFill>
                  <a:srgbClr val="3eada7"/>
                </a:solidFill>
                <a:latin typeface="Arial"/>
                <a:ea typeface="Arial"/>
              </a:rPr>
              <a:t>time quantum</a:t>
            </a:r>
            <a:r>
              <a:rPr b="1" lang="en-IN" sz="2000" spc="-1" strike="noStrike">
                <a:solidFill>
                  <a:srgbClr val="000000"/>
                </a:solidFill>
                <a:latin typeface="Arial"/>
                <a:ea typeface="Arial"/>
              </a:rPr>
              <a:t> </a:t>
            </a:r>
            <a:r>
              <a:rPr b="0" i="1" lang="en-IN" sz="2000" spc="-1" strike="noStrike">
                <a:solidFill>
                  <a:srgbClr val="000000"/>
                </a:solidFill>
                <a:latin typeface="Arial"/>
                <a:ea typeface="Arial"/>
              </a:rPr>
              <a:t>q</a:t>
            </a:r>
            <a:r>
              <a:rPr b="0" lang="en-IN" sz="2000" spc="-1" strike="noStrike">
                <a:solidFill>
                  <a:srgbClr val="000000"/>
                </a:solidFill>
                <a:latin typeface="Arial"/>
                <a:ea typeface="Arial"/>
              </a:rPr>
              <a:t>), usually 10-100 milliseconds.  After this time has elapsed, the process is preempted and added to the end of the ready queue.</a:t>
            </a:r>
            <a:endParaRPr b="0" lang="en-IN" sz="2000" spc="-1" strike="noStrike">
              <a:solidFill>
                <a:srgbClr val="000000"/>
              </a:solidFill>
              <a:latin typeface="Arial"/>
            </a:endParaRPr>
          </a:p>
          <a:p>
            <a:pPr marL="457200" indent="-355320">
              <a:lnSpc>
                <a:spcPct val="150000"/>
              </a:lnSpc>
              <a:buClr>
                <a:srgbClr val="000000"/>
              </a:buClr>
              <a:buFont typeface="Arial"/>
              <a:buChar char="●"/>
            </a:pPr>
            <a:r>
              <a:rPr b="0" lang="en-IN" sz="2000" spc="-1" strike="noStrike">
                <a:solidFill>
                  <a:srgbClr val="000000"/>
                </a:solidFill>
                <a:latin typeface="Arial"/>
                <a:ea typeface="Arial"/>
              </a:rPr>
              <a:t>If there are </a:t>
            </a:r>
            <a:r>
              <a:rPr b="0" i="1" lang="en-IN" sz="2000" spc="-1" strike="noStrike">
                <a:solidFill>
                  <a:srgbClr val="000000"/>
                </a:solidFill>
                <a:latin typeface="Arial"/>
                <a:ea typeface="Arial"/>
              </a:rPr>
              <a:t>n</a:t>
            </a:r>
            <a:r>
              <a:rPr b="0" lang="en-IN" sz="2000" spc="-1" strike="noStrike">
                <a:solidFill>
                  <a:srgbClr val="000000"/>
                </a:solidFill>
                <a:latin typeface="Arial"/>
                <a:ea typeface="Arial"/>
              </a:rPr>
              <a:t> processes in the ready queue and the time quantum is </a:t>
            </a:r>
            <a:r>
              <a:rPr b="0" i="1" lang="en-IN" sz="2000" spc="-1" strike="noStrike">
                <a:solidFill>
                  <a:srgbClr val="000000"/>
                </a:solidFill>
                <a:latin typeface="Arial"/>
                <a:ea typeface="Arial"/>
              </a:rPr>
              <a:t>q</a:t>
            </a:r>
            <a:r>
              <a:rPr b="0" lang="en-IN" sz="2000" spc="-1" strike="noStrike">
                <a:solidFill>
                  <a:srgbClr val="000000"/>
                </a:solidFill>
                <a:latin typeface="Arial"/>
                <a:ea typeface="Arial"/>
              </a:rPr>
              <a:t>, then each process gets 1/</a:t>
            </a:r>
            <a:r>
              <a:rPr b="0" i="1" lang="en-IN" sz="2000" spc="-1" strike="noStrike">
                <a:solidFill>
                  <a:srgbClr val="000000"/>
                </a:solidFill>
                <a:latin typeface="Arial"/>
                <a:ea typeface="Arial"/>
              </a:rPr>
              <a:t>n</a:t>
            </a:r>
            <a:r>
              <a:rPr b="0" lang="en-IN" sz="2000" spc="-1" strike="noStrike">
                <a:solidFill>
                  <a:srgbClr val="000000"/>
                </a:solidFill>
                <a:latin typeface="Arial"/>
                <a:ea typeface="Arial"/>
              </a:rPr>
              <a:t> of the CPU time in chunks of at most </a:t>
            </a:r>
            <a:r>
              <a:rPr b="0" i="1" lang="en-IN" sz="2000" spc="-1" strike="noStrike">
                <a:solidFill>
                  <a:srgbClr val="000000"/>
                </a:solidFill>
                <a:latin typeface="Arial"/>
                <a:ea typeface="Arial"/>
              </a:rPr>
              <a:t>q</a:t>
            </a:r>
            <a:r>
              <a:rPr b="0" lang="en-IN" sz="2000" spc="-1" strike="noStrike">
                <a:solidFill>
                  <a:srgbClr val="000000"/>
                </a:solidFill>
                <a:latin typeface="Arial"/>
                <a:ea typeface="Arial"/>
              </a:rPr>
              <a:t> time units at once.  No process waits more than (</a:t>
            </a:r>
            <a:r>
              <a:rPr b="0" i="1" lang="en-IN" sz="2000" spc="-1" strike="noStrike">
                <a:solidFill>
                  <a:srgbClr val="000000"/>
                </a:solidFill>
                <a:latin typeface="Arial"/>
                <a:ea typeface="Arial"/>
              </a:rPr>
              <a:t>n</a:t>
            </a:r>
            <a:r>
              <a:rPr b="0" lang="en-IN" sz="2000" spc="-1" strike="noStrike">
                <a:solidFill>
                  <a:srgbClr val="000000"/>
                </a:solidFill>
                <a:latin typeface="Arial"/>
                <a:ea typeface="Arial"/>
              </a:rPr>
              <a:t>-1)</a:t>
            </a:r>
            <a:r>
              <a:rPr b="0" i="1" lang="en-IN" sz="2000" spc="-1" strike="noStrike">
                <a:solidFill>
                  <a:srgbClr val="000000"/>
                </a:solidFill>
                <a:latin typeface="Arial"/>
                <a:ea typeface="Arial"/>
              </a:rPr>
              <a:t>q </a:t>
            </a:r>
            <a:r>
              <a:rPr b="0" lang="en-IN" sz="2000" spc="-1" strike="noStrike">
                <a:solidFill>
                  <a:srgbClr val="000000"/>
                </a:solidFill>
                <a:latin typeface="Arial"/>
                <a:ea typeface="Arial"/>
              </a:rPr>
              <a:t>time units.</a:t>
            </a:r>
            <a:endParaRPr b="0" lang="en-IN" sz="2000" spc="-1" strike="noStrike">
              <a:solidFill>
                <a:srgbClr val="000000"/>
              </a:solidFill>
              <a:latin typeface="Arial"/>
            </a:endParaRPr>
          </a:p>
          <a:p>
            <a:pPr marL="457200" indent="-355320">
              <a:lnSpc>
                <a:spcPct val="150000"/>
              </a:lnSpc>
              <a:buClr>
                <a:srgbClr val="000000"/>
              </a:buClr>
              <a:buFont typeface="Arial"/>
              <a:buChar char="●"/>
            </a:pPr>
            <a:r>
              <a:rPr b="0" lang="en-IN" sz="2000" spc="-1" strike="noStrike">
                <a:solidFill>
                  <a:srgbClr val="000000"/>
                </a:solidFill>
                <a:latin typeface="Arial"/>
                <a:ea typeface="Arial"/>
              </a:rPr>
              <a:t>Timer interrupts every quantum to schedule next process</a:t>
            </a:r>
            <a:endParaRPr b="0" lang="en-IN" sz="2000" spc="-1" strike="noStrike">
              <a:solidFill>
                <a:srgbClr val="000000"/>
              </a:solidFill>
              <a:latin typeface="Arial"/>
            </a:endParaRPr>
          </a:p>
        </p:txBody>
      </p:sp>
    </p:spTree>
  </p:cSld>
  <p:timing>
    <p:tnLst>
      <p:par>
        <p:cTn id="47" dur="indefinite" restart="never" nodeType="tmRoot">
          <p:childTnLst>
            <p:seq>
              <p:cTn id="48" dur="indefinite" nodeType="mainSeq"/>
              <p:prevCondLst>
                <p:cond delay="0" evt="onPrev">
                  <p:tgtEl>
                    <p:sldTgt/>
                  </p:tgtEl>
                </p:cond>
              </p:prevCondLst>
              <p:nextCondLst>
                <p:cond delay="0"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Example of RR with Time Quantum = 4</a:t>
            </a:r>
            <a:endParaRPr b="0" lang="en-IN" sz="3200" spc="-1" strike="noStrike">
              <a:solidFill>
                <a:srgbClr val="000000"/>
              </a:solidFill>
              <a:latin typeface="Arial"/>
            </a:endParaRPr>
          </a:p>
        </p:txBody>
      </p:sp>
      <p:sp>
        <p:nvSpPr>
          <p:cNvPr id="121" name="TextShape 2"/>
          <p:cNvSpPr txBox="1"/>
          <p:nvPr/>
        </p:nvSpPr>
        <p:spPr>
          <a:xfrm>
            <a:off x="845280" y="1381320"/>
            <a:ext cx="10515240" cy="4798800"/>
          </a:xfrm>
          <a:prstGeom prst="rect">
            <a:avLst/>
          </a:prstGeom>
          <a:noFill/>
          <a:ln>
            <a:noFill/>
          </a:ln>
        </p:spPr>
        <p:txBody>
          <a:bodyPr/>
          <a:p>
            <a:pPr marL="343080">
              <a:lnSpc>
                <a:spcPct val="90000"/>
              </a:lnSpc>
              <a:spcBef>
                <a:spcPts val="799"/>
              </a:spcBef>
            </a:pPr>
            <a:r>
              <a:rPr b="0" lang="en-IN" sz="1700" spc="-1" strike="noStrike">
                <a:solidFill>
                  <a:srgbClr val="000000"/>
                </a:solidFill>
                <a:latin typeface="Arial"/>
                <a:ea typeface="Arial"/>
              </a:rPr>
              <a:t>  </a:t>
            </a:r>
            <a:r>
              <a:rPr b="0" lang="en-IN" sz="1700" spc="-1" strike="noStrike" u="sng">
                <a:solidFill>
                  <a:srgbClr val="000000"/>
                </a:solidFill>
                <a:uFillTx/>
                <a:latin typeface="Arial"/>
                <a:ea typeface="Arial"/>
              </a:rPr>
              <a:t>Process</a:t>
            </a:r>
            <a:r>
              <a:rPr b="0" lang="en-IN" sz="1700" spc="-1" strike="noStrike">
                <a:solidFill>
                  <a:srgbClr val="000000"/>
                </a:solidFill>
                <a:latin typeface="Arial"/>
                <a:ea typeface="Arial"/>
              </a:rPr>
              <a:t>  </a:t>
            </a:r>
            <a:r>
              <a:rPr b="0" lang="en-IN" sz="1700" spc="-1" strike="noStrike" u="sng">
                <a:solidFill>
                  <a:srgbClr val="000000"/>
                </a:solidFill>
                <a:uFillTx/>
                <a:latin typeface="Arial"/>
                <a:ea typeface="Arial"/>
              </a:rPr>
              <a:t>Burst Time</a:t>
            </a:r>
            <a:endParaRPr b="0" lang="en-IN" sz="1700" spc="-1" strike="noStrike">
              <a:solidFill>
                <a:srgbClr val="000000"/>
              </a:solidFill>
              <a:latin typeface="Arial"/>
            </a:endParaRPr>
          </a:p>
          <a:p>
            <a:pPr marL="343080">
              <a:lnSpc>
                <a:spcPct val="90000"/>
              </a:lnSpc>
              <a:spcBef>
                <a:spcPts val="799"/>
              </a:spcBef>
            </a:pPr>
            <a:r>
              <a:rPr b="0" i="1"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1                  </a:t>
            </a:r>
            <a:r>
              <a:rPr b="0" lang="en-IN" sz="1700" spc="-1" strike="noStrike">
                <a:solidFill>
                  <a:srgbClr val="000000"/>
                </a:solidFill>
                <a:latin typeface="Arial"/>
                <a:ea typeface="Arial"/>
              </a:rPr>
              <a:t>24</a:t>
            </a:r>
            <a:endParaRPr b="0" lang="en-IN" sz="1700" spc="-1" strike="noStrike">
              <a:solidFill>
                <a:srgbClr val="000000"/>
              </a:solidFill>
              <a:latin typeface="Arial"/>
            </a:endParaRPr>
          </a:p>
          <a:p>
            <a:pPr marL="343080">
              <a:lnSpc>
                <a:spcPct val="90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2                   </a:t>
            </a:r>
            <a:r>
              <a:rPr b="0" lang="en-IN" sz="1700" spc="-1" strike="noStrike">
                <a:solidFill>
                  <a:srgbClr val="000000"/>
                </a:solidFill>
                <a:latin typeface="Arial"/>
                <a:ea typeface="Arial"/>
              </a:rPr>
              <a:t>3</a:t>
            </a:r>
            <a:endParaRPr b="0" lang="en-IN" sz="1700" spc="-1" strike="noStrike">
              <a:solidFill>
                <a:srgbClr val="000000"/>
              </a:solidFill>
              <a:latin typeface="Arial"/>
            </a:endParaRPr>
          </a:p>
          <a:p>
            <a:pPr marL="343080">
              <a:lnSpc>
                <a:spcPct val="90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3                     </a:t>
            </a:r>
            <a:r>
              <a:rPr b="0" lang="en-IN" sz="1700" spc="-1" strike="noStrike">
                <a:solidFill>
                  <a:srgbClr val="000000"/>
                </a:solidFill>
                <a:latin typeface="Arial"/>
                <a:ea typeface="Arial"/>
              </a:rPr>
              <a:t>3 </a:t>
            </a:r>
            <a:endParaRPr b="0" lang="en-IN" sz="1700" spc="-1" strike="noStrike">
              <a:solidFill>
                <a:srgbClr val="000000"/>
              </a:solidFill>
              <a:latin typeface="Arial"/>
            </a:endParaRPr>
          </a:p>
          <a:p>
            <a:pPr marL="457200" indent="-336240">
              <a:lnSpc>
                <a:spcPct val="90000"/>
              </a:lnSpc>
              <a:spcBef>
                <a:spcPts val="799"/>
              </a:spcBef>
              <a:buClr>
                <a:srgbClr val="000000"/>
              </a:buClr>
              <a:buFont typeface="Arial"/>
              <a:buChar char="●"/>
            </a:pPr>
            <a:r>
              <a:rPr b="0" lang="en-IN" sz="1700" spc="-1" strike="noStrike">
                <a:solidFill>
                  <a:srgbClr val="000000"/>
                </a:solidFill>
                <a:latin typeface="Arial"/>
                <a:ea typeface="Arial"/>
              </a:rPr>
              <a:t>The Gantt chart is:</a:t>
            </a:r>
            <a:endParaRPr b="0" lang="en-IN" sz="1700" spc="-1" strike="noStrike">
              <a:solidFill>
                <a:srgbClr val="000000"/>
              </a:solidFill>
              <a:latin typeface="Arial"/>
            </a:endParaRPr>
          </a:p>
          <a:p>
            <a:pPr>
              <a:lnSpc>
                <a:spcPct val="90000"/>
              </a:lnSpc>
              <a:spcBef>
                <a:spcPts val="799"/>
              </a:spcBef>
            </a:pPr>
            <a:endParaRPr b="0" lang="en-IN" sz="1700" spc="-1" strike="noStrike">
              <a:solidFill>
                <a:srgbClr val="000000"/>
              </a:solidFill>
              <a:latin typeface="Arial"/>
            </a:endParaRPr>
          </a:p>
          <a:p>
            <a:pPr>
              <a:lnSpc>
                <a:spcPct val="90000"/>
              </a:lnSpc>
              <a:spcBef>
                <a:spcPts val="799"/>
              </a:spcBef>
            </a:pPr>
            <a:endParaRPr b="0" lang="en-IN" sz="1700" spc="-1" strike="noStrike">
              <a:solidFill>
                <a:srgbClr val="000000"/>
              </a:solidFill>
              <a:latin typeface="Arial"/>
            </a:endParaRPr>
          </a:p>
          <a:p>
            <a:pPr>
              <a:lnSpc>
                <a:spcPct val="90000"/>
              </a:lnSpc>
              <a:spcBef>
                <a:spcPts val="799"/>
              </a:spcBef>
            </a:pPr>
            <a:endParaRPr b="0" lang="en-IN" sz="1700" spc="-1" strike="noStrike">
              <a:solidFill>
                <a:srgbClr val="000000"/>
              </a:solidFill>
              <a:latin typeface="Arial"/>
            </a:endParaRPr>
          </a:p>
          <a:p>
            <a:pPr marL="457200" indent="-336240">
              <a:lnSpc>
                <a:spcPct val="90000"/>
              </a:lnSpc>
              <a:spcBef>
                <a:spcPts val="799"/>
              </a:spcBef>
              <a:buClr>
                <a:srgbClr val="000000"/>
              </a:buClr>
              <a:buFont typeface="Arial"/>
              <a:buChar char="●"/>
            </a:pPr>
            <a:r>
              <a:rPr b="0" lang="en-IN" sz="1700" spc="-1" strike="noStrike">
                <a:solidFill>
                  <a:srgbClr val="000000"/>
                </a:solidFill>
                <a:latin typeface="Arial"/>
                <a:ea typeface="Arial"/>
              </a:rPr>
              <a:t>Typically, higher average turnaround than SJF, but better </a:t>
            </a:r>
            <a:r>
              <a:rPr b="1" i="1" lang="en-IN" sz="1700" spc="-1" strike="noStrike">
                <a:solidFill>
                  <a:srgbClr val="000000"/>
                </a:solidFill>
                <a:latin typeface="Arial"/>
                <a:ea typeface="Arial"/>
              </a:rPr>
              <a:t>response</a:t>
            </a:r>
            <a:endParaRPr b="0" lang="en-IN" sz="1700" spc="-1" strike="noStrike">
              <a:solidFill>
                <a:srgbClr val="000000"/>
              </a:solidFill>
              <a:latin typeface="Arial"/>
            </a:endParaRPr>
          </a:p>
          <a:p>
            <a:pPr marL="457200" indent="-336240">
              <a:lnSpc>
                <a:spcPct val="90000"/>
              </a:lnSpc>
              <a:buClr>
                <a:srgbClr val="000000"/>
              </a:buClr>
              <a:buFont typeface="Arial"/>
              <a:buChar char="●"/>
            </a:pPr>
            <a:r>
              <a:rPr b="0" lang="en-IN" sz="1700" spc="-1" strike="noStrike">
                <a:solidFill>
                  <a:srgbClr val="000000"/>
                </a:solidFill>
                <a:latin typeface="Arial"/>
                <a:ea typeface="Arial"/>
              </a:rPr>
              <a:t>q should be large compared to context switch time</a:t>
            </a:r>
            <a:endParaRPr b="0" lang="en-IN" sz="1700" spc="-1" strike="noStrike">
              <a:solidFill>
                <a:srgbClr val="000000"/>
              </a:solidFill>
              <a:latin typeface="Arial"/>
            </a:endParaRPr>
          </a:p>
          <a:p>
            <a:pPr marL="12600">
              <a:lnSpc>
                <a:spcPct val="90000"/>
              </a:lnSpc>
              <a:spcBef>
                <a:spcPts val="799"/>
              </a:spcBef>
            </a:pPr>
            <a:r>
              <a:rPr b="0" lang="en-IN" sz="1800" spc="-1" strike="noStrike">
                <a:solidFill>
                  <a:srgbClr val="cc6600"/>
                </a:solidFill>
                <a:latin typeface="Arial"/>
                <a:ea typeface="Arial"/>
              </a:rPr>
              <a:t>•</a:t>
            </a:r>
            <a:r>
              <a:rPr b="0" lang="en-IN" sz="1700" spc="-1" strike="noStrike">
                <a:solidFill>
                  <a:srgbClr val="000000"/>
                </a:solidFill>
                <a:latin typeface="Arial"/>
                <a:ea typeface="Arial"/>
              </a:rPr>
              <a:t>q usually 10 milliseconds  to 100 milliseconds,</a:t>
            </a:r>
            <a:endParaRPr b="0" lang="en-IN" sz="1700" spc="-1" strike="noStrike">
              <a:solidFill>
                <a:srgbClr val="000000"/>
              </a:solidFill>
              <a:latin typeface="Arial"/>
            </a:endParaRPr>
          </a:p>
          <a:p>
            <a:pPr marL="12600">
              <a:lnSpc>
                <a:spcPct val="90000"/>
              </a:lnSpc>
              <a:spcBef>
                <a:spcPts val="799"/>
              </a:spcBef>
            </a:pPr>
            <a:r>
              <a:rPr b="0" lang="en-IN" sz="1800" spc="-1" strike="noStrike">
                <a:solidFill>
                  <a:srgbClr val="cc6600"/>
                </a:solidFill>
                <a:latin typeface="Arial"/>
                <a:ea typeface="Arial"/>
              </a:rPr>
              <a:t>•</a:t>
            </a:r>
            <a:r>
              <a:rPr b="0" lang="en-IN" sz="1700" spc="-1" strike="noStrike">
                <a:solidFill>
                  <a:srgbClr val="000000"/>
                </a:solidFill>
                <a:latin typeface="Arial"/>
                <a:ea typeface="Arial"/>
              </a:rPr>
              <a:t>Context switch &lt; 10 microseconds</a:t>
            </a:r>
            <a:endParaRPr b="0" lang="en-IN" sz="1700" spc="-1" strike="noStrike">
              <a:solidFill>
                <a:srgbClr val="000000"/>
              </a:solidFill>
              <a:latin typeface="Arial"/>
            </a:endParaRPr>
          </a:p>
          <a:p>
            <a:pPr>
              <a:lnSpc>
                <a:spcPct val="90000"/>
              </a:lnSpc>
              <a:spcBef>
                <a:spcPts val="1001"/>
              </a:spcBef>
            </a:pPr>
            <a:endParaRPr b="0" lang="en-IN" sz="1700" spc="-1" strike="noStrike">
              <a:solidFill>
                <a:srgbClr val="000000"/>
              </a:solidFill>
              <a:latin typeface="Arial"/>
            </a:endParaRPr>
          </a:p>
        </p:txBody>
      </p:sp>
      <p:pic>
        <p:nvPicPr>
          <p:cNvPr id="122" name="Google Shape;259;p33" descr=""/>
          <p:cNvPicPr/>
          <p:nvPr/>
        </p:nvPicPr>
        <p:blipFill>
          <a:blip r:embed="rId1"/>
          <a:stretch/>
        </p:blipFill>
        <p:spPr>
          <a:xfrm>
            <a:off x="2763000" y="3591720"/>
            <a:ext cx="7115040" cy="825840"/>
          </a:xfrm>
          <a:prstGeom prst="rect">
            <a:avLst/>
          </a:prstGeom>
          <a:ln>
            <a:noFill/>
          </a:ln>
        </p:spPr>
      </p:pic>
      <p:sp>
        <p:nvSpPr>
          <p:cNvPr id="123" name="CustomShape 3"/>
          <p:cNvSpPr/>
          <p:nvPr/>
        </p:nvSpPr>
        <p:spPr>
          <a:xfrm>
            <a:off x="753480" y="417600"/>
            <a:ext cx="38520" cy="25560"/>
          </a:xfrm>
          <a:prstGeom prst="rect">
            <a:avLst/>
          </a:prstGeom>
          <a:noFill/>
          <a:ln>
            <a:noFill/>
          </a:ln>
        </p:spPr>
        <p:style>
          <a:lnRef idx="0"/>
          <a:fillRef idx="0"/>
          <a:effectRef idx="0"/>
          <a:fontRef idx="minor"/>
        </p:style>
      </p:sp>
    </p:spTree>
  </p:cSld>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Priority Scheduling</a:t>
            </a:r>
            <a:endParaRPr b="0" lang="en-IN" sz="3200" spc="-1" strike="noStrike">
              <a:solidFill>
                <a:srgbClr val="000000"/>
              </a:solidFill>
              <a:latin typeface="Arial"/>
            </a:endParaRPr>
          </a:p>
        </p:txBody>
      </p:sp>
      <p:sp>
        <p:nvSpPr>
          <p:cNvPr id="125" name="TextShape 2"/>
          <p:cNvSpPr txBox="1"/>
          <p:nvPr/>
        </p:nvSpPr>
        <p:spPr>
          <a:xfrm>
            <a:off x="845280" y="1381320"/>
            <a:ext cx="10515240" cy="4798800"/>
          </a:xfrm>
          <a:prstGeom prst="rect">
            <a:avLst/>
          </a:prstGeom>
          <a:noFill/>
          <a:ln>
            <a:noFill/>
          </a:ln>
        </p:spPr>
        <p:txBody>
          <a:bodyPr/>
          <a:p>
            <a:pPr marL="457200" indent="-348840">
              <a:lnSpc>
                <a:spcPct val="150000"/>
              </a:lnSpc>
              <a:spcBef>
                <a:spcPts val="799"/>
              </a:spcBef>
              <a:buClr>
                <a:srgbClr val="000000"/>
              </a:buClr>
              <a:buFont typeface="Arial"/>
              <a:buChar char="●"/>
            </a:pPr>
            <a:r>
              <a:rPr b="0" lang="en-IN" sz="1900" spc="-1" strike="noStrike">
                <a:solidFill>
                  <a:srgbClr val="000000"/>
                </a:solidFill>
                <a:latin typeface="Arial"/>
                <a:ea typeface="Arial"/>
              </a:rPr>
              <a:t>A priority number (integer) is associated with each process</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The CPU is allocated to the process with the highest priority (usually, smallest integer º highest priority)</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Two schemes:</a:t>
            </a:r>
            <a:endParaRPr b="0" lang="en-IN" sz="1900" spc="-1" strike="noStrike">
              <a:solidFill>
                <a:srgbClr val="000000"/>
              </a:solidFill>
              <a:latin typeface="Arial"/>
            </a:endParaRPr>
          </a:p>
          <a:p>
            <a:pPr marL="12600">
              <a:lnSpc>
                <a:spcPct val="150000"/>
              </a:lnSpc>
              <a:spcBef>
                <a:spcPts val="799"/>
              </a:spcBef>
            </a:pPr>
            <a:r>
              <a:rPr b="0" lang="en-IN" sz="2000" spc="-1" strike="noStrike">
                <a:solidFill>
                  <a:srgbClr val="3eada7"/>
                </a:solidFill>
                <a:latin typeface="Arial"/>
                <a:ea typeface="Arial"/>
              </a:rPr>
              <a:t>•</a:t>
            </a:r>
            <a:r>
              <a:rPr b="0" lang="en-IN" sz="1900" spc="-1" strike="noStrike">
                <a:solidFill>
                  <a:srgbClr val="000000"/>
                </a:solidFill>
                <a:latin typeface="Arial"/>
                <a:ea typeface="Arial"/>
              </a:rPr>
              <a:t>Preemptive</a:t>
            </a:r>
            <a:endParaRPr b="0" lang="en-IN" sz="1900" spc="-1" strike="noStrike">
              <a:solidFill>
                <a:srgbClr val="000000"/>
              </a:solidFill>
              <a:latin typeface="Arial"/>
            </a:endParaRPr>
          </a:p>
          <a:p>
            <a:pPr marL="12600">
              <a:lnSpc>
                <a:spcPct val="150000"/>
              </a:lnSpc>
              <a:spcBef>
                <a:spcPts val="799"/>
              </a:spcBef>
            </a:pPr>
            <a:r>
              <a:rPr b="0" lang="en-IN" sz="2000" spc="-1" strike="noStrike">
                <a:solidFill>
                  <a:srgbClr val="3eada7"/>
                </a:solidFill>
                <a:latin typeface="Arial"/>
                <a:ea typeface="Arial"/>
              </a:rPr>
              <a:t>•</a:t>
            </a:r>
            <a:r>
              <a:rPr b="0" lang="en-IN" sz="1900" spc="-1" strike="noStrike">
                <a:solidFill>
                  <a:srgbClr val="000000"/>
                </a:solidFill>
                <a:latin typeface="Arial"/>
                <a:ea typeface="Arial"/>
              </a:rPr>
              <a:t>Nonpreemptive</a:t>
            </a:r>
            <a:endParaRPr b="0" lang="en-IN" sz="1900" spc="-1" strike="noStrike">
              <a:solidFill>
                <a:srgbClr val="000000"/>
              </a:solidFill>
              <a:latin typeface="Arial"/>
            </a:endParaRPr>
          </a:p>
          <a:p>
            <a:pPr marL="457200" indent="-348840">
              <a:lnSpc>
                <a:spcPct val="150000"/>
              </a:lnSpc>
              <a:spcBef>
                <a:spcPts val="799"/>
              </a:spcBef>
              <a:buClr>
                <a:srgbClr val="000000"/>
              </a:buClr>
              <a:buFont typeface="Arial"/>
              <a:buChar char="●"/>
            </a:pPr>
            <a:r>
              <a:rPr b="0" lang="en-IN" sz="1900" spc="-1" strike="noStrike">
                <a:solidFill>
                  <a:srgbClr val="000000"/>
                </a:solidFill>
                <a:latin typeface="Arial"/>
                <a:ea typeface="Arial"/>
              </a:rPr>
              <a:t>Problem º </a:t>
            </a:r>
            <a:r>
              <a:rPr b="1" lang="en-IN" sz="1900" spc="-1" strike="noStrike">
                <a:solidFill>
                  <a:srgbClr val="3eada7"/>
                </a:solidFill>
                <a:latin typeface="Arial"/>
                <a:ea typeface="Arial"/>
              </a:rPr>
              <a:t>Starvation </a:t>
            </a:r>
            <a:r>
              <a:rPr b="0" lang="en-IN" sz="1900" spc="-1" strike="noStrike">
                <a:solidFill>
                  <a:srgbClr val="000000"/>
                </a:solidFill>
                <a:latin typeface="Arial"/>
                <a:ea typeface="Arial"/>
              </a:rPr>
              <a:t>– low priority processes may never execute</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Solution º </a:t>
            </a:r>
            <a:r>
              <a:rPr b="1" lang="en-IN" sz="1900" spc="-1" strike="noStrike">
                <a:solidFill>
                  <a:srgbClr val="3eada7"/>
                </a:solidFill>
                <a:latin typeface="Arial"/>
                <a:ea typeface="Arial"/>
              </a:rPr>
              <a:t>Aging </a:t>
            </a:r>
            <a:r>
              <a:rPr b="0" lang="en-IN" sz="1900" spc="-1" strike="noStrike">
                <a:solidFill>
                  <a:srgbClr val="000000"/>
                </a:solidFill>
                <a:latin typeface="Arial"/>
                <a:ea typeface="Arial"/>
              </a:rPr>
              <a:t>– as time progresses increase the priority of the process</a:t>
            </a:r>
            <a:endParaRPr b="0" lang="en-IN" sz="1900" spc="-1" strike="noStrike">
              <a:solidFill>
                <a:srgbClr val="000000"/>
              </a:solidFill>
              <a:latin typeface="Arial"/>
            </a:endParaRPr>
          </a:p>
          <a:p>
            <a:pPr marL="457200" indent="-348840">
              <a:lnSpc>
                <a:spcPct val="150000"/>
              </a:lnSpc>
              <a:buClr>
                <a:srgbClr val="000000"/>
              </a:buClr>
              <a:buFont typeface="Arial"/>
              <a:buChar char="●"/>
            </a:pPr>
            <a:r>
              <a:rPr b="0" lang="en-IN" sz="1900" spc="-1" strike="noStrike">
                <a:solidFill>
                  <a:srgbClr val="000000"/>
                </a:solidFill>
                <a:latin typeface="Arial"/>
                <a:ea typeface="Arial"/>
              </a:rPr>
              <a:t>Note: SJF is priority scheduling where priority is the inverse of predicted next CPU burst time</a:t>
            </a:r>
            <a:endParaRPr b="0" lang="en-IN" sz="1900" spc="-1" strike="noStrike">
              <a:solidFill>
                <a:srgbClr val="000000"/>
              </a:solidFill>
              <a:latin typeface="Arial"/>
            </a:endParaRPr>
          </a:p>
          <a:p>
            <a:pPr>
              <a:lnSpc>
                <a:spcPct val="150000"/>
              </a:lnSpc>
              <a:spcBef>
                <a:spcPts val="799"/>
              </a:spcBef>
            </a:pPr>
            <a:endParaRPr b="0" lang="en-IN" sz="1900" spc="-1" strike="noStrike">
              <a:solidFill>
                <a:srgbClr val="000000"/>
              </a:solidFill>
              <a:latin typeface="Arial"/>
            </a:endParaRPr>
          </a:p>
        </p:txBody>
      </p:sp>
    </p:spTree>
  </p:cSld>
  <p:timing>
    <p:tnLst>
      <p:par>
        <p:cTn id="55" dur="indefinite" restart="never" nodeType="tmRoot">
          <p:childTnLst>
            <p:seq>
              <p:cTn id="56" dur="indefinite" nodeType="mainSeq"/>
              <p:prevCondLst>
                <p:cond delay="0" evt="onPrev">
                  <p:tgtEl>
                    <p:sldTgt/>
                  </p:tgtEl>
                </p:cond>
              </p:prevCondLst>
              <p:nextCondLst>
                <p:cond delay="0"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Example of Priority Scheduling</a:t>
            </a:r>
            <a:endParaRPr b="0" lang="en-IN" sz="3200" spc="-1" strike="noStrike">
              <a:solidFill>
                <a:srgbClr val="000000"/>
              </a:solidFill>
              <a:latin typeface="Arial"/>
            </a:endParaRPr>
          </a:p>
        </p:txBody>
      </p:sp>
      <p:sp>
        <p:nvSpPr>
          <p:cNvPr id="127" name="TextShape 2"/>
          <p:cNvSpPr txBox="1"/>
          <p:nvPr/>
        </p:nvSpPr>
        <p:spPr>
          <a:xfrm>
            <a:off x="845280" y="1381320"/>
            <a:ext cx="10515240" cy="4798800"/>
          </a:xfrm>
          <a:prstGeom prst="rect">
            <a:avLst/>
          </a:prstGeom>
          <a:noFill/>
          <a:ln>
            <a:noFill/>
          </a:ln>
        </p:spPr>
        <p:txBody>
          <a:bodyPr/>
          <a:p>
            <a:pPr marL="343080">
              <a:lnSpc>
                <a:spcPct val="115000"/>
              </a:lnSpc>
              <a:spcBef>
                <a:spcPts val="799"/>
              </a:spcBef>
            </a:pPr>
            <a:r>
              <a:rPr b="0" lang="en-IN" sz="1700" spc="-1" strike="noStrike">
                <a:solidFill>
                  <a:srgbClr val="000000"/>
                </a:solidFill>
                <a:latin typeface="Arial"/>
                <a:ea typeface="Arial"/>
              </a:rPr>
              <a:t>       </a:t>
            </a:r>
            <a:r>
              <a:rPr b="0" lang="en-IN" sz="1700" spc="-1" strike="noStrike">
                <a:solidFill>
                  <a:srgbClr val="000000"/>
                </a:solidFill>
                <a:latin typeface="Arial"/>
                <a:ea typeface="Arial"/>
              </a:rPr>
              <a:t>	</a:t>
            </a:r>
            <a:r>
              <a:rPr b="0" lang="en-IN" sz="1700" spc="-1" strike="noStrike" u="sng">
                <a:solidFill>
                  <a:srgbClr val="000000"/>
                </a:solidFill>
                <a:uFillTx/>
                <a:latin typeface="Arial"/>
                <a:ea typeface="Arial"/>
              </a:rPr>
              <a:t>Process</a:t>
            </a:r>
            <a:r>
              <a:rPr b="0" lang="en-IN" sz="1700" spc="-1" strike="noStrike" u="sng">
                <a:solidFill>
                  <a:srgbClr val="ffffff"/>
                </a:solidFill>
                <a:uFillTx/>
                <a:latin typeface="Arial"/>
                <a:ea typeface="Arial"/>
              </a:rPr>
              <a:t>A  arri </a:t>
            </a:r>
            <a:r>
              <a:rPr b="0" lang="en-IN" sz="1700" spc="-1" strike="noStrike" u="sng">
                <a:solidFill>
                  <a:srgbClr val="000000"/>
                </a:solidFill>
                <a:uFillTx/>
                <a:latin typeface="Arial"/>
                <a:ea typeface="Arial"/>
              </a:rPr>
              <a:t>Burst Time</a:t>
            </a:r>
            <a:r>
              <a:rPr b="0" lang="en-IN" sz="1700" spc="-1" strike="noStrike" u="sng">
                <a:solidFill>
                  <a:srgbClr val="ffffff"/>
                </a:solidFill>
                <a:uFillTx/>
                <a:latin typeface="Arial"/>
                <a:ea typeface="Arial"/>
              </a:rPr>
              <a:t>T</a:t>
            </a:r>
            <a:r>
              <a:rPr b="0" lang="en-IN" sz="1700" spc="-1" strike="noStrike">
                <a:solidFill>
                  <a:srgbClr val="000000"/>
                </a:solidFill>
                <a:latin typeface="Arial"/>
                <a:ea typeface="Arial"/>
              </a:rPr>
              <a:t>  </a:t>
            </a:r>
            <a:r>
              <a:rPr b="0" lang="en-IN" sz="1700" spc="-1" strike="noStrike" u="sng">
                <a:solidFill>
                  <a:srgbClr val="000000"/>
                </a:solidFill>
                <a:uFillTx/>
                <a:latin typeface="Arial"/>
                <a:ea typeface="Arial"/>
              </a:rPr>
              <a:t>Priority</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1</a:t>
            </a:r>
            <a:r>
              <a:rPr b="0" lang="en-IN" sz="1700" spc="-1" strike="noStrike">
                <a:solidFill>
                  <a:srgbClr val="000000"/>
                </a:solidFill>
                <a:latin typeface="Arial"/>
                <a:ea typeface="Arial"/>
              </a:rPr>
              <a:t>                10                    3</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2                     </a:t>
            </a:r>
            <a:r>
              <a:rPr b="0" lang="en-IN" sz="1700" spc="-1" strike="noStrike">
                <a:solidFill>
                  <a:srgbClr val="000000"/>
                </a:solidFill>
                <a:latin typeface="Arial"/>
                <a:ea typeface="Arial"/>
              </a:rPr>
              <a:t>1                    1</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3</a:t>
            </a:r>
            <a:r>
              <a:rPr b="0" lang="en-IN" sz="1700" spc="-1" strike="noStrike">
                <a:solidFill>
                  <a:srgbClr val="000000"/>
                </a:solidFill>
                <a:latin typeface="Arial"/>
                <a:ea typeface="Arial"/>
              </a:rPr>
              <a:t>                  2                    4</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4</a:t>
            </a:r>
            <a:r>
              <a:rPr b="0" lang="en-IN" sz="1700" spc="-1" strike="noStrike">
                <a:solidFill>
                  <a:srgbClr val="000000"/>
                </a:solidFill>
                <a:latin typeface="Arial"/>
                <a:ea typeface="Arial"/>
              </a:rPr>
              <a:t>                  1                    5</a:t>
            </a:r>
            <a:endParaRPr b="0" lang="en-IN" sz="1700" spc="-1" strike="noStrike">
              <a:solidFill>
                <a:srgbClr val="000000"/>
              </a:solidFill>
              <a:latin typeface="Arial"/>
            </a:endParaRPr>
          </a:p>
          <a:p>
            <a:pPr marL="343080">
              <a:lnSpc>
                <a:spcPct val="115000"/>
              </a:lnSpc>
              <a:spcBef>
                <a:spcPts val="799"/>
              </a:spcBef>
            </a:pPr>
            <a:r>
              <a:rPr b="0" lang="en-IN" sz="1700" spc="-1" strike="noStrike">
                <a:solidFill>
                  <a:srgbClr val="000000"/>
                </a:solidFill>
                <a:latin typeface="Arial"/>
                <a:ea typeface="Arial"/>
              </a:rPr>
              <a:t>              </a:t>
            </a:r>
            <a:r>
              <a:rPr b="0" i="1" lang="en-IN" sz="1700" spc="-1" strike="noStrike">
                <a:solidFill>
                  <a:srgbClr val="000000"/>
                </a:solidFill>
                <a:latin typeface="Arial"/>
                <a:ea typeface="Arial"/>
              </a:rPr>
              <a:t>P</a:t>
            </a:r>
            <a:r>
              <a:rPr b="0" i="1" lang="en-IN" sz="2400" spc="-1" strike="noStrike" baseline="-25000">
                <a:solidFill>
                  <a:srgbClr val="000000"/>
                </a:solidFill>
                <a:latin typeface="Arial"/>
                <a:ea typeface="Arial"/>
              </a:rPr>
              <a:t>5                       </a:t>
            </a:r>
            <a:r>
              <a:rPr b="0" lang="en-IN" sz="1700" spc="-1" strike="noStrike">
                <a:solidFill>
                  <a:srgbClr val="000000"/>
                </a:solidFill>
                <a:latin typeface="Arial"/>
                <a:ea typeface="Arial"/>
              </a:rPr>
              <a:t>5                    2</a:t>
            </a:r>
            <a:endParaRPr b="0" lang="en-IN" sz="1700" spc="-1" strike="noStrike">
              <a:solidFill>
                <a:srgbClr val="000000"/>
              </a:solidFill>
              <a:latin typeface="Arial"/>
            </a:endParaRPr>
          </a:p>
          <a:p>
            <a:pPr marL="457200" indent="-336240">
              <a:lnSpc>
                <a:spcPct val="115000"/>
              </a:lnSpc>
              <a:spcBef>
                <a:spcPts val="799"/>
              </a:spcBef>
              <a:buClr>
                <a:srgbClr val="000000"/>
              </a:buClr>
              <a:buFont typeface="Arial"/>
              <a:buChar char="●"/>
            </a:pPr>
            <a:r>
              <a:rPr b="0" lang="en-IN" sz="1700" spc="-1" strike="noStrike">
                <a:solidFill>
                  <a:srgbClr val="000000"/>
                </a:solidFill>
                <a:latin typeface="Arial"/>
                <a:ea typeface="Arial"/>
              </a:rPr>
              <a:t>Priority scheduling Gantt Chart</a:t>
            </a: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a:lnSpc>
                <a:spcPct val="115000"/>
              </a:lnSpc>
              <a:spcBef>
                <a:spcPts val="799"/>
              </a:spcBef>
            </a:pPr>
            <a:endParaRPr b="0" lang="en-IN" sz="1700" spc="-1" strike="noStrike">
              <a:solidFill>
                <a:srgbClr val="000000"/>
              </a:solidFill>
              <a:latin typeface="Arial"/>
            </a:endParaRPr>
          </a:p>
          <a:p>
            <a:pPr marL="457200" indent="-336240">
              <a:lnSpc>
                <a:spcPct val="115000"/>
              </a:lnSpc>
              <a:spcBef>
                <a:spcPts val="799"/>
              </a:spcBef>
              <a:buClr>
                <a:srgbClr val="000000"/>
              </a:buClr>
              <a:buFont typeface="Arial"/>
              <a:buChar char="●"/>
            </a:pPr>
            <a:r>
              <a:rPr b="0" lang="en-IN" sz="1700" spc="-1" strike="noStrike">
                <a:solidFill>
                  <a:srgbClr val="000000"/>
                </a:solidFill>
                <a:latin typeface="Arial"/>
                <a:ea typeface="Arial"/>
              </a:rPr>
              <a:t>Average waiting time = 8.2</a:t>
            </a:r>
            <a:endParaRPr b="0" lang="en-IN" sz="1700" spc="-1" strike="noStrike">
              <a:solidFill>
                <a:srgbClr val="000000"/>
              </a:solidFill>
              <a:latin typeface="Arial"/>
            </a:endParaRPr>
          </a:p>
          <a:p>
            <a:pPr>
              <a:lnSpc>
                <a:spcPct val="90000"/>
              </a:lnSpc>
              <a:spcBef>
                <a:spcPts val="1001"/>
              </a:spcBef>
            </a:pPr>
            <a:endParaRPr b="0" lang="en-IN" sz="1700" spc="-1" strike="noStrike">
              <a:solidFill>
                <a:srgbClr val="000000"/>
              </a:solidFill>
              <a:latin typeface="Arial"/>
            </a:endParaRPr>
          </a:p>
        </p:txBody>
      </p:sp>
      <p:pic>
        <p:nvPicPr>
          <p:cNvPr id="128" name="Google Shape;273;p35" descr=""/>
          <p:cNvPicPr/>
          <p:nvPr/>
        </p:nvPicPr>
        <p:blipFill>
          <a:blip r:embed="rId1"/>
          <a:stretch/>
        </p:blipFill>
        <p:spPr>
          <a:xfrm>
            <a:off x="2502360" y="4946400"/>
            <a:ext cx="6512760" cy="754560"/>
          </a:xfrm>
          <a:prstGeom prst="rect">
            <a:avLst/>
          </a:prstGeom>
          <a:ln>
            <a:noFill/>
          </a:ln>
        </p:spPr>
      </p:pic>
    </p:spTree>
  </p:cSld>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Priority Scheduling w/ Round-Robin</a:t>
            </a:r>
            <a:endParaRPr b="0" lang="en-IN" sz="3200" spc="-1" strike="noStrike">
              <a:solidFill>
                <a:srgbClr val="000000"/>
              </a:solidFill>
              <a:latin typeface="Arial"/>
            </a:endParaRPr>
          </a:p>
        </p:txBody>
      </p:sp>
      <p:sp>
        <p:nvSpPr>
          <p:cNvPr id="130" name="TextShape 2"/>
          <p:cNvSpPr txBox="1"/>
          <p:nvPr/>
        </p:nvSpPr>
        <p:spPr>
          <a:xfrm>
            <a:off x="845280" y="1381320"/>
            <a:ext cx="10515240" cy="4798800"/>
          </a:xfrm>
          <a:prstGeom prst="rect">
            <a:avLst/>
          </a:prstGeom>
          <a:noFill/>
          <a:ln>
            <a:noFill/>
          </a:ln>
        </p:spPr>
        <p:txBody>
          <a:bodyPr/>
          <a:p>
            <a:pPr marL="457200" indent="-334080">
              <a:lnSpc>
                <a:spcPct val="130000"/>
              </a:lnSpc>
              <a:spcBef>
                <a:spcPts val="799"/>
              </a:spcBef>
              <a:buClr>
                <a:srgbClr val="000000"/>
              </a:buClr>
              <a:buFont typeface="Arial"/>
              <a:buChar char="●"/>
            </a:pPr>
            <a:r>
              <a:rPr b="0" lang="en-IN" sz="1670" spc="-1" strike="noStrike">
                <a:solidFill>
                  <a:srgbClr val="000000"/>
                </a:solidFill>
                <a:latin typeface="Arial"/>
                <a:ea typeface="Arial"/>
              </a:rPr>
              <a:t>Run the process with the highest priority. Processes with the same priority run round-robin</a:t>
            </a:r>
            <a:endParaRPr b="0" lang="en-IN" sz="1670" spc="-1" strike="noStrike">
              <a:solidFill>
                <a:srgbClr val="000000"/>
              </a:solidFill>
              <a:latin typeface="Arial"/>
            </a:endParaRPr>
          </a:p>
          <a:p>
            <a:pPr marL="457200" indent="-334080">
              <a:lnSpc>
                <a:spcPct val="130000"/>
              </a:lnSpc>
              <a:buClr>
                <a:srgbClr val="000000"/>
              </a:buClr>
              <a:buFont typeface="Arial"/>
              <a:buChar char="●"/>
            </a:pPr>
            <a:r>
              <a:rPr b="0" lang="en-IN" sz="1670" spc="-1" strike="noStrike">
                <a:solidFill>
                  <a:srgbClr val="000000"/>
                </a:solidFill>
                <a:latin typeface="Arial"/>
                <a:ea typeface="Arial"/>
              </a:rPr>
              <a:t>Example:</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lang="en-IN" sz="1670" spc="-1" strike="noStrike">
                <a:solidFill>
                  <a:srgbClr val="000000"/>
                </a:solidFill>
                <a:latin typeface="Arial"/>
                <a:ea typeface="Arial"/>
              </a:rPr>
              <a:t>	</a:t>
            </a:r>
            <a:r>
              <a:rPr b="0" lang="en-IN" sz="1670" spc="-1" strike="noStrike" u="sng">
                <a:solidFill>
                  <a:srgbClr val="000000"/>
                </a:solidFill>
                <a:uFillTx/>
                <a:latin typeface="Arial"/>
                <a:ea typeface="Arial"/>
              </a:rPr>
              <a:t>Process</a:t>
            </a:r>
            <a:r>
              <a:rPr b="0" lang="en-IN" sz="1670" spc="-1" strike="noStrike" u="sng">
                <a:solidFill>
                  <a:srgbClr val="ffffff"/>
                </a:solidFill>
                <a:uFillTx/>
                <a:latin typeface="Arial"/>
                <a:ea typeface="Arial"/>
              </a:rPr>
              <a:t>  a   </a:t>
            </a:r>
            <a:r>
              <a:rPr b="0" lang="en-IN" sz="1670" spc="-1" strike="noStrike" u="sng">
                <a:solidFill>
                  <a:srgbClr val="000000"/>
                </a:solidFill>
                <a:uFillTx/>
                <a:latin typeface="Arial"/>
                <a:ea typeface="Arial"/>
              </a:rPr>
              <a:t>Burst Time</a:t>
            </a:r>
            <a:r>
              <a:rPr b="0" lang="en-IN" sz="1670" spc="-1" strike="noStrike">
                <a:solidFill>
                  <a:srgbClr val="000000"/>
                </a:solidFill>
                <a:latin typeface="Arial"/>
                <a:ea typeface="Arial"/>
              </a:rPr>
              <a:t>  </a:t>
            </a:r>
            <a:r>
              <a:rPr b="0" lang="en-IN" sz="1670" spc="-1" strike="noStrike" u="sng">
                <a:solidFill>
                  <a:srgbClr val="000000"/>
                </a:solidFill>
                <a:uFillTx/>
                <a:latin typeface="Arial"/>
                <a:ea typeface="Arial"/>
              </a:rPr>
              <a:t>Priority</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i="1" lang="en-IN" sz="1670" spc="-1" strike="noStrike">
                <a:solidFill>
                  <a:srgbClr val="000000"/>
                </a:solidFill>
                <a:latin typeface="Arial"/>
                <a:ea typeface="Arial"/>
              </a:rPr>
              <a:t>P</a:t>
            </a:r>
            <a:r>
              <a:rPr b="0" i="1" lang="en-IN" sz="2158" spc="-1" strike="noStrike" baseline="-25000">
                <a:solidFill>
                  <a:srgbClr val="000000"/>
                </a:solidFill>
                <a:latin typeface="Arial"/>
                <a:ea typeface="Arial"/>
              </a:rPr>
              <a:t>1</a:t>
            </a:r>
            <a:r>
              <a:rPr b="0" lang="en-IN" sz="1670" spc="-1" strike="noStrike">
                <a:solidFill>
                  <a:srgbClr val="000000"/>
                </a:solidFill>
                <a:latin typeface="Arial"/>
                <a:ea typeface="Arial"/>
              </a:rPr>
              <a:t>              4                3</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i="1" lang="en-IN" sz="1670" spc="-1" strike="noStrike">
                <a:solidFill>
                  <a:srgbClr val="000000"/>
                </a:solidFill>
                <a:latin typeface="Arial"/>
                <a:ea typeface="Arial"/>
              </a:rPr>
              <a:t>P</a:t>
            </a:r>
            <a:r>
              <a:rPr b="0" i="1" lang="en-IN" sz="2158" spc="-1" strike="noStrike" baseline="-25000">
                <a:solidFill>
                  <a:srgbClr val="000000"/>
                </a:solidFill>
                <a:latin typeface="Arial"/>
                <a:ea typeface="Arial"/>
              </a:rPr>
              <a:t>2                  </a:t>
            </a:r>
            <a:r>
              <a:rPr b="0" lang="en-IN" sz="1670" spc="-1" strike="noStrike">
                <a:solidFill>
                  <a:srgbClr val="000000"/>
                </a:solidFill>
                <a:latin typeface="Arial"/>
                <a:ea typeface="Arial"/>
              </a:rPr>
              <a:t>5                2</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i="1" lang="en-IN" sz="1670" spc="-1" strike="noStrike">
                <a:solidFill>
                  <a:srgbClr val="000000"/>
                </a:solidFill>
                <a:latin typeface="Arial"/>
                <a:ea typeface="Arial"/>
              </a:rPr>
              <a:t>P</a:t>
            </a:r>
            <a:r>
              <a:rPr b="0" i="1" lang="en-IN" sz="2158" spc="-1" strike="noStrike" baseline="-25000">
                <a:solidFill>
                  <a:srgbClr val="000000"/>
                </a:solidFill>
                <a:latin typeface="Arial"/>
                <a:ea typeface="Arial"/>
              </a:rPr>
              <a:t>3</a:t>
            </a:r>
            <a:r>
              <a:rPr b="0" lang="en-IN" sz="1670" spc="-1" strike="noStrike">
                <a:solidFill>
                  <a:srgbClr val="000000"/>
                </a:solidFill>
                <a:latin typeface="Arial"/>
                <a:ea typeface="Arial"/>
              </a:rPr>
              <a:t>              8                 2</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i="1" lang="en-IN" sz="1670" spc="-1" strike="noStrike">
                <a:solidFill>
                  <a:srgbClr val="000000"/>
                </a:solidFill>
                <a:latin typeface="Arial"/>
                <a:ea typeface="Arial"/>
              </a:rPr>
              <a:t>P</a:t>
            </a:r>
            <a:r>
              <a:rPr b="0" i="1" lang="en-IN" sz="2158" spc="-1" strike="noStrike" baseline="-25000">
                <a:solidFill>
                  <a:srgbClr val="000000"/>
                </a:solidFill>
                <a:latin typeface="Arial"/>
                <a:ea typeface="Arial"/>
              </a:rPr>
              <a:t>4</a:t>
            </a:r>
            <a:r>
              <a:rPr b="0" lang="en-IN" sz="1670" spc="-1" strike="noStrike">
                <a:solidFill>
                  <a:srgbClr val="000000"/>
                </a:solidFill>
                <a:latin typeface="Arial"/>
                <a:ea typeface="Arial"/>
              </a:rPr>
              <a:t>               7                 1</a:t>
            </a:r>
            <a:endParaRPr b="0" lang="en-IN" sz="1670" spc="-1" strike="noStrike">
              <a:solidFill>
                <a:srgbClr val="000000"/>
              </a:solidFill>
              <a:latin typeface="Arial"/>
            </a:endParaRPr>
          </a:p>
          <a:p>
            <a:pPr marL="343080">
              <a:lnSpc>
                <a:spcPct val="130000"/>
              </a:lnSpc>
              <a:spcBef>
                <a:spcPts val="799"/>
              </a:spcBef>
            </a:pPr>
            <a:r>
              <a:rPr b="0" lang="en-IN" sz="1670" spc="-1" strike="noStrike">
                <a:solidFill>
                  <a:srgbClr val="000000"/>
                </a:solidFill>
                <a:latin typeface="Arial"/>
                <a:ea typeface="Arial"/>
              </a:rPr>
              <a:t>                       </a:t>
            </a:r>
            <a:r>
              <a:rPr b="0" i="1" lang="en-IN" sz="1670" spc="-1" strike="noStrike">
                <a:solidFill>
                  <a:srgbClr val="000000"/>
                </a:solidFill>
                <a:latin typeface="Arial"/>
                <a:ea typeface="Arial"/>
              </a:rPr>
              <a:t>P</a:t>
            </a:r>
            <a:r>
              <a:rPr b="0" i="1" lang="en-IN" sz="2158" spc="-1" strike="noStrike" baseline="-25000">
                <a:solidFill>
                  <a:srgbClr val="000000"/>
                </a:solidFill>
                <a:latin typeface="Arial"/>
                <a:ea typeface="Arial"/>
              </a:rPr>
              <a:t>5                    </a:t>
            </a:r>
            <a:r>
              <a:rPr b="0" lang="en-IN" sz="1670" spc="-1" strike="noStrike">
                <a:solidFill>
                  <a:srgbClr val="000000"/>
                </a:solidFill>
                <a:latin typeface="Arial"/>
                <a:ea typeface="Arial"/>
              </a:rPr>
              <a:t>3                 3</a:t>
            </a:r>
            <a:endParaRPr b="0" lang="en-IN" sz="1670" spc="-1" strike="noStrike">
              <a:solidFill>
                <a:srgbClr val="000000"/>
              </a:solidFill>
              <a:latin typeface="Arial"/>
            </a:endParaRPr>
          </a:p>
          <a:p>
            <a:pPr marL="457200" indent="-334080">
              <a:lnSpc>
                <a:spcPct val="130000"/>
              </a:lnSpc>
              <a:spcBef>
                <a:spcPts val="799"/>
              </a:spcBef>
              <a:buClr>
                <a:srgbClr val="000000"/>
              </a:buClr>
              <a:buFont typeface="Arial"/>
              <a:buChar char="●"/>
            </a:pPr>
            <a:r>
              <a:rPr b="0" lang="en-IN" sz="1670" spc="-1" strike="noStrike">
                <a:solidFill>
                  <a:srgbClr val="000000"/>
                </a:solidFill>
                <a:latin typeface="Arial"/>
                <a:ea typeface="Arial"/>
              </a:rPr>
              <a:t>Gantt Chart with time quantum = 2</a:t>
            </a:r>
            <a:endParaRPr b="0" lang="en-IN" sz="1670" spc="-1" strike="noStrike">
              <a:solidFill>
                <a:srgbClr val="000000"/>
              </a:solidFill>
              <a:latin typeface="Arial"/>
            </a:endParaRPr>
          </a:p>
          <a:p>
            <a:pPr>
              <a:lnSpc>
                <a:spcPct val="130000"/>
              </a:lnSpc>
              <a:spcBef>
                <a:spcPts val="799"/>
              </a:spcBef>
            </a:pPr>
            <a:endParaRPr b="0" lang="en-IN" sz="1670" spc="-1" strike="noStrike">
              <a:solidFill>
                <a:srgbClr val="000000"/>
              </a:solidFill>
              <a:latin typeface="Arial"/>
            </a:endParaRPr>
          </a:p>
          <a:p>
            <a:pPr>
              <a:lnSpc>
                <a:spcPct val="130000"/>
              </a:lnSpc>
              <a:spcBef>
                <a:spcPts val="799"/>
              </a:spcBef>
            </a:pPr>
            <a:endParaRPr b="0" lang="en-IN" sz="1670" spc="-1" strike="noStrike">
              <a:solidFill>
                <a:srgbClr val="000000"/>
              </a:solidFill>
              <a:latin typeface="Arial"/>
            </a:endParaRPr>
          </a:p>
          <a:p>
            <a:pPr>
              <a:lnSpc>
                <a:spcPct val="130000"/>
              </a:lnSpc>
              <a:spcBef>
                <a:spcPts val="1001"/>
              </a:spcBef>
            </a:pPr>
            <a:endParaRPr b="0" lang="en-IN" sz="1670" spc="-1" strike="noStrike">
              <a:solidFill>
                <a:srgbClr val="000000"/>
              </a:solidFill>
              <a:latin typeface="Arial"/>
            </a:endParaRPr>
          </a:p>
        </p:txBody>
      </p:sp>
      <p:pic>
        <p:nvPicPr>
          <p:cNvPr id="131" name="Google Shape;280;p36" descr=""/>
          <p:cNvPicPr/>
          <p:nvPr/>
        </p:nvPicPr>
        <p:blipFill>
          <a:blip r:embed="rId1"/>
          <a:stretch/>
        </p:blipFill>
        <p:spPr>
          <a:xfrm>
            <a:off x="3052800" y="5679360"/>
            <a:ext cx="5937120" cy="694440"/>
          </a:xfrm>
          <a:prstGeom prst="rect">
            <a:avLst/>
          </a:prstGeom>
          <a:ln>
            <a:noFill/>
          </a:ln>
        </p:spPr>
      </p:pic>
    </p:spTree>
  </p:cSld>
  <p:timing>
    <p:tnLst>
      <p:par>
        <p:cTn id="63" dur="indefinite" restart="never" nodeType="tmRoot">
          <p:childTnLst>
            <p:seq>
              <p:cTn id="64" dur="indefinite" nodeType="mainSeq">
                <p:childTnLst>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Multilevel Queue</a:t>
            </a:r>
            <a:endParaRPr b="0" lang="en-IN" sz="3200" spc="-1" strike="noStrike">
              <a:solidFill>
                <a:srgbClr val="000000"/>
              </a:solidFill>
              <a:latin typeface="Arial"/>
            </a:endParaRPr>
          </a:p>
        </p:txBody>
      </p:sp>
      <p:sp>
        <p:nvSpPr>
          <p:cNvPr id="133" name="TextShape 2"/>
          <p:cNvSpPr txBox="1"/>
          <p:nvPr/>
        </p:nvSpPr>
        <p:spPr>
          <a:xfrm>
            <a:off x="845280" y="1381320"/>
            <a:ext cx="10515240" cy="4798800"/>
          </a:xfrm>
          <a:prstGeom prst="rect">
            <a:avLst/>
          </a:prstGeom>
          <a:noFill/>
          <a:ln>
            <a:noFill/>
          </a:ln>
        </p:spPr>
        <p:txBody>
          <a:bodyPr>
            <a:normAutofit/>
          </a:bodyPr>
          <a:p>
            <a:pPr marL="457200" indent="-348840">
              <a:lnSpc>
                <a:spcPct val="150000"/>
              </a:lnSpc>
              <a:spcBef>
                <a:spcPts val="799"/>
              </a:spcBef>
              <a:buClr>
                <a:srgbClr val="000000"/>
              </a:buClr>
              <a:buFont typeface="Arial"/>
              <a:buChar char="●"/>
            </a:pPr>
            <a:r>
              <a:rPr b="0" lang="en-IN" sz="1900" spc="-1" strike="noStrike">
                <a:solidFill>
                  <a:srgbClr val="000000"/>
                </a:solidFill>
                <a:latin typeface="Arial"/>
                <a:ea typeface="Arial"/>
              </a:rPr>
              <a:t>The ready queue consists of multiple queues</a:t>
            </a:r>
            <a:endParaRPr b="0" lang="en-IN" sz="1900" spc="-1" strike="noStrike">
              <a:solidFill>
                <a:srgbClr val="000000"/>
              </a:solidFill>
              <a:latin typeface="Arial"/>
            </a:endParaRPr>
          </a:p>
          <a:p>
            <a:pPr marL="12600">
              <a:lnSpc>
                <a:spcPct val="115000"/>
              </a:lnSpc>
              <a:spcBef>
                <a:spcPts val="799"/>
              </a:spcBef>
            </a:pPr>
            <a:r>
              <a:rPr b="0" lang="en-IN" sz="2000" spc="-1" strike="noStrike">
                <a:solidFill>
                  <a:srgbClr val="3eada7"/>
                </a:solidFill>
                <a:latin typeface="Arial"/>
                <a:ea typeface="Arial"/>
              </a:rPr>
              <a:t>•</a:t>
            </a:r>
            <a:r>
              <a:rPr b="0" lang="en-IN" sz="1900" spc="-1" strike="noStrike">
                <a:solidFill>
                  <a:srgbClr val="000000"/>
                </a:solidFill>
                <a:latin typeface="Arial"/>
                <a:ea typeface="Arial"/>
              </a:rPr>
              <a:t>Priority scheduling, where each priority has its separate queue.</a:t>
            </a:r>
            <a:endParaRPr b="0" lang="en-IN" sz="1900" spc="-1" strike="noStrike">
              <a:solidFill>
                <a:srgbClr val="000000"/>
              </a:solidFill>
              <a:latin typeface="Arial"/>
            </a:endParaRPr>
          </a:p>
          <a:p>
            <a:pPr marL="12600">
              <a:lnSpc>
                <a:spcPct val="115000"/>
              </a:lnSpc>
              <a:spcBef>
                <a:spcPts val="799"/>
              </a:spcBef>
            </a:pPr>
            <a:r>
              <a:rPr b="0" lang="en-IN" sz="2000" spc="-1" strike="noStrike">
                <a:solidFill>
                  <a:srgbClr val="3eada7"/>
                </a:solidFill>
                <a:latin typeface="Arial"/>
                <a:ea typeface="Arial"/>
              </a:rPr>
              <a:t>•</a:t>
            </a:r>
            <a:r>
              <a:rPr b="0" lang="en-IN" sz="1900" spc="-1" strike="noStrike">
                <a:solidFill>
                  <a:srgbClr val="000000"/>
                </a:solidFill>
                <a:latin typeface="Arial"/>
                <a:ea typeface="Arial"/>
              </a:rPr>
              <a:t>Schedule the process in the highest-priority queue!</a:t>
            </a:r>
            <a:endParaRPr b="0" lang="en-IN" sz="1900" spc="-1" strike="noStrike">
              <a:solidFill>
                <a:srgbClr val="000000"/>
              </a:solidFill>
              <a:latin typeface="Arial"/>
            </a:endParaRPr>
          </a:p>
          <a:p>
            <a:pPr>
              <a:lnSpc>
                <a:spcPct val="90000"/>
              </a:lnSpc>
              <a:spcBef>
                <a:spcPts val="1001"/>
              </a:spcBef>
            </a:pPr>
            <a:endParaRPr b="0" lang="en-IN" sz="1900" spc="-1" strike="noStrike">
              <a:solidFill>
                <a:srgbClr val="000000"/>
              </a:solidFill>
              <a:latin typeface="Arial"/>
            </a:endParaRPr>
          </a:p>
        </p:txBody>
      </p:sp>
      <p:pic>
        <p:nvPicPr>
          <p:cNvPr id="134" name="Google Shape;287;p37" descr=""/>
          <p:cNvPicPr/>
          <p:nvPr/>
        </p:nvPicPr>
        <p:blipFill>
          <a:blip r:embed="rId1"/>
          <a:stretch/>
        </p:blipFill>
        <p:spPr>
          <a:xfrm>
            <a:off x="6745680" y="2831040"/>
            <a:ext cx="3153960" cy="3486240"/>
          </a:xfrm>
          <a:prstGeom prst="rect">
            <a:avLst/>
          </a:prstGeom>
          <a:ln>
            <a:noFill/>
          </a:ln>
        </p:spPr>
      </p:pic>
    </p:spTree>
  </p:cSld>
  <p:timing>
    <p:tnLst>
      <p:par>
        <p:cTn id="69" dur="indefinite" restart="never" nodeType="tmRoot">
          <p:childTnLst>
            <p:seq>
              <p:cTn id="70" dur="indefinite" nodeType="mainSeq">
                <p:childTnLst>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Multilevel Queue</a:t>
            </a:r>
            <a:endParaRPr b="0" lang="en-IN" sz="3200" spc="-1" strike="noStrike">
              <a:solidFill>
                <a:srgbClr val="000000"/>
              </a:solidFill>
              <a:latin typeface="Arial"/>
            </a:endParaRPr>
          </a:p>
        </p:txBody>
      </p:sp>
      <p:sp>
        <p:nvSpPr>
          <p:cNvPr id="136" name="TextShape 2"/>
          <p:cNvSpPr txBox="1"/>
          <p:nvPr/>
        </p:nvSpPr>
        <p:spPr>
          <a:xfrm>
            <a:off x="845280" y="1381320"/>
            <a:ext cx="10515240" cy="4798800"/>
          </a:xfrm>
          <a:prstGeom prst="rect">
            <a:avLst/>
          </a:prstGeom>
          <a:noFill/>
          <a:ln>
            <a:noFill/>
          </a:ln>
        </p:spPr>
        <p:txBody>
          <a:bodyPr>
            <a:normAutofit/>
          </a:bodyPr>
          <a:p>
            <a:pPr marL="457200" indent="-342720">
              <a:lnSpc>
                <a:spcPct val="115000"/>
              </a:lnSpc>
              <a:spcBef>
                <a:spcPts val="799"/>
              </a:spcBef>
              <a:buClr>
                <a:srgbClr val="000000"/>
              </a:buClr>
              <a:buFont typeface="Arial"/>
              <a:buChar char="●"/>
            </a:pPr>
            <a:r>
              <a:rPr b="0" lang="en-IN" sz="1800" spc="-1" strike="noStrike">
                <a:solidFill>
                  <a:srgbClr val="000000"/>
                </a:solidFill>
                <a:latin typeface="Arial"/>
                <a:ea typeface="Arial"/>
              </a:rPr>
              <a:t>Prioritization based upon process type</a:t>
            </a:r>
            <a:endParaRPr b="0" lang="en-IN" sz="1800" spc="-1" strike="noStrike">
              <a:solidFill>
                <a:srgbClr val="000000"/>
              </a:solidFill>
              <a:latin typeface="Arial"/>
            </a:endParaRPr>
          </a:p>
          <a:p>
            <a:pPr>
              <a:lnSpc>
                <a:spcPct val="90000"/>
              </a:lnSpc>
              <a:spcBef>
                <a:spcPts val="1001"/>
              </a:spcBef>
            </a:pPr>
            <a:endParaRPr b="0" lang="en-IN" sz="1800" spc="-1" strike="noStrike">
              <a:solidFill>
                <a:srgbClr val="000000"/>
              </a:solidFill>
              <a:latin typeface="Arial"/>
            </a:endParaRPr>
          </a:p>
        </p:txBody>
      </p:sp>
      <p:pic>
        <p:nvPicPr>
          <p:cNvPr id="137" name="Google Shape;294;p38" descr=""/>
          <p:cNvPicPr/>
          <p:nvPr/>
        </p:nvPicPr>
        <p:blipFill>
          <a:blip r:embed="rId1"/>
          <a:stretch/>
        </p:blipFill>
        <p:spPr>
          <a:xfrm>
            <a:off x="2175480" y="2141280"/>
            <a:ext cx="6997680" cy="3731760"/>
          </a:xfrm>
          <a:prstGeom prst="rect">
            <a:avLst/>
          </a:prstGeom>
          <a:ln>
            <a:noFill/>
          </a:ln>
        </p:spPr>
      </p:pic>
    </p:spTree>
  </p:cSld>
  <p:timing>
    <p:tnLst>
      <p:par>
        <p:cTn id="75" dur="indefinite" restart="never" nodeType="tmRoot">
          <p:childTnLst>
            <p:seq>
              <p:cTn id="76" dur="indefinite" nodeType="mainSeq"/>
              <p:prevCondLst>
                <p:cond delay="0" evt="onPrev">
                  <p:tgtEl>
                    <p:sldTgt/>
                  </p:tgtEl>
                </p:cond>
              </p:prevCondLst>
              <p:nextCondLst>
                <p:cond delay="0"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Multilevel Feedback Queue</a:t>
            </a:r>
            <a:endParaRPr b="0" lang="en-IN" sz="3200" spc="-1" strike="noStrike">
              <a:solidFill>
                <a:srgbClr val="000000"/>
              </a:solidFill>
              <a:latin typeface="Arial"/>
            </a:endParaRPr>
          </a:p>
        </p:txBody>
      </p:sp>
      <p:sp>
        <p:nvSpPr>
          <p:cNvPr id="139" name="TextShape 2"/>
          <p:cNvSpPr txBox="1"/>
          <p:nvPr/>
        </p:nvSpPr>
        <p:spPr>
          <a:xfrm>
            <a:off x="845280" y="1381320"/>
            <a:ext cx="10515240" cy="4798800"/>
          </a:xfrm>
          <a:prstGeom prst="rect">
            <a:avLst/>
          </a:prstGeom>
          <a:noFill/>
          <a:ln>
            <a:noFill/>
          </a:ln>
        </p:spPr>
        <p:txBody>
          <a:bodyPr>
            <a:normAutofit/>
          </a:bodyPr>
          <a:p>
            <a:pPr marL="457200" indent="-336240">
              <a:lnSpc>
                <a:spcPct val="150000"/>
              </a:lnSpc>
              <a:spcBef>
                <a:spcPts val="799"/>
              </a:spcBef>
              <a:buClr>
                <a:srgbClr val="000000"/>
              </a:buClr>
              <a:buFont typeface="Arial"/>
              <a:buChar char="●"/>
            </a:pPr>
            <a:r>
              <a:rPr b="0" lang="en-IN" sz="1700" spc="-1" strike="noStrike">
                <a:solidFill>
                  <a:srgbClr val="000000"/>
                </a:solidFill>
                <a:latin typeface="Arial"/>
                <a:ea typeface="Arial"/>
              </a:rPr>
              <a:t>A process can move between the various queues.</a:t>
            </a:r>
            <a:endParaRPr b="0" lang="en-IN" sz="1700" spc="-1" strike="noStrike">
              <a:solidFill>
                <a:srgbClr val="000000"/>
              </a:solidFill>
              <a:latin typeface="Arial"/>
            </a:endParaRPr>
          </a:p>
          <a:p>
            <a:pPr marL="457200" indent="-336240">
              <a:lnSpc>
                <a:spcPct val="150000"/>
              </a:lnSpc>
              <a:buClr>
                <a:srgbClr val="000000"/>
              </a:buClr>
              <a:buFont typeface="Arial"/>
              <a:buChar char="●"/>
            </a:pPr>
            <a:r>
              <a:rPr b="0" lang="en-IN" sz="1700" spc="-1" strike="noStrike">
                <a:solidFill>
                  <a:srgbClr val="000000"/>
                </a:solidFill>
                <a:latin typeface="Arial"/>
                <a:ea typeface="Arial"/>
              </a:rPr>
              <a:t>Multilevel-feedback-queue scheduler defined by the following parameters:</a:t>
            </a:r>
            <a:endParaRPr b="0" lang="en-IN" sz="1700" spc="-1" strike="noStrike">
              <a:solidFill>
                <a:srgbClr val="000000"/>
              </a:solidFill>
              <a:latin typeface="Arial"/>
            </a:endParaRPr>
          </a:p>
          <a:p>
            <a:pPr marL="12600">
              <a:lnSpc>
                <a:spcPct val="150000"/>
              </a:lnSpc>
              <a:spcBef>
                <a:spcPts val="799"/>
              </a:spcBef>
            </a:pPr>
            <a:r>
              <a:rPr b="0" lang="en-IN" sz="1800" spc="-1" strike="noStrike">
                <a:solidFill>
                  <a:srgbClr val="3eada7"/>
                </a:solidFill>
                <a:latin typeface="Arial"/>
                <a:ea typeface="Arial"/>
              </a:rPr>
              <a:t>•</a:t>
            </a:r>
            <a:r>
              <a:rPr b="0" lang="en-IN" sz="1700" spc="-1" strike="noStrike">
                <a:solidFill>
                  <a:srgbClr val="000000"/>
                </a:solidFill>
                <a:latin typeface="Arial"/>
                <a:ea typeface="Arial"/>
              </a:rPr>
              <a:t>Number of queues</a:t>
            </a:r>
            <a:endParaRPr b="0" lang="en-IN" sz="1700" spc="-1" strike="noStrike">
              <a:solidFill>
                <a:srgbClr val="000000"/>
              </a:solidFill>
              <a:latin typeface="Arial"/>
            </a:endParaRPr>
          </a:p>
          <a:p>
            <a:pPr marL="12600">
              <a:lnSpc>
                <a:spcPct val="150000"/>
              </a:lnSpc>
              <a:spcBef>
                <a:spcPts val="799"/>
              </a:spcBef>
            </a:pPr>
            <a:r>
              <a:rPr b="0" lang="en-IN" sz="1800" spc="-1" strike="noStrike">
                <a:solidFill>
                  <a:srgbClr val="3eada7"/>
                </a:solidFill>
                <a:latin typeface="Arial"/>
                <a:ea typeface="Arial"/>
              </a:rPr>
              <a:t>•</a:t>
            </a:r>
            <a:r>
              <a:rPr b="0" lang="en-IN" sz="1700" spc="-1" strike="noStrike">
                <a:solidFill>
                  <a:srgbClr val="000000"/>
                </a:solidFill>
                <a:latin typeface="Arial"/>
                <a:ea typeface="Arial"/>
              </a:rPr>
              <a:t>Scheduling algorithms for each queue</a:t>
            </a:r>
            <a:endParaRPr b="0" lang="en-IN" sz="1700" spc="-1" strike="noStrike">
              <a:solidFill>
                <a:srgbClr val="000000"/>
              </a:solidFill>
              <a:latin typeface="Arial"/>
            </a:endParaRPr>
          </a:p>
          <a:p>
            <a:pPr marL="12600">
              <a:lnSpc>
                <a:spcPct val="150000"/>
              </a:lnSpc>
              <a:spcBef>
                <a:spcPts val="799"/>
              </a:spcBef>
            </a:pPr>
            <a:r>
              <a:rPr b="0" lang="en-IN" sz="1800" spc="-1" strike="noStrike">
                <a:solidFill>
                  <a:srgbClr val="3eada7"/>
                </a:solidFill>
                <a:latin typeface="Arial"/>
                <a:ea typeface="Arial"/>
              </a:rPr>
              <a:t>•</a:t>
            </a:r>
            <a:r>
              <a:rPr b="0" lang="en-IN" sz="1700" spc="-1" strike="noStrike">
                <a:solidFill>
                  <a:srgbClr val="000000"/>
                </a:solidFill>
                <a:latin typeface="Arial"/>
                <a:ea typeface="Arial"/>
              </a:rPr>
              <a:t>Method used to determine when to upgrade a process</a:t>
            </a:r>
            <a:endParaRPr b="0" lang="en-IN" sz="1700" spc="-1" strike="noStrike">
              <a:solidFill>
                <a:srgbClr val="000000"/>
              </a:solidFill>
              <a:latin typeface="Arial"/>
            </a:endParaRPr>
          </a:p>
          <a:p>
            <a:pPr marL="12600">
              <a:lnSpc>
                <a:spcPct val="150000"/>
              </a:lnSpc>
              <a:spcBef>
                <a:spcPts val="799"/>
              </a:spcBef>
            </a:pPr>
            <a:r>
              <a:rPr b="0" lang="en-IN" sz="1800" spc="-1" strike="noStrike">
                <a:solidFill>
                  <a:srgbClr val="3eada7"/>
                </a:solidFill>
                <a:latin typeface="Arial"/>
                <a:ea typeface="Arial"/>
              </a:rPr>
              <a:t>•</a:t>
            </a:r>
            <a:r>
              <a:rPr b="0" lang="en-IN" sz="1700" spc="-1" strike="noStrike">
                <a:solidFill>
                  <a:srgbClr val="000000"/>
                </a:solidFill>
                <a:latin typeface="Arial"/>
                <a:ea typeface="Arial"/>
              </a:rPr>
              <a:t>Method used to determine when to demote a process</a:t>
            </a:r>
            <a:endParaRPr b="0" lang="en-IN" sz="1700" spc="-1" strike="noStrike">
              <a:solidFill>
                <a:srgbClr val="000000"/>
              </a:solidFill>
              <a:latin typeface="Arial"/>
            </a:endParaRPr>
          </a:p>
          <a:p>
            <a:pPr marL="12600">
              <a:lnSpc>
                <a:spcPct val="150000"/>
              </a:lnSpc>
              <a:spcBef>
                <a:spcPts val="799"/>
              </a:spcBef>
            </a:pPr>
            <a:r>
              <a:rPr b="0" lang="en-IN" sz="1800" spc="-1" strike="noStrike">
                <a:solidFill>
                  <a:srgbClr val="3eada7"/>
                </a:solidFill>
                <a:latin typeface="Arial"/>
                <a:ea typeface="Arial"/>
              </a:rPr>
              <a:t>•</a:t>
            </a:r>
            <a:r>
              <a:rPr b="0" lang="en-IN" sz="1700" spc="-1" strike="noStrike">
                <a:solidFill>
                  <a:srgbClr val="000000"/>
                </a:solidFill>
                <a:latin typeface="Arial"/>
                <a:ea typeface="Arial"/>
              </a:rPr>
              <a:t>Method used to determine which queue a process will enter when that process needs service</a:t>
            </a:r>
            <a:endParaRPr b="0" lang="en-IN" sz="1700" spc="-1" strike="noStrike">
              <a:solidFill>
                <a:srgbClr val="000000"/>
              </a:solidFill>
              <a:latin typeface="Arial"/>
            </a:endParaRPr>
          </a:p>
          <a:p>
            <a:pPr marL="457200" indent="-336240">
              <a:lnSpc>
                <a:spcPct val="150000"/>
              </a:lnSpc>
              <a:spcBef>
                <a:spcPts val="799"/>
              </a:spcBef>
              <a:buClr>
                <a:srgbClr val="000000"/>
              </a:buClr>
              <a:buFont typeface="Arial"/>
              <a:buChar char="●"/>
            </a:pPr>
            <a:r>
              <a:rPr b="0" lang="en-IN" sz="1700" spc="-1" strike="noStrike">
                <a:solidFill>
                  <a:srgbClr val="000000"/>
                </a:solidFill>
                <a:latin typeface="Arial"/>
                <a:ea typeface="Arial"/>
              </a:rPr>
              <a:t>Aging can be implemented using multilevel feedback queue</a:t>
            </a:r>
            <a:endParaRPr b="0" lang="en-IN" sz="1700" spc="-1" strike="noStrike">
              <a:solidFill>
                <a:srgbClr val="000000"/>
              </a:solidFill>
              <a:latin typeface="Arial"/>
            </a:endParaRPr>
          </a:p>
          <a:p>
            <a:pPr>
              <a:lnSpc>
                <a:spcPct val="150000"/>
              </a:lnSpc>
              <a:spcBef>
                <a:spcPts val="1001"/>
              </a:spcBef>
            </a:pPr>
            <a:endParaRPr b="0" lang="en-IN" sz="1700" spc="-1" strike="noStrike">
              <a:solidFill>
                <a:srgbClr val="000000"/>
              </a:solidFill>
              <a:latin typeface="Arial"/>
            </a:endParaRPr>
          </a:p>
        </p:txBody>
      </p:sp>
    </p:spTree>
  </p:cSld>
  <p:timing>
    <p:tnLst>
      <p:par>
        <p:cTn id="77" dur="indefinite" restart="never" nodeType="tmRoot">
          <p:childTnLst>
            <p:seq>
              <p:cTn id="78" dur="indefinite" nodeType="mainSeq"/>
              <p:prevCondLst>
                <p:cond delay="0" evt="onPrev">
                  <p:tgtEl>
                    <p:sldTgt/>
                  </p:tgtEl>
                </p:cond>
              </p:prevCondLst>
              <p:nextCondLst>
                <p:cond delay="0"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TextShape 1"/>
          <p:cNvSpPr txBox="1"/>
          <p:nvPr/>
        </p:nvSpPr>
        <p:spPr>
          <a:xfrm>
            <a:off x="845280" y="365760"/>
            <a:ext cx="9445320" cy="825840"/>
          </a:xfrm>
          <a:prstGeom prst="rect">
            <a:avLst/>
          </a:prstGeom>
          <a:noFill/>
          <a:ln>
            <a:noFill/>
          </a:ln>
        </p:spPr>
        <p:txBody>
          <a:bodyPr anchor="ctr">
            <a:normAutofit/>
          </a:bodyPr>
          <a:p>
            <a:pPr>
              <a:lnSpc>
                <a:spcPct val="90000"/>
              </a:lnSpc>
            </a:pPr>
            <a:r>
              <a:rPr b="1" lang="en-IN" sz="3200" spc="-1" strike="noStrike">
                <a:solidFill>
                  <a:srgbClr val="3eada7"/>
                </a:solidFill>
                <a:latin typeface="Arial"/>
                <a:ea typeface="Arial"/>
              </a:rPr>
              <a:t>Example of Multilevel Feedback Queue</a:t>
            </a:r>
            <a:endParaRPr b="0" lang="en-IN" sz="3200" spc="-1" strike="noStrike">
              <a:solidFill>
                <a:srgbClr val="000000"/>
              </a:solidFill>
              <a:latin typeface="Arial"/>
            </a:endParaRPr>
          </a:p>
        </p:txBody>
      </p:sp>
      <p:sp>
        <p:nvSpPr>
          <p:cNvPr id="141" name="TextShape 2"/>
          <p:cNvSpPr txBox="1"/>
          <p:nvPr/>
        </p:nvSpPr>
        <p:spPr>
          <a:xfrm>
            <a:off x="845280" y="1381320"/>
            <a:ext cx="10515240" cy="4798800"/>
          </a:xfrm>
          <a:prstGeom prst="rect">
            <a:avLst/>
          </a:prstGeom>
          <a:noFill/>
          <a:ln>
            <a:noFill/>
          </a:ln>
        </p:spPr>
        <p:txBody>
          <a:bodyPr/>
          <a:p>
            <a:pPr marL="457200" indent="-323640">
              <a:lnSpc>
                <a:spcPct val="95000"/>
              </a:lnSpc>
              <a:spcBef>
                <a:spcPts val="799"/>
              </a:spcBef>
              <a:buClr>
                <a:srgbClr val="000000"/>
              </a:buClr>
              <a:buFont typeface="Arial"/>
              <a:buChar char="●"/>
            </a:pPr>
            <a:r>
              <a:rPr b="0" lang="en-IN" sz="1500" spc="-1" strike="noStrike">
                <a:solidFill>
                  <a:srgbClr val="000000"/>
                </a:solidFill>
                <a:latin typeface="Arial"/>
                <a:ea typeface="Arial"/>
              </a:rPr>
              <a:t>Three queues:</a:t>
            </a:r>
            <a:endParaRPr b="0" lang="en-IN" sz="1500" spc="-1" strike="noStrike">
              <a:solidFill>
                <a:srgbClr val="000000"/>
              </a:solidFill>
              <a:latin typeface="Arial"/>
            </a:endParaRPr>
          </a:p>
          <a:p>
            <a:pPr marL="12600">
              <a:lnSpc>
                <a:spcPct val="95000"/>
              </a:lnSpc>
              <a:spcBef>
                <a:spcPts val="700"/>
              </a:spcBef>
            </a:pPr>
            <a:r>
              <a:rPr b="0" lang="en-IN" sz="2150" spc="-1" strike="noStrike">
                <a:solidFill>
                  <a:srgbClr val="3eada7"/>
                </a:solidFill>
                <a:latin typeface="Arial"/>
                <a:ea typeface="Arial"/>
              </a:rPr>
              <a:t>•</a:t>
            </a:r>
            <a:r>
              <a:rPr b="0" i="1" lang="en-IN" sz="2000" spc="-1" strike="noStrike">
                <a:solidFill>
                  <a:srgbClr val="000000"/>
                </a:solidFill>
                <a:latin typeface="Arial"/>
                <a:ea typeface="Arial"/>
              </a:rPr>
              <a:t>Q</a:t>
            </a:r>
            <a:r>
              <a:rPr b="0" lang="en-IN" sz="3100" spc="-1" strike="noStrike" baseline="-25000">
                <a:solidFill>
                  <a:srgbClr val="000000"/>
                </a:solidFill>
                <a:latin typeface="Arial"/>
                <a:ea typeface="Arial"/>
              </a:rPr>
              <a:t>0</a:t>
            </a:r>
            <a:r>
              <a:rPr b="0" lang="en-IN" sz="2000" spc="-1" strike="noStrike">
                <a:solidFill>
                  <a:srgbClr val="000000"/>
                </a:solidFill>
                <a:latin typeface="Arial"/>
                <a:ea typeface="Arial"/>
              </a:rPr>
              <a:t> – RR with time quantum 8 milliseconds</a:t>
            </a:r>
            <a:endParaRPr b="0" lang="en-IN" sz="2000" spc="-1" strike="noStrike">
              <a:solidFill>
                <a:srgbClr val="000000"/>
              </a:solidFill>
              <a:latin typeface="Arial"/>
            </a:endParaRPr>
          </a:p>
          <a:p>
            <a:pPr marL="12600">
              <a:lnSpc>
                <a:spcPct val="95000"/>
              </a:lnSpc>
              <a:spcBef>
                <a:spcPts val="700"/>
              </a:spcBef>
            </a:pPr>
            <a:r>
              <a:rPr b="0" lang="en-IN" sz="2150" spc="-1" strike="noStrike">
                <a:solidFill>
                  <a:srgbClr val="3eada7"/>
                </a:solidFill>
                <a:latin typeface="Arial"/>
                <a:ea typeface="Arial"/>
              </a:rPr>
              <a:t>•</a:t>
            </a:r>
            <a:r>
              <a:rPr b="0" i="1" lang="en-IN" sz="2000" spc="-1" strike="noStrike">
                <a:solidFill>
                  <a:srgbClr val="000000"/>
                </a:solidFill>
                <a:latin typeface="Arial"/>
                <a:ea typeface="Arial"/>
              </a:rPr>
              <a:t>Q</a:t>
            </a:r>
            <a:r>
              <a:rPr b="0" lang="en-IN" sz="3100" spc="-1" strike="noStrike" baseline="-25000">
                <a:solidFill>
                  <a:srgbClr val="000000"/>
                </a:solidFill>
                <a:latin typeface="Arial"/>
                <a:ea typeface="Arial"/>
              </a:rPr>
              <a:t>1</a:t>
            </a:r>
            <a:r>
              <a:rPr b="0" lang="en-IN" sz="2000" spc="-1" strike="noStrike">
                <a:solidFill>
                  <a:srgbClr val="000000"/>
                </a:solidFill>
                <a:latin typeface="Arial"/>
                <a:ea typeface="Arial"/>
              </a:rPr>
              <a:t> – RR time quantum 16 milliseconds</a:t>
            </a:r>
            <a:endParaRPr b="0" lang="en-IN" sz="2000" spc="-1" strike="noStrike">
              <a:solidFill>
                <a:srgbClr val="000000"/>
              </a:solidFill>
              <a:latin typeface="Arial"/>
            </a:endParaRPr>
          </a:p>
          <a:p>
            <a:pPr marL="12600">
              <a:lnSpc>
                <a:spcPct val="95000"/>
              </a:lnSpc>
              <a:spcBef>
                <a:spcPts val="700"/>
              </a:spcBef>
            </a:pPr>
            <a:r>
              <a:rPr b="0" lang="en-IN" sz="2150" spc="-1" strike="noStrike">
                <a:solidFill>
                  <a:srgbClr val="3eada7"/>
                </a:solidFill>
                <a:latin typeface="Arial"/>
                <a:ea typeface="Arial"/>
              </a:rPr>
              <a:t>•</a:t>
            </a:r>
            <a:r>
              <a:rPr b="0" i="1" lang="en-IN" sz="2000" spc="-1" strike="noStrike">
                <a:solidFill>
                  <a:srgbClr val="000000"/>
                </a:solidFill>
                <a:latin typeface="Arial"/>
                <a:ea typeface="Arial"/>
              </a:rPr>
              <a:t>Q</a:t>
            </a:r>
            <a:r>
              <a:rPr b="0" lang="en-IN" sz="3100" spc="-1" strike="noStrike" baseline="-25000">
                <a:solidFill>
                  <a:srgbClr val="000000"/>
                </a:solidFill>
                <a:latin typeface="Arial"/>
                <a:ea typeface="Arial"/>
              </a:rPr>
              <a:t>2</a:t>
            </a:r>
            <a:r>
              <a:rPr b="0" lang="en-IN" sz="2000" spc="-1" strike="noStrike">
                <a:solidFill>
                  <a:srgbClr val="000000"/>
                </a:solidFill>
                <a:latin typeface="Arial"/>
                <a:ea typeface="Arial"/>
              </a:rPr>
              <a:t> – FCFS</a:t>
            </a:r>
            <a:endParaRPr b="0" lang="en-IN" sz="2000" spc="-1" strike="noStrike">
              <a:solidFill>
                <a:srgbClr val="000000"/>
              </a:solidFill>
              <a:latin typeface="Arial"/>
            </a:endParaRPr>
          </a:p>
          <a:p>
            <a:pPr marL="457200" indent="-323640">
              <a:lnSpc>
                <a:spcPct val="95000"/>
              </a:lnSpc>
              <a:spcBef>
                <a:spcPts val="799"/>
              </a:spcBef>
              <a:buClr>
                <a:srgbClr val="000000"/>
              </a:buClr>
              <a:buFont typeface="Arial"/>
              <a:buChar char="●"/>
            </a:pPr>
            <a:r>
              <a:rPr b="0" lang="en-IN" sz="1500" spc="-1" strike="noStrike">
                <a:solidFill>
                  <a:srgbClr val="000000"/>
                </a:solidFill>
                <a:latin typeface="Arial"/>
                <a:ea typeface="Arial"/>
              </a:rPr>
              <a:t>Scheduling</a:t>
            </a:r>
            <a:endParaRPr b="0" lang="en-IN" sz="1500" spc="-1" strike="noStrike">
              <a:solidFill>
                <a:srgbClr val="000000"/>
              </a:solidFill>
              <a:latin typeface="Arial"/>
            </a:endParaRPr>
          </a:p>
          <a:p>
            <a:pPr marL="12600">
              <a:lnSpc>
                <a:spcPct val="95000"/>
              </a:lnSpc>
              <a:spcBef>
                <a:spcPts val="700"/>
              </a:spcBef>
            </a:pPr>
            <a:r>
              <a:rPr b="0" lang="en-IN" sz="2150" spc="-1" strike="noStrike">
                <a:solidFill>
                  <a:srgbClr val="3eada7"/>
                </a:solidFill>
                <a:latin typeface="Arial"/>
                <a:ea typeface="Arial"/>
              </a:rPr>
              <a:t>•</a:t>
            </a:r>
            <a:r>
              <a:rPr b="0" lang="en-IN" sz="2000" spc="-1" strike="noStrike">
                <a:solidFill>
                  <a:srgbClr val="000000"/>
                </a:solidFill>
                <a:latin typeface="Arial"/>
                <a:ea typeface="Arial"/>
              </a:rPr>
              <a:t>A new process enters queue </a:t>
            </a:r>
            <a:r>
              <a:rPr b="0" i="1" lang="en-IN" sz="2000" spc="-1" strike="noStrike">
                <a:solidFill>
                  <a:srgbClr val="000000"/>
                </a:solidFill>
                <a:latin typeface="Arial"/>
                <a:ea typeface="Arial"/>
              </a:rPr>
              <a:t>Q</a:t>
            </a:r>
            <a:r>
              <a:rPr b="0" i="1" lang="en-IN" sz="3100" spc="-1" strike="noStrike" baseline="-25000">
                <a:solidFill>
                  <a:srgbClr val="000000"/>
                </a:solidFill>
                <a:latin typeface="Arial"/>
                <a:ea typeface="Arial"/>
              </a:rPr>
              <a:t>0</a:t>
            </a:r>
            <a:r>
              <a:rPr b="0" i="1" lang="en-IN" sz="2000" spc="-1" strike="noStrike">
                <a:solidFill>
                  <a:srgbClr val="000000"/>
                </a:solidFill>
                <a:latin typeface="Arial"/>
                <a:ea typeface="Arial"/>
              </a:rPr>
              <a:t> </a:t>
            </a:r>
            <a:r>
              <a:rPr b="0" lang="en-IN" sz="2000" spc="-1" strike="noStrike">
                <a:solidFill>
                  <a:srgbClr val="000000"/>
                </a:solidFill>
                <a:latin typeface="Arial"/>
                <a:ea typeface="Arial"/>
              </a:rPr>
              <a:t>which is served</a:t>
            </a:r>
            <a:r>
              <a:rPr b="0" i="1" lang="en-IN" sz="2000" spc="-1" strike="noStrike">
                <a:solidFill>
                  <a:srgbClr val="000000"/>
                </a:solidFill>
                <a:latin typeface="Arial"/>
                <a:ea typeface="Arial"/>
              </a:rPr>
              <a:t> </a:t>
            </a:r>
            <a:r>
              <a:rPr b="0" lang="en-IN" sz="2000" spc="-1" strike="noStrike">
                <a:solidFill>
                  <a:srgbClr val="000000"/>
                </a:solidFill>
                <a:latin typeface="Arial"/>
                <a:ea typeface="Arial"/>
              </a:rPr>
              <a:t>in</a:t>
            </a:r>
            <a:r>
              <a:rPr b="0" i="1" lang="en-IN" sz="2000" spc="-1" strike="noStrike">
                <a:solidFill>
                  <a:srgbClr val="000000"/>
                </a:solidFill>
                <a:latin typeface="Arial"/>
                <a:ea typeface="Arial"/>
              </a:rPr>
              <a:t> </a:t>
            </a:r>
            <a:r>
              <a:rPr b="0" lang="en-IN" sz="2000" spc="-1" strike="noStrike">
                <a:solidFill>
                  <a:srgbClr val="000000"/>
                </a:solidFill>
                <a:latin typeface="Arial"/>
                <a:ea typeface="Arial"/>
              </a:rPr>
              <a:t>RR</a:t>
            </a:r>
            <a:endParaRPr b="0" lang="en-IN" sz="2000" spc="-1" strike="noStrike">
              <a:solidFill>
                <a:srgbClr val="000000"/>
              </a:solidFill>
              <a:latin typeface="Arial"/>
            </a:endParaRPr>
          </a:p>
          <a:p>
            <a:pPr marL="457200" indent="-342720">
              <a:lnSpc>
                <a:spcPct val="95000"/>
              </a:lnSpc>
              <a:spcBef>
                <a:spcPts val="601"/>
              </a:spcBef>
              <a:buClr>
                <a:srgbClr val="000000"/>
              </a:buClr>
              <a:buFont typeface="Arial"/>
              <a:buChar char="❖"/>
            </a:pPr>
            <a:r>
              <a:rPr b="0" lang="en-IN" sz="1800" spc="-1" strike="noStrike">
                <a:solidFill>
                  <a:srgbClr val="000000"/>
                </a:solidFill>
                <a:latin typeface="Arial"/>
                <a:ea typeface="Arial"/>
              </a:rPr>
              <a:t>When it gains CPU, the process receives 8 milliseconds</a:t>
            </a:r>
            <a:endParaRPr b="0" lang="en-IN" sz="1800" spc="-1" strike="noStrike">
              <a:solidFill>
                <a:srgbClr val="000000"/>
              </a:solidFill>
              <a:latin typeface="Arial"/>
            </a:endParaRPr>
          </a:p>
          <a:p>
            <a:pPr marL="457200" indent="-342720">
              <a:lnSpc>
                <a:spcPct val="95000"/>
              </a:lnSpc>
              <a:buClr>
                <a:srgbClr val="000000"/>
              </a:buClr>
              <a:buFont typeface="Arial"/>
              <a:buChar char="❖"/>
            </a:pPr>
            <a:r>
              <a:rPr b="0" lang="en-IN" sz="1800" spc="-1" strike="noStrike">
                <a:solidFill>
                  <a:srgbClr val="000000"/>
                </a:solidFill>
                <a:latin typeface="Arial"/>
                <a:ea typeface="Arial"/>
              </a:rPr>
              <a:t>If it does not finish in 8 milliseconds, the process  is moved to queue </a:t>
            </a:r>
            <a:r>
              <a:rPr b="0" i="1" lang="en-IN" sz="1800" spc="-1" strike="noStrike">
                <a:solidFill>
                  <a:srgbClr val="000000"/>
                </a:solidFill>
                <a:latin typeface="Arial"/>
                <a:ea typeface="Arial"/>
              </a:rPr>
              <a:t>Q</a:t>
            </a:r>
            <a:r>
              <a:rPr b="0" lang="en-IN" sz="2700" spc="-1" strike="noStrike" baseline="-25000">
                <a:solidFill>
                  <a:srgbClr val="000000"/>
                </a:solidFill>
                <a:latin typeface="Arial"/>
                <a:ea typeface="Arial"/>
              </a:rPr>
              <a:t>1</a:t>
            </a:r>
            <a:endParaRPr b="0" lang="en-IN" sz="2700" spc="-1" strike="noStrike">
              <a:solidFill>
                <a:srgbClr val="000000"/>
              </a:solidFill>
              <a:latin typeface="Arial"/>
            </a:endParaRPr>
          </a:p>
          <a:p>
            <a:pPr marL="12600">
              <a:lnSpc>
                <a:spcPct val="95000"/>
              </a:lnSpc>
              <a:spcBef>
                <a:spcPts val="700"/>
              </a:spcBef>
            </a:pPr>
            <a:r>
              <a:rPr b="0" lang="en-IN" sz="2150" spc="-1" strike="noStrike">
                <a:solidFill>
                  <a:srgbClr val="3eada7"/>
                </a:solidFill>
                <a:latin typeface="Arial"/>
                <a:ea typeface="Arial"/>
              </a:rPr>
              <a:t>•</a:t>
            </a:r>
            <a:r>
              <a:rPr b="0" lang="en-IN" sz="2000" spc="-1" strike="noStrike">
                <a:solidFill>
                  <a:srgbClr val="000000"/>
                </a:solidFill>
                <a:latin typeface="Arial"/>
                <a:ea typeface="Arial"/>
              </a:rPr>
              <a:t>At </a:t>
            </a:r>
            <a:r>
              <a:rPr b="0" i="1" lang="en-IN" sz="2000" spc="-1" strike="noStrike">
                <a:solidFill>
                  <a:srgbClr val="000000"/>
                </a:solidFill>
                <a:latin typeface="Arial"/>
                <a:ea typeface="Arial"/>
              </a:rPr>
              <a:t>Q</a:t>
            </a:r>
            <a:r>
              <a:rPr b="0" lang="en-IN" sz="3100" spc="-1" strike="noStrike" baseline="-25000">
                <a:solidFill>
                  <a:srgbClr val="000000"/>
                </a:solidFill>
                <a:latin typeface="Arial"/>
                <a:ea typeface="Arial"/>
              </a:rPr>
              <a:t>1</a:t>
            </a:r>
            <a:r>
              <a:rPr b="0" lang="en-IN" sz="2000" spc="-1" strike="noStrike">
                <a:solidFill>
                  <a:srgbClr val="000000"/>
                </a:solidFill>
                <a:latin typeface="Arial"/>
                <a:ea typeface="Arial"/>
              </a:rPr>
              <a:t> job is again served in RR and receives 16 additional milliseconds</a:t>
            </a:r>
            <a:endParaRPr b="0" lang="en-IN" sz="2000" spc="-1" strike="noStrike">
              <a:solidFill>
                <a:srgbClr val="000000"/>
              </a:solidFill>
              <a:latin typeface="Arial"/>
            </a:endParaRPr>
          </a:p>
          <a:p>
            <a:pPr marL="457200" indent="-342720">
              <a:lnSpc>
                <a:spcPct val="95000"/>
              </a:lnSpc>
              <a:spcBef>
                <a:spcPts val="601"/>
              </a:spcBef>
              <a:buClr>
                <a:srgbClr val="000000"/>
              </a:buClr>
              <a:buFont typeface="Arial"/>
              <a:buChar char="❖"/>
            </a:pPr>
            <a:r>
              <a:rPr b="0" lang="en-IN" sz="1800" spc="-1" strike="noStrike">
                <a:solidFill>
                  <a:srgbClr val="000000"/>
                </a:solidFill>
                <a:latin typeface="Arial"/>
                <a:ea typeface="Arial"/>
              </a:rPr>
              <a:t>If it still does not complete, it is preempted and moved to queue </a:t>
            </a:r>
            <a:r>
              <a:rPr b="0" i="1" lang="en-IN" sz="1800" spc="-1" strike="noStrike">
                <a:solidFill>
                  <a:srgbClr val="000000"/>
                </a:solidFill>
                <a:latin typeface="Arial"/>
                <a:ea typeface="Arial"/>
              </a:rPr>
              <a:t>Q</a:t>
            </a:r>
            <a:r>
              <a:rPr b="0" lang="en-IN" sz="2700" spc="-1" strike="noStrike" baseline="-25000">
                <a:solidFill>
                  <a:srgbClr val="000000"/>
                </a:solidFill>
                <a:latin typeface="Arial"/>
                <a:ea typeface="Arial"/>
              </a:rPr>
              <a:t>2</a:t>
            </a:r>
            <a:endParaRPr b="0" lang="en-IN" sz="2700" spc="-1" strike="noStrike">
              <a:solidFill>
                <a:srgbClr val="000000"/>
              </a:solidFill>
              <a:latin typeface="Arial"/>
            </a:endParaRPr>
          </a:p>
          <a:p>
            <a:pPr>
              <a:lnSpc>
                <a:spcPct val="70000"/>
              </a:lnSpc>
              <a:spcBef>
                <a:spcPts val="1001"/>
              </a:spcBef>
            </a:pPr>
            <a:endParaRPr b="0" lang="en-IN" sz="2700" spc="-1" strike="noStrike">
              <a:solidFill>
                <a:srgbClr val="000000"/>
              </a:solidFill>
              <a:latin typeface="Arial"/>
            </a:endParaRPr>
          </a:p>
        </p:txBody>
      </p:sp>
      <p:pic>
        <p:nvPicPr>
          <p:cNvPr id="142" name="Google Shape;307;p40" descr=""/>
          <p:cNvPicPr/>
          <p:nvPr/>
        </p:nvPicPr>
        <p:blipFill>
          <a:blip r:embed="rId1"/>
          <a:stretch/>
        </p:blipFill>
        <p:spPr>
          <a:xfrm>
            <a:off x="7120080" y="1873440"/>
            <a:ext cx="3830400" cy="2323080"/>
          </a:xfrm>
          <a:prstGeom prst="rect">
            <a:avLst/>
          </a:prstGeom>
          <a:ln>
            <a:noFill/>
          </a:ln>
        </p:spPr>
      </p:pic>
    </p:spTree>
  </p:cSld>
  <p:timing>
    <p:tnLst>
      <p:par>
        <p:cTn id="79" dur="indefinite" restart="never" nodeType="tmRoot">
          <p:childTnLst>
            <p:seq>
              <p:cTn id="80" dur="indefinite" nodeType="mainSeq"/>
              <p:prevCondLst>
                <p:cond delay="0" evt="onPrev">
                  <p:tgtEl>
                    <p:sldTgt/>
                  </p:tgtEl>
                </p:cond>
              </p:prevCondLst>
              <p:nextCondLst>
                <p:cond delay="0"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TextShape 1"/>
          <p:cNvSpPr txBox="1"/>
          <p:nvPr/>
        </p:nvSpPr>
        <p:spPr>
          <a:xfrm>
            <a:off x="3085560" y="2585160"/>
            <a:ext cx="4476240" cy="1047960"/>
          </a:xfrm>
          <a:prstGeom prst="rect">
            <a:avLst/>
          </a:prstGeom>
          <a:noFill/>
          <a:ln>
            <a:noFill/>
          </a:ln>
        </p:spPr>
        <p:txBody>
          <a:bodyPr/>
          <a:p>
            <a:pPr>
              <a:lnSpc>
                <a:spcPct val="90000"/>
              </a:lnSpc>
              <a:spcBef>
                <a:spcPts val="1001"/>
              </a:spcBef>
            </a:pPr>
            <a:r>
              <a:rPr b="1" lang="en-IN" sz="3500" spc="-1" strike="noStrike">
                <a:solidFill>
                  <a:srgbClr val="3eada7"/>
                </a:solidFill>
                <a:latin typeface="Calibri"/>
                <a:ea typeface="Calibri"/>
              </a:rPr>
              <a:t>Numerical Problems</a:t>
            </a:r>
            <a:endParaRPr b="0" lang="en-IN" sz="3500" spc="-1" strike="noStrike">
              <a:solidFill>
                <a:srgbClr val="000000"/>
              </a:solidFill>
              <a:latin typeface="Arial"/>
            </a:endParaRPr>
          </a:p>
        </p:txBody>
      </p:sp>
    </p:spTree>
  </p:cSld>
  <p:timing>
    <p:tnLst>
      <p:par>
        <p:cTn id="81" dur="indefinite" restart="never" nodeType="tmRoot">
          <p:childTnLst>
            <p:seq>
              <p:cTn id="82" dur="indefinite" nodeType="mainSeq"/>
              <p:prevCondLst>
                <p:cond delay="0" evt="onPrev">
                  <p:tgtEl>
                    <p:sldTgt/>
                  </p:tgtEl>
                </p:cond>
              </p:prevCondLst>
              <p:nextCondLst>
                <p:cond delay="0"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TextShape 1"/>
          <p:cNvSpPr txBox="1"/>
          <p:nvPr/>
        </p:nvSpPr>
        <p:spPr>
          <a:xfrm>
            <a:off x="845280" y="1381320"/>
            <a:ext cx="10515240" cy="4798800"/>
          </a:xfrm>
          <a:prstGeom prst="rect">
            <a:avLst/>
          </a:prstGeom>
          <a:noFill/>
          <a:ln>
            <a:noFill/>
          </a:ln>
        </p:spPr>
        <p:txBody>
          <a:bodyPr>
            <a:normAutofit/>
          </a:bodyPr>
          <a:p>
            <a:pPr>
              <a:lnSpc>
                <a:spcPct val="90000"/>
              </a:lnSpc>
              <a:spcBef>
                <a:spcPts val="1001"/>
              </a:spcBef>
            </a:pPr>
            <a:r>
              <a:rPr b="0" lang="en-IN" sz="2800" spc="-1" strike="noStrike">
                <a:solidFill>
                  <a:srgbClr val="000000"/>
                </a:solidFill>
                <a:latin typeface="Calibri"/>
                <a:ea typeface="Calibri"/>
              </a:rPr>
              <a:t>Ques 1 : </a:t>
            </a:r>
            <a:r>
              <a:rPr b="0" lang="en-IN" sz="2600" spc="-1" strike="noStrike">
                <a:solidFill>
                  <a:srgbClr val="000000"/>
                </a:solidFill>
                <a:latin typeface="Calibri"/>
                <a:ea typeface="Calibri"/>
              </a:rPr>
              <a:t>Consider the following set of processes that need to be scheduled on a single CPU. All the time values are given in ms.</a:t>
            </a:r>
            <a:endParaRPr b="0" lang="en-IN" sz="2600" spc="-1" strike="noStrike">
              <a:solidFill>
                <a:srgbClr val="000000"/>
              </a:solidFill>
              <a:latin typeface="Arial"/>
            </a:endParaRPr>
          </a:p>
          <a:p>
            <a:pPr>
              <a:lnSpc>
                <a:spcPct val="90000"/>
              </a:lnSpc>
              <a:spcBef>
                <a:spcPts val="1001"/>
              </a:spcBef>
            </a:pPr>
            <a:endParaRPr b="0" lang="en-IN" sz="2600" spc="-1" strike="noStrike">
              <a:solidFill>
                <a:srgbClr val="000000"/>
              </a:solidFill>
              <a:latin typeface="Arial"/>
            </a:endParaRPr>
          </a:p>
        </p:txBody>
      </p:sp>
      <p:pic>
        <p:nvPicPr>
          <p:cNvPr id="145" name="Google Shape;318;p42" descr=""/>
          <p:cNvPicPr/>
          <p:nvPr/>
        </p:nvPicPr>
        <p:blipFill>
          <a:blip r:embed="rId1"/>
          <a:stretch/>
        </p:blipFill>
        <p:spPr>
          <a:xfrm>
            <a:off x="3827880" y="2438640"/>
            <a:ext cx="3479760" cy="3099240"/>
          </a:xfrm>
          <a:prstGeom prst="rect">
            <a:avLst/>
          </a:prstGeom>
          <a:ln>
            <a:noFill/>
          </a:ln>
        </p:spPr>
      </p:pic>
      <p:sp>
        <p:nvSpPr>
          <p:cNvPr id="146" name="CustomShape 2"/>
          <p:cNvSpPr/>
          <p:nvPr/>
        </p:nvSpPr>
        <p:spPr>
          <a:xfrm>
            <a:off x="756720" y="5718240"/>
            <a:ext cx="10515240" cy="1098000"/>
          </a:xfrm>
          <a:prstGeom prst="rect">
            <a:avLst/>
          </a:prstGeom>
          <a:noFill/>
          <a:ln>
            <a:noFill/>
          </a:ln>
        </p:spPr>
        <p:style>
          <a:lnRef idx="0"/>
          <a:fillRef idx="0"/>
          <a:effectRef idx="0"/>
          <a:fontRef idx="minor"/>
        </p:style>
        <p:txBody>
          <a:bodyPr tIns="91440" bIns="91440"/>
          <a:p>
            <a:pPr>
              <a:lnSpc>
                <a:spcPct val="100000"/>
              </a:lnSpc>
            </a:pPr>
            <a:r>
              <a:rPr b="0" lang="en-IN" sz="2000" spc="-1" strike="noStrike">
                <a:solidFill>
                  <a:srgbClr val="000000"/>
                </a:solidFill>
                <a:latin typeface="Calibri"/>
                <a:ea typeface="Calibri"/>
              </a:rPr>
              <a:t>Using SRTF scheduling algorithm, the average process turnaround time (in ms) is____________</a:t>
            </a:r>
            <a:endParaRPr b="0" lang="en-IN" sz="2000" spc="-1" strike="noStrike">
              <a:latin typeface="Arial"/>
            </a:endParaRPr>
          </a:p>
          <a:p>
            <a:pPr>
              <a:lnSpc>
                <a:spcPct val="100000"/>
              </a:lnSpc>
            </a:pPr>
            <a:endParaRPr b="0" lang="en-IN" sz="2000" spc="-1" strike="noStrike">
              <a:latin typeface="Arial"/>
            </a:endParaRPr>
          </a:p>
          <a:p>
            <a:pPr>
              <a:lnSpc>
                <a:spcPct val="100000"/>
              </a:lnSpc>
            </a:pPr>
            <a:endParaRPr b="0" lang="en-IN" sz="2000" spc="-1" strike="noStrike">
              <a:latin typeface="Arial"/>
            </a:endParaRPr>
          </a:p>
        </p:txBody>
      </p:sp>
    </p:spTree>
  </p:cSld>
  <p:timing>
    <p:tnLst>
      <p:par>
        <p:cTn id="83" dur="indefinite" restart="never" nodeType="tmRoot">
          <p:childTnLst>
            <p:seq>
              <p:cTn id="84" dur="indefinite" nodeType="mainSeq"/>
              <p:prevCondLst>
                <p:cond delay="0" evt="onPrev">
                  <p:tgtEl>
                    <p:sldTgt/>
                  </p:tgtEl>
                </p:cond>
              </p:prevCondLst>
              <p:nextCondLst>
                <p:cond delay="0"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TextShape 1"/>
          <p:cNvSpPr txBox="1"/>
          <p:nvPr/>
        </p:nvSpPr>
        <p:spPr>
          <a:xfrm>
            <a:off x="795240" y="1371240"/>
            <a:ext cx="11105640" cy="4798800"/>
          </a:xfrm>
          <a:prstGeom prst="rect">
            <a:avLst/>
          </a:prstGeom>
          <a:noFill/>
          <a:ln>
            <a:noFill/>
          </a:ln>
        </p:spPr>
        <p:txBody>
          <a:bodyPr>
            <a:normAutofit/>
          </a:bodyPr>
          <a:p>
            <a:pPr>
              <a:lnSpc>
                <a:spcPct val="105000"/>
              </a:lnSpc>
              <a:spcBef>
                <a:spcPts val="1199"/>
              </a:spcBef>
            </a:pPr>
            <a:r>
              <a:rPr b="0" lang="en-IN" sz="2100" spc="-1" strike="noStrike">
                <a:solidFill>
                  <a:srgbClr val="000000"/>
                </a:solidFill>
                <a:latin typeface="Calibri"/>
                <a:ea typeface="Calibri"/>
              </a:rPr>
              <a:t>Ques. 2: Consider 3 processes A, B, C, to be scheduled as per SRTF algo. The Process 'A' is known to be scheduled first &amp; when 'A' has been running for 7 units of  time, then the process 'C’ has arrived. Then process 'B' has arrived and Completed running in 2 units time. Then what could be the minimum burst time  of process A &amp; C ?</a:t>
            </a:r>
            <a:endParaRPr b="0" lang="en-IN" sz="2100" spc="-1" strike="noStrike">
              <a:solidFill>
                <a:srgbClr val="000000"/>
              </a:solidFill>
              <a:latin typeface="Arial"/>
            </a:endParaRPr>
          </a:p>
          <a:p>
            <a:pPr>
              <a:lnSpc>
                <a:spcPct val="105000"/>
              </a:lnSpc>
              <a:spcBef>
                <a:spcPts val="1199"/>
              </a:spcBef>
            </a:pPr>
            <a:endParaRPr b="0" lang="en-IN" sz="2100" spc="-1" strike="noStrike">
              <a:solidFill>
                <a:srgbClr val="000000"/>
              </a:solidFill>
              <a:latin typeface="Arial"/>
            </a:endParaRPr>
          </a:p>
          <a:p>
            <a:pPr>
              <a:lnSpc>
                <a:spcPct val="105000"/>
              </a:lnSpc>
              <a:spcBef>
                <a:spcPts val="1199"/>
              </a:spcBef>
            </a:pPr>
            <a:r>
              <a:rPr b="0" lang="en-IN" sz="2100" spc="-1" strike="noStrike">
                <a:solidFill>
                  <a:srgbClr val="000000"/>
                </a:solidFill>
                <a:latin typeface="Calibri"/>
                <a:ea typeface="Calibri"/>
              </a:rPr>
              <a:t>a) 11 and 3      </a:t>
            </a:r>
            <a:r>
              <a:rPr b="0" lang="en-IN" sz="2100" spc="-1" strike="noStrike">
                <a:solidFill>
                  <a:srgbClr val="000000"/>
                </a:solidFill>
                <a:latin typeface="Calibri"/>
                <a:ea typeface="Calibri"/>
              </a:rPr>
              <a:t>	</a:t>
            </a:r>
            <a:r>
              <a:rPr b="0" lang="en-IN" sz="2100" spc="-1" strike="noStrike">
                <a:solidFill>
                  <a:srgbClr val="000000"/>
                </a:solidFill>
                <a:latin typeface="Calibri"/>
                <a:ea typeface="Calibri"/>
              </a:rPr>
              <a:t>b) 11 and 4</a:t>
            </a:r>
            <a:endParaRPr b="0" lang="en-IN" sz="2100" spc="-1" strike="noStrike">
              <a:solidFill>
                <a:srgbClr val="000000"/>
              </a:solidFill>
              <a:latin typeface="Arial"/>
            </a:endParaRPr>
          </a:p>
          <a:p>
            <a:pPr>
              <a:lnSpc>
                <a:spcPct val="105000"/>
              </a:lnSpc>
              <a:spcBef>
                <a:spcPts val="1199"/>
              </a:spcBef>
            </a:pPr>
            <a:r>
              <a:rPr b="0" lang="en-IN" sz="2100" spc="-1" strike="noStrike">
                <a:solidFill>
                  <a:srgbClr val="000000"/>
                </a:solidFill>
                <a:latin typeface="Calibri"/>
                <a:ea typeface="Calibri"/>
              </a:rPr>
              <a:t>c) 12 and 3        </a:t>
            </a:r>
            <a:r>
              <a:rPr b="0" lang="en-IN" sz="2100" spc="-1" strike="noStrike">
                <a:solidFill>
                  <a:srgbClr val="000000"/>
                </a:solidFill>
                <a:latin typeface="Calibri"/>
                <a:ea typeface="Calibri"/>
              </a:rPr>
              <a:t>	</a:t>
            </a:r>
            <a:r>
              <a:rPr b="0" lang="en-IN" sz="2100" spc="-1" strike="noStrike">
                <a:solidFill>
                  <a:srgbClr val="000000"/>
                </a:solidFill>
                <a:latin typeface="Calibri"/>
                <a:ea typeface="Calibri"/>
              </a:rPr>
              <a:t>d) 12 and 4</a:t>
            </a:r>
            <a:endParaRPr b="0" lang="en-IN" sz="2100" spc="-1" strike="noStrike">
              <a:solidFill>
                <a:srgbClr val="000000"/>
              </a:solidFill>
              <a:latin typeface="Arial"/>
            </a:endParaRPr>
          </a:p>
          <a:p>
            <a:pPr>
              <a:lnSpc>
                <a:spcPct val="80000"/>
              </a:lnSpc>
              <a:spcBef>
                <a:spcPts val="1199"/>
              </a:spcBef>
            </a:pPr>
            <a:endParaRPr b="0" lang="en-IN" sz="2100" spc="-1" strike="noStrike">
              <a:solidFill>
                <a:srgbClr val="000000"/>
              </a:solidFill>
              <a:latin typeface="Arial"/>
            </a:endParaRPr>
          </a:p>
        </p:txBody>
      </p:sp>
    </p:spTree>
  </p:cSld>
  <p:timing>
    <p:tnLst>
      <p:par>
        <p:cTn id="85" dur="indefinite" restart="never" nodeType="tmRoot">
          <p:childTnLst>
            <p:seq>
              <p:cTn id="86" dur="indefinite" nodeType="mainSeq"/>
              <p:prevCondLst>
                <p:cond delay="0" evt="onPrev">
                  <p:tgtEl>
                    <p:sldTgt/>
                  </p:tgtEl>
                </p:cond>
              </p:prevCondLst>
              <p:nextCondLst>
                <p:cond delay="0"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TextShape 1"/>
          <p:cNvSpPr txBox="1"/>
          <p:nvPr/>
        </p:nvSpPr>
        <p:spPr>
          <a:xfrm>
            <a:off x="845280" y="1381320"/>
            <a:ext cx="10515240" cy="4798800"/>
          </a:xfrm>
          <a:prstGeom prst="rect">
            <a:avLst/>
          </a:prstGeom>
          <a:noFill/>
          <a:ln>
            <a:noFill/>
          </a:ln>
        </p:spPr>
        <p:txBody>
          <a:bodyPr>
            <a:normAutofit/>
          </a:bodyPr>
          <a:p>
            <a:pPr>
              <a:lnSpc>
                <a:spcPct val="115000"/>
              </a:lnSpc>
              <a:spcBef>
                <a:spcPts val="1199"/>
              </a:spcBef>
            </a:pPr>
            <a:r>
              <a:rPr b="0" lang="en-IN" sz="2100" spc="-1" strike="noStrike">
                <a:solidFill>
                  <a:srgbClr val="000000"/>
                </a:solidFill>
                <a:latin typeface="Calibri"/>
                <a:ea typeface="Calibri"/>
              </a:rPr>
              <a:t>Ques. 3: Consider the following processes, with the arrival time and the length of the CPU burst given in milliseconds. The scheduling algorithm used is preemptive shortest remaining-time first.</a:t>
            </a:r>
            <a:endParaRPr b="0" lang="en-IN" sz="2100" spc="-1" strike="noStrike">
              <a:solidFill>
                <a:srgbClr val="000000"/>
              </a:solidFill>
              <a:latin typeface="Arial"/>
            </a:endParaRPr>
          </a:p>
          <a:p>
            <a:pPr>
              <a:lnSpc>
                <a:spcPct val="115000"/>
              </a:lnSpc>
              <a:spcBef>
                <a:spcPts val="1199"/>
              </a:spcBef>
            </a:pPr>
            <a:endParaRPr b="0" lang="en-IN" sz="2100" spc="-1" strike="noStrike">
              <a:solidFill>
                <a:srgbClr val="000000"/>
              </a:solidFill>
              <a:latin typeface="Arial"/>
            </a:endParaRPr>
          </a:p>
          <a:p>
            <a:pPr>
              <a:lnSpc>
                <a:spcPct val="90000"/>
              </a:lnSpc>
              <a:spcBef>
                <a:spcPts val="1199"/>
              </a:spcBef>
            </a:pPr>
            <a:endParaRPr b="0" lang="en-IN" sz="2100" spc="-1" strike="noStrike">
              <a:solidFill>
                <a:srgbClr val="000000"/>
              </a:solidFill>
              <a:latin typeface="Arial"/>
            </a:endParaRPr>
          </a:p>
        </p:txBody>
      </p:sp>
      <p:pic>
        <p:nvPicPr>
          <p:cNvPr id="149" name="Google Shape;330;p44" descr=""/>
          <p:cNvPicPr/>
          <p:nvPr/>
        </p:nvPicPr>
        <p:blipFill>
          <a:blip r:embed="rId1"/>
          <a:stretch/>
        </p:blipFill>
        <p:spPr>
          <a:xfrm>
            <a:off x="4102920" y="2683080"/>
            <a:ext cx="3427920" cy="2644200"/>
          </a:xfrm>
          <a:prstGeom prst="rect">
            <a:avLst/>
          </a:prstGeom>
          <a:ln>
            <a:noFill/>
          </a:ln>
        </p:spPr>
      </p:pic>
      <p:sp>
        <p:nvSpPr>
          <p:cNvPr id="150" name="CustomShape 2"/>
          <p:cNvSpPr/>
          <p:nvPr/>
        </p:nvSpPr>
        <p:spPr>
          <a:xfrm>
            <a:off x="845280" y="5941800"/>
            <a:ext cx="10602720" cy="1173960"/>
          </a:xfrm>
          <a:prstGeom prst="rect">
            <a:avLst/>
          </a:prstGeom>
          <a:noFill/>
          <a:ln>
            <a:noFill/>
          </a:ln>
        </p:spPr>
        <p:style>
          <a:lnRef idx="0"/>
          <a:fillRef idx="0"/>
          <a:effectRef idx="0"/>
          <a:fontRef idx="minor"/>
        </p:style>
        <p:txBody>
          <a:bodyPr tIns="91440" bIns="91440"/>
          <a:p>
            <a:pPr>
              <a:lnSpc>
                <a:spcPct val="100000"/>
              </a:lnSpc>
            </a:pPr>
            <a:r>
              <a:rPr b="0" lang="en-IN" sz="2100" spc="-1" strike="noStrike">
                <a:solidFill>
                  <a:srgbClr val="181717"/>
                </a:solidFill>
                <a:latin typeface="Calibri"/>
                <a:ea typeface="Calibri"/>
              </a:rPr>
              <a:t>The average turn around time of these processes is __________milliseconds</a:t>
            </a:r>
            <a:endParaRPr b="0" lang="en-IN" sz="2100" spc="-1" strike="noStrike">
              <a:latin typeface="Arial"/>
            </a:endParaRPr>
          </a:p>
          <a:p>
            <a:pPr>
              <a:lnSpc>
                <a:spcPct val="100000"/>
              </a:lnSpc>
            </a:pPr>
            <a:endParaRPr b="0" lang="en-IN" sz="2100" spc="-1" strike="noStrike">
              <a:latin typeface="Arial"/>
            </a:endParaRPr>
          </a:p>
          <a:p>
            <a:pPr>
              <a:lnSpc>
                <a:spcPct val="100000"/>
              </a:lnSpc>
            </a:pPr>
            <a:endParaRPr b="0" lang="en-IN" sz="2100" spc="-1" strike="noStrike">
              <a:latin typeface="Arial"/>
            </a:endParaRPr>
          </a:p>
        </p:txBody>
      </p:sp>
    </p:spTree>
  </p:cSld>
  <p:timing>
    <p:tnLst>
      <p:par>
        <p:cTn id="87" dur="indefinite" restart="never" nodeType="tmRoot">
          <p:childTnLst>
            <p:seq>
              <p:cTn id="88" dur="indefinite" nodeType="mainSeq"/>
              <p:prevCondLst>
                <p:cond delay="0" evt="onPrev">
                  <p:tgtEl>
                    <p:sldTgt/>
                  </p:tgtEl>
                </p:cond>
              </p:prevCondLst>
              <p:nextCondLst>
                <p:cond delay="0"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Shape 1"/>
          <p:cNvSpPr txBox="1"/>
          <p:nvPr/>
        </p:nvSpPr>
        <p:spPr>
          <a:xfrm>
            <a:off x="845280" y="1381320"/>
            <a:ext cx="10515240" cy="4798800"/>
          </a:xfrm>
          <a:prstGeom prst="rect">
            <a:avLst/>
          </a:prstGeom>
          <a:noFill/>
          <a:ln>
            <a:noFill/>
          </a:ln>
        </p:spPr>
        <p:txBody>
          <a:bodyPr>
            <a:normAutofit/>
          </a:bodyPr>
          <a:p>
            <a:pPr>
              <a:lnSpc>
                <a:spcPct val="90000"/>
              </a:lnSpc>
              <a:spcBef>
                <a:spcPts val="1001"/>
              </a:spcBef>
            </a:pPr>
            <a:r>
              <a:rPr b="0" lang="en-IN" sz="2100" spc="-1" strike="noStrike">
                <a:solidFill>
                  <a:srgbClr val="181717"/>
                </a:solidFill>
                <a:latin typeface="Calibri"/>
                <a:ea typeface="Calibri"/>
              </a:rPr>
              <a:t>Ques. 4: Round Robin scheduler implemented a version with feedback queues. There are two Ready queues in the system. All new processes are placed in the higher priority Ready Queue and interrupted processes are placed in the lower priority ready queue. If there are any processes in the higher priority ready queue then first scheduled them by RR before scheduling lower priority ready queue processes. Consider the following processes with the arrival times and burst times</a:t>
            </a:r>
            <a:endParaRPr b="0" lang="en-IN" sz="2100" spc="-1" strike="noStrike">
              <a:solidFill>
                <a:srgbClr val="000000"/>
              </a:solidFill>
              <a:latin typeface="Arial"/>
            </a:endParaRPr>
          </a:p>
        </p:txBody>
      </p:sp>
      <p:pic>
        <p:nvPicPr>
          <p:cNvPr id="152" name="Google Shape;337;p45" descr=""/>
          <p:cNvPicPr/>
          <p:nvPr/>
        </p:nvPicPr>
        <p:blipFill>
          <a:blip r:embed="rId1"/>
          <a:stretch/>
        </p:blipFill>
        <p:spPr>
          <a:xfrm>
            <a:off x="1915200" y="3276720"/>
            <a:ext cx="9445320" cy="1336680"/>
          </a:xfrm>
          <a:prstGeom prst="rect">
            <a:avLst/>
          </a:prstGeom>
          <a:ln>
            <a:noFill/>
          </a:ln>
        </p:spPr>
      </p:pic>
      <p:sp>
        <p:nvSpPr>
          <p:cNvPr id="153" name="CustomShape 2"/>
          <p:cNvSpPr/>
          <p:nvPr/>
        </p:nvSpPr>
        <p:spPr>
          <a:xfrm>
            <a:off x="274320" y="4739760"/>
            <a:ext cx="11783520" cy="1932120"/>
          </a:xfrm>
          <a:prstGeom prst="rect">
            <a:avLst/>
          </a:prstGeom>
          <a:noFill/>
          <a:ln>
            <a:noFill/>
          </a:ln>
        </p:spPr>
        <p:style>
          <a:lnRef idx="0"/>
          <a:fillRef idx="0"/>
          <a:effectRef idx="0"/>
          <a:fontRef idx="minor"/>
        </p:style>
        <p:txBody>
          <a:bodyPr tIns="91440" bIns="91440"/>
          <a:p>
            <a:pPr marL="279360">
              <a:lnSpc>
                <a:spcPct val="115000"/>
              </a:lnSpc>
            </a:pPr>
            <a:r>
              <a:rPr b="0" lang="en-IN" sz="1900" spc="-1" strike="noStrike">
                <a:solidFill>
                  <a:srgbClr val="000000"/>
                </a:solidFill>
                <a:latin typeface="Calibri"/>
                <a:ea typeface="Calibri"/>
              </a:rPr>
              <a:t>What is the average turn around time of all processes in the given system with time quantum of 2 units for the both ready queues?</a:t>
            </a:r>
            <a:endParaRPr b="0" lang="en-IN" sz="1900" spc="-1" strike="noStrike">
              <a:latin typeface="Arial"/>
            </a:endParaRPr>
          </a:p>
          <a:p>
            <a:pPr marL="279360">
              <a:lnSpc>
                <a:spcPct val="115000"/>
              </a:lnSpc>
              <a:spcBef>
                <a:spcPts val="499"/>
              </a:spcBef>
            </a:pPr>
            <a:r>
              <a:rPr b="0" lang="en-IN" sz="1700" spc="-1" strike="noStrike">
                <a:solidFill>
                  <a:srgbClr val="000000"/>
                </a:solidFill>
                <a:latin typeface="Calibri"/>
                <a:ea typeface="Calibri"/>
              </a:rPr>
              <a:t>(a) 10                 </a:t>
            </a:r>
            <a:r>
              <a:rPr b="0" lang="en-IN" sz="1700" spc="-1" strike="noStrike">
                <a:solidFill>
                  <a:srgbClr val="000000"/>
                </a:solidFill>
                <a:latin typeface="Calibri"/>
                <a:ea typeface="Calibri"/>
              </a:rPr>
              <a:t>	</a:t>
            </a:r>
            <a:r>
              <a:rPr b="0" lang="en-IN" sz="1700" spc="-1" strike="noStrike">
                <a:solidFill>
                  <a:srgbClr val="000000"/>
                </a:solidFill>
                <a:latin typeface="Calibri"/>
                <a:ea typeface="Calibri"/>
              </a:rPr>
              <a:t>(c) 7.3</a:t>
            </a:r>
            <a:endParaRPr b="0" lang="en-IN" sz="1700" spc="-1" strike="noStrike">
              <a:latin typeface="Arial"/>
            </a:endParaRPr>
          </a:p>
          <a:p>
            <a:pPr marL="279360">
              <a:lnSpc>
                <a:spcPct val="115000"/>
              </a:lnSpc>
              <a:spcBef>
                <a:spcPts val="499"/>
              </a:spcBef>
            </a:pPr>
            <a:r>
              <a:rPr b="0" lang="en-IN" sz="1700" spc="-1" strike="noStrike">
                <a:solidFill>
                  <a:srgbClr val="000000"/>
                </a:solidFill>
                <a:latin typeface="Calibri"/>
                <a:ea typeface="Calibri"/>
              </a:rPr>
              <a:t> </a:t>
            </a:r>
            <a:endParaRPr b="0" lang="en-IN" sz="1700" spc="-1" strike="noStrike">
              <a:latin typeface="Arial"/>
            </a:endParaRPr>
          </a:p>
          <a:p>
            <a:pPr marL="279360">
              <a:lnSpc>
                <a:spcPct val="115000"/>
              </a:lnSpc>
              <a:spcBef>
                <a:spcPts val="499"/>
              </a:spcBef>
              <a:spcAft>
                <a:spcPts val="499"/>
              </a:spcAft>
            </a:pPr>
            <a:r>
              <a:rPr b="0" lang="en-IN" sz="1700" spc="-1" strike="noStrike">
                <a:solidFill>
                  <a:srgbClr val="000000"/>
                </a:solidFill>
                <a:latin typeface="Calibri"/>
                <a:ea typeface="Calibri"/>
              </a:rPr>
              <a:t>(b) 8.2               </a:t>
            </a:r>
            <a:r>
              <a:rPr b="0" lang="en-IN" sz="1700" spc="-1" strike="noStrike">
                <a:solidFill>
                  <a:srgbClr val="000000"/>
                </a:solidFill>
                <a:latin typeface="Calibri"/>
                <a:ea typeface="Calibri"/>
              </a:rPr>
              <a:t>	</a:t>
            </a:r>
            <a:r>
              <a:rPr b="0" lang="en-IN" sz="1700" spc="-1" strike="noStrike">
                <a:solidFill>
                  <a:srgbClr val="000000"/>
                </a:solidFill>
                <a:latin typeface="Calibri"/>
                <a:ea typeface="Calibri"/>
              </a:rPr>
              <a:t>(d) 9.8</a:t>
            </a:r>
            <a:endParaRPr b="0" lang="en-IN" sz="1700" spc="-1" strike="noStrike">
              <a:latin typeface="Arial"/>
            </a:endParaRPr>
          </a:p>
        </p:txBody>
      </p:sp>
    </p:spTree>
  </p:cSld>
  <p:timing>
    <p:tnLst>
      <p:par>
        <p:cTn id="89" dur="indefinite" restart="never" nodeType="tmRoot">
          <p:childTnLst>
            <p:seq>
              <p:cTn id="90" dur="indefinite" nodeType="mainSeq"/>
              <p:prevCondLst>
                <p:cond delay="0" evt="onPrev">
                  <p:tgtEl>
                    <p:sldTgt/>
                  </p:tgtEl>
                </p:cond>
              </p:prevCondLst>
              <p:nextCondLst>
                <p:cond delay="0"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Shape 1"/>
          <p:cNvSpPr txBox="1"/>
          <p:nvPr/>
        </p:nvSpPr>
        <p:spPr>
          <a:xfrm>
            <a:off x="845280" y="1381320"/>
            <a:ext cx="10515240" cy="4798800"/>
          </a:xfrm>
          <a:prstGeom prst="rect">
            <a:avLst/>
          </a:prstGeom>
          <a:noFill/>
          <a:ln>
            <a:noFill/>
          </a:ln>
        </p:spPr>
        <p:txBody>
          <a:bodyPr>
            <a:normAutofit/>
          </a:bodyPr>
          <a:p>
            <a:pPr>
              <a:lnSpc>
                <a:spcPct val="90000"/>
              </a:lnSpc>
            </a:pPr>
            <a:r>
              <a:rPr b="0" lang="en-IN" sz="2100" spc="-1" strike="noStrike">
                <a:solidFill>
                  <a:srgbClr val="000000"/>
                </a:solidFill>
                <a:latin typeface="Calibri"/>
                <a:ea typeface="Calibri"/>
              </a:rPr>
              <a:t>Que .5 : Consider n processes sharing the cpu in round robin algorithm . The context switching time is ‘s’ units. Then what must be the time quantum q .Such that, the no. of context switches are reduced, but at the same time each process is guaranteed to get its turn/job at the cpu after ‘t’ seconds of time.</a:t>
            </a:r>
            <a:endParaRPr b="0" lang="en-IN" sz="2100" spc="-1" strike="noStrike">
              <a:solidFill>
                <a:srgbClr val="000000"/>
              </a:solidFill>
              <a:latin typeface="Arial"/>
            </a:endParaRPr>
          </a:p>
          <a:p>
            <a:pPr>
              <a:lnSpc>
                <a:spcPct val="90000"/>
              </a:lnSpc>
            </a:pPr>
            <a:endParaRPr b="0" lang="en-IN" sz="2100" spc="-1" strike="noStrike">
              <a:solidFill>
                <a:srgbClr val="000000"/>
              </a:solidFill>
              <a:latin typeface="Arial"/>
            </a:endParaRPr>
          </a:p>
          <a:p>
            <a:pPr marL="457200" indent="-361440">
              <a:lnSpc>
                <a:spcPct val="90000"/>
              </a:lnSpc>
              <a:buClr>
                <a:srgbClr val="000000"/>
              </a:buClr>
              <a:buFont typeface="Calibri"/>
              <a:buAutoNum type="alphaLcParenR"/>
            </a:pPr>
            <a:r>
              <a:rPr b="0" lang="en-IN" sz="2100" spc="-1" strike="noStrike">
                <a:solidFill>
                  <a:srgbClr val="000000"/>
                </a:solidFill>
                <a:latin typeface="Calibri"/>
                <a:ea typeface="Calibri"/>
              </a:rPr>
              <a:t>q= (t-ns)/n-1                           c) q= (t-ns)/n+1</a:t>
            </a:r>
            <a:endParaRPr b="0" lang="en-IN" sz="2100" spc="-1" strike="noStrike">
              <a:solidFill>
                <a:srgbClr val="000000"/>
              </a:solidFill>
              <a:latin typeface="Arial"/>
            </a:endParaRPr>
          </a:p>
          <a:p>
            <a:pPr marL="457200">
              <a:lnSpc>
                <a:spcPct val="90000"/>
              </a:lnSpc>
            </a:pPr>
            <a:endParaRPr b="0" lang="en-IN" sz="2100" spc="-1" strike="noStrike">
              <a:solidFill>
                <a:srgbClr val="000000"/>
              </a:solidFill>
              <a:latin typeface="Arial"/>
            </a:endParaRPr>
          </a:p>
          <a:p>
            <a:pPr marL="457200" indent="-361440">
              <a:lnSpc>
                <a:spcPct val="90000"/>
              </a:lnSpc>
              <a:buClr>
                <a:srgbClr val="000000"/>
              </a:buClr>
              <a:buFont typeface="Calibri"/>
              <a:buAutoNum type="alphaLcParenR"/>
            </a:pPr>
            <a:r>
              <a:rPr b="0" lang="en-IN" sz="2100" spc="-1" strike="noStrike">
                <a:solidFill>
                  <a:srgbClr val="000000"/>
                </a:solidFill>
                <a:latin typeface="Calibri"/>
                <a:ea typeface="Calibri"/>
              </a:rPr>
              <a:t>q= (t+ns)/n+1                           d) q= (t+ns)/n-1</a:t>
            </a:r>
            <a:endParaRPr b="0" lang="en-IN" sz="2100" spc="-1" strike="noStrike">
              <a:solidFill>
                <a:srgbClr val="000000"/>
              </a:solidFill>
              <a:latin typeface="Arial"/>
            </a:endParaRPr>
          </a:p>
          <a:p>
            <a:pPr marL="457200">
              <a:lnSpc>
                <a:spcPct val="90000"/>
              </a:lnSpc>
            </a:pPr>
            <a:endParaRPr b="0" lang="en-IN" sz="2100" spc="-1" strike="noStrike">
              <a:solidFill>
                <a:srgbClr val="000000"/>
              </a:solidFill>
              <a:latin typeface="Arial"/>
            </a:endParaRPr>
          </a:p>
          <a:p>
            <a:pPr>
              <a:lnSpc>
                <a:spcPct val="90000"/>
              </a:lnSpc>
              <a:spcBef>
                <a:spcPts val="1001"/>
              </a:spcBef>
            </a:pPr>
            <a:endParaRPr b="0" lang="en-IN" sz="2100" spc="-1" strike="noStrike">
              <a:solidFill>
                <a:srgbClr val="000000"/>
              </a:solidFill>
              <a:latin typeface="Arial"/>
            </a:endParaRPr>
          </a:p>
        </p:txBody>
      </p:sp>
    </p:spTree>
  </p:cSld>
  <p:timing>
    <p:tnLst>
      <p:par>
        <p:cTn id="91" dur="indefinite" restart="never" nodeType="tmRoot">
          <p:childTnLst>
            <p:seq>
              <p:cTn id="9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LibreOffice/6.0.7.3$Linux_X86_64 LibreOffice_project/00m0$Build-3</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2024-08-27T18:35:29Z</dcterms:modified>
  <cp:revision>2</cp:revision>
  <dc:subject/>
  <dc:title/>
</cp:coreProperties>
</file>