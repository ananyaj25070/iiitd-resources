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41"/>
  </p:notesMasterIdLst>
  <p:sldIdLst>
    <p:sldId id="256" r:id="rId2"/>
    <p:sldId id="259" r:id="rId3"/>
    <p:sldId id="287" r:id="rId4"/>
    <p:sldId id="261" r:id="rId5"/>
    <p:sldId id="262" r:id="rId6"/>
    <p:sldId id="263" r:id="rId7"/>
    <p:sldId id="264" r:id="rId8"/>
    <p:sldId id="283" r:id="rId9"/>
    <p:sldId id="265" r:id="rId10"/>
    <p:sldId id="266" r:id="rId11"/>
    <p:sldId id="267" r:id="rId12"/>
    <p:sldId id="273" r:id="rId13"/>
    <p:sldId id="268" r:id="rId14"/>
    <p:sldId id="269" r:id="rId15"/>
    <p:sldId id="289" r:id="rId16"/>
    <p:sldId id="290" r:id="rId17"/>
    <p:sldId id="291" r:id="rId18"/>
    <p:sldId id="294" r:id="rId19"/>
    <p:sldId id="270" r:id="rId20"/>
    <p:sldId id="272" r:id="rId21"/>
    <p:sldId id="271" r:id="rId22"/>
    <p:sldId id="288" r:id="rId23"/>
    <p:sldId id="274" r:id="rId24"/>
    <p:sldId id="258" r:id="rId25"/>
    <p:sldId id="275" r:id="rId26"/>
    <p:sldId id="295" r:id="rId27"/>
    <p:sldId id="296" r:id="rId28"/>
    <p:sldId id="292" r:id="rId29"/>
    <p:sldId id="293" r:id="rId30"/>
    <p:sldId id="277" r:id="rId31"/>
    <p:sldId id="276" r:id="rId32"/>
    <p:sldId id="278" r:id="rId33"/>
    <p:sldId id="279" r:id="rId34"/>
    <p:sldId id="280" r:id="rId35"/>
    <p:sldId id="281" r:id="rId36"/>
    <p:sldId id="282" r:id="rId37"/>
    <p:sldId id="284" r:id="rId38"/>
    <p:sldId id="285" r:id="rId39"/>
    <p:sldId id="286" r:id="rId40"/>
  </p:sldIdLst>
  <p:sldSz cx="9144000" cy="5143500" type="screen16x9"/>
  <p:notesSz cx="6858000" cy="9144000"/>
  <p:embeddedFontLst>
    <p:embeddedFont>
      <p:font typeface="Georgia" panose="02040502050405020303" pitchFamily="18" charset="0"/>
      <p:regular r:id="rId42"/>
      <p:bold r:id="rId43"/>
      <p:italic r:id="rId44"/>
      <p:boldItalic r:id="rId45"/>
    </p:embeddedFont>
    <p:embeddedFont>
      <p:font typeface="Quattrocento Sans" panose="020B0502050000020003"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5"/>
    <p:restoredTop sz="94829"/>
  </p:normalViewPr>
  <p:slideViewPr>
    <p:cSldViewPr snapToGrid="0">
      <p:cViewPr varScale="1">
        <p:scale>
          <a:sx n="202" d="100"/>
          <a:sy n="202" d="100"/>
        </p:scale>
        <p:origin x="7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4f871285f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4f871285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1fb3755b38_0_3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1fb3755b38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1fb3755b38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1fb3755b38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 improvement in the performance -&gt; no learning</a:t>
            </a:r>
            <a:endParaRPr/>
          </a:p>
        </p:txBody>
      </p:sp>
    </p:spTree>
    <p:extLst>
      <p:ext uri="{BB962C8B-B14F-4D97-AF65-F5344CB8AC3E}">
        <p14:creationId xmlns:p14="http://schemas.microsoft.com/office/powerpoint/2010/main" val="3283415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1fb3755b38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1fb3755b38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1fb3755b38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1fb3755b38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Weather Forecasting vs Temperature prediction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1fb3755b38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1fb3755b38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Actual Class and Predicted Class</a:t>
            </a:r>
            <a:endParaRPr/>
          </a:p>
          <a:p>
            <a:pPr marL="0" lvl="0" indent="0" algn="l" rtl="0">
              <a:spcBef>
                <a:spcPts val="0"/>
              </a:spcBef>
              <a:spcAft>
                <a:spcPts val="0"/>
              </a:spcAft>
              <a:buNone/>
            </a:pPr>
            <a:r>
              <a:rPr lang="en"/>
              <a:t>Line for points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1fb3755b38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1fb3755b38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Supervised: Spam Detection</a:t>
            </a:r>
            <a:endParaRPr/>
          </a:p>
          <a:p>
            <a:pPr marL="457200" lvl="0" indent="-298450" algn="l" rtl="0">
              <a:spcBef>
                <a:spcPts val="0"/>
              </a:spcBef>
              <a:spcAft>
                <a:spcPts val="0"/>
              </a:spcAft>
              <a:buSzPts val="1100"/>
              <a:buAutoNum type="arabicPeriod"/>
            </a:pPr>
            <a:r>
              <a:rPr lang="en"/>
              <a:t>Unsupervised: Baby in mother’s womb - heart beats</a:t>
            </a:r>
            <a:endParaRPr/>
          </a:p>
          <a:p>
            <a:pPr marL="457200" lvl="0" indent="-298450" algn="l" rtl="0">
              <a:spcBef>
                <a:spcPts val="0"/>
              </a:spcBef>
              <a:spcAft>
                <a:spcPts val="0"/>
              </a:spcAft>
              <a:buSzPts val="1100"/>
              <a:buAutoNum type="arabicPeriod"/>
            </a:pPr>
            <a:r>
              <a:rPr lang="en"/>
              <a:t>Reinforcement: Baby with remote control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1fb3755b38_0_10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21fb3755b38_0_10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55" name="Google Shape;355;g21fb3755b38_0_10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8</a:t>
            </a:fld>
            <a:endParaRPr/>
          </a:p>
        </p:txBody>
      </p:sp>
    </p:spTree>
    <p:extLst>
      <p:ext uri="{BB962C8B-B14F-4D97-AF65-F5344CB8AC3E}">
        <p14:creationId xmlns:p14="http://schemas.microsoft.com/office/powerpoint/2010/main" val="2220847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1fb3755b38_0_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1fb3755b38_0_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 improvement in the performance -&gt; no learning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1fb3755b38_0_5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21fb3755b38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20c85664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20c85664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Supervised: Spam Detection</a:t>
            </a:r>
            <a:endParaRPr/>
          </a:p>
          <a:p>
            <a:pPr marL="457200" lvl="0" indent="-298450" algn="l" rtl="0">
              <a:spcBef>
                <a:spcPts val="0"/>
              </a:spcBef>
              <a:spcAft>
                <a:spcPts val="0"/>
              </a:spcAft>
              <a:buSzPts val="1100"/>
              <a:buAutoNum type="arabicPeriod"/>
            </a:pPr>
            <a:r>
              <a:rPr lang="en"/>
              <a:t>Unsupervised: Baby in mother’s womb - heart beats</a:t>
            </a:r>
            <a:endParaRPr/>
          </a:p>
          <a:p>
            <a:pPr marL="457200" lvl="0" indent="-298450" algn="l" rtl="0">
              <a:spcBef>
                <a:spcPts val="0"/>
              </a:spcBef>
              <a:spcAft>
                <a:spcPts val="0"/>
              </a:spcAft>
              <a:buSzPts val="1100"/>
              <a:buAutoNum type="arabicPeriod"/>
            </a:pPr>
            <a:r>
              <a:rPr lang="en"/>
              <a:t>Reinforcement: Baby with remote control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200388a9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200388a9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8420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1fb3755b38_0_7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21fb3755b38_0_7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51" name="Google Shape;251;g21fb3755b38_0_7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1fb3755b38_0_10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21fb3755b38_0_10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58" name="Google Shape;258;g21fb3755b38_0_10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5e3a57f289_0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5e3a57f289_0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5e3a57f289_0_1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15</a:t>
            </a:fld>
            <a:endParaRPr/>
          </a:p>
        </p:txBody>
      </p:sp>
    </p:spTree>
    <p:extLst>
      <p:ext uri="{BB962C8B-B14F-4D97-AF65-F5344CB8AC3E}">
        <p14:creationId xmlns:p14="http://schemas.microsoft.com/office/powerpoint/2010/main" val="3603109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3a9a017dd0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13a9a017dd0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22" name="Google Shape;222;g13a9a017dd0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3a9a017dd0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g13a9a017dd0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29" name="Google Shape;229;g13a9a017dd0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3caca93e5e_1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g13caca93e5e_1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just" rtl="0">
              <a:lnSpc>
                <a:spcPct val="80000"/>
              </a:lnSpc>
              <a:spcBef>
                <a:spcPts val="800"/>
              </a:spcBef>
              <a:spcAft>
                <a:spcPts val="0"/>
              </a:spcAft>
              <a:buClr>
                <a:schemeClr val="dk1"/>
              </a:buClr>
              <a:buSzPts val="1100"/>
              <a:buFont typeface="Arial"/>
              <a:buNone/>
            </a:pPr>
            <a:endParaRPr sz="1050" b="1">
              <a:solidFill>
                <a:schemeClr val="dk1"/>
              </a:solidFill>
              <a:highlight>
                <a:srgbClr val="FFFFFF"/>
              </a:highlight>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44" name="Google Shape;344;g13caca93e5e_1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1fb3755b38_0_9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21fb3755b38_0_9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65" name="Google Shape;265;g21fb3755b38_0_9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1fb3755b38_0_9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g21fb3755b38_0_9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79" name="Google Shape;279;g21fb3755b38_0_9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1fb3755b38_0_9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g21fb3755b38_0_9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72" name="Google Shape;272;g21fb3755b38_0_9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200388a9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200388a9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6188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1fb3755b38_0_10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21fb3755b38_0_10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92" name="Google Shape;292;g21fb3755b38_0_10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65af1cc2a5_0_9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65af1cc2a5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1fb3755b38_0_9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21fb3755b38_0_9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00" name="Google Shape;300;g21fb3755b38_0_9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0B132070-B4AB-3868-B81D-D6CEC78E17CB}"/>
            </a:ext>
          </a:extLst>
        </p:cNvPr>
        <p:cNvGrpSpPr/>
        <p:nvPr/>
      </p:nvGrpSpPr>
      <p:grpSpPr>
        <a:xfrm>
          <a:off x="0" y="0"/>
          <a:ext cx="0" cy="0"/>
          <a:chOff x="0" y="0"/>
          <a:chExt cx="0" cy="0"/>
        </a:xfrm>
      </p:grpSpPr>
      <p:sp>
        <p:nvSpPr>
          <p:cNvPr id="198" name="Google Shape;198;g65af1cc2a5_0_94:notes">
            <a:extLst>
              <a:ext uri="{FF2B5EF4-FFF2-40B4-BE49-F238E27FC236}">
                <a16:creationId xmlns:a16="http://schemas.microsoft.com/office/drawing/2014/main" id="{5B895114-6CCB-4EE2-0B9B-1B80C3EF7D44}"/>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65af1cc2a5_0_94:notes">
            <a:extLst>
              <a:ext uri="{FF2B5EF4-FFF2-40B4-BE49-F238E27FC236}">
                <a16:creationId xmlns:a16="http://schemas.microsoft.com/office/drawing/2014/main" id="{2682EC32-C04F-B341-BE61-E50DD54945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52042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F4FADA7B-8B66-4269-BDB4-8BA0D77891C4}"/>
            </a:ext>
          </a:extLst>
        </p:cNvPr>
        <p:cNvGrpSpPr/>
        <p:nvPr/>
      </p:nvGrpSpPr>
      <p:grpSpPr>
        <a:xfrm>
          <a:off x="0" y="0"/>
          <a:ext cx="0" cy="0"/>
          <a:chOff x="0" y="0"/>
          <a:chExt cx="0" cy="0"/>
        </a:xfrm>
      </p:grpSpPr>
      <p:sp>
        <p:nvSpPr>
          <p:cNvPr id="198" name="Google Shape;198;g65af1cc2a5_0_94:notes">
            <a:extLst>
              <a:ext uri="{FF2B5EF4-FFF2-40B4-BE49-F238E27FC236}">
                <a16:creationId xmlns:a16="http://schemas.microsoft.com/office/drawing/2014/main" id="{FC63C728-D5E5-764B-146B-319886A88348}"/>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65af1cc2a5_0_94:notes">
            <a:extLst>
              <a:ext uri="{FF2B5EF4-FFF2-40B4-BE49-F238E27FC236}">
                <a16:creationId xmlns:a16="http://schemas.microsoft.com/office/drawing/2014/main" id="{FB78EABB-6CD5-2AD1-8BAF-DCE9C32A22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04317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65af1cc2a5_0_3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65af1cc2a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5af1cc2a5_0_5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65af1cc2a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1fb3755b38_0_10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21fb3755b38_0_10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14" name="Google Shape;314;g21fb3755b38_0_10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1fb3755b38_0_9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21fb3755b38_0_9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07" name="Google Shape;307;g21fb3755b38_0_9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21e888971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21e88897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1fb3755b38_0_10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g21fb3755b38_0_10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27" name="Google Shape;327;g21fb3755b38_0_10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1fb3755b38_0_10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g21fb3755b38_0_10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35" name="Google Shape;335;g21fb3755b38_0_10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1fb3755b38_0_10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g21fb3755b38_0_10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42" name="Google Shape;342;g21fb3755b38_0_10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200388a97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200388a97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1fb3755b38_0_10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g21fb3755b38_0_10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62" name="Google Shape;362;g21fb3755b38_0_10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1fb3755b38_0_10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g21fb3755b38_0_10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 measures how good we are on a particular input value 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69" name="Google Shape;369;g21fb3755b38_0_10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e9cb6fb953_2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e9cb6fb953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EADA7"/>
        </a:solidFill>
        <a:effectLst/>
      </p:bgPr>
    </p:bg>
    <p:spTree>
      <p:nvGrpSpPr>
        <p:cNvPr id="1" name="Shape 11"/>
        <p:cNvGrpSpPr/>
        <p:nvPr/>
      </p:nvGrpSpPr>
      <p:grpSpPr>
        <a:xfrm>
          <a:off x="0" y="0"/>
          <a:ext cx="0" cy="0"/>
          <a:chOff x="0" y="0"/>
          <a:chExt cx="0" cy="0"/>
        </a:xfrm>
      </p:grpSpPr>
      <p:pic>
        <p:nvPicPr>
          <p:cNvPr id="12" name="Google Shape;12;p2" descr="IIITD_pptslide_jpeg-03.jpg"/>
          <p:cNvPicPr preferRelativeResize="0"/>
          <p:nvPr/>
        </p:nvPicPr>
        <p:blipFill rotWithShape="1">
          <a:blip r:embed="rId2">
            <a:alphaModFix/>
          </a:blip>
          <a:srcRect l="72917" t="69259"/>
          <a:stretch/>
        </p:blipFill>
        <p:spPr>
          <a:xfrm>
            <a:off x="7286625" y="3562350"/>
            <a:ext cx="1857374" cy="1581152"/>
          </a:xfrm>
          <a:prstGeom prst="rect">
            <a:avLst/>
          </a:prstGeom>
          <a:noFill/>
          <a:ln>
            <a:noFill/>
          </a:ln>
        </p:spPr>
      </p:pic>
      <p:sp>
        <p:nvSpPr>
          <p:cNvPr id="13" name="Google Shape;13;p2"/>
          <p:cNvSpPr txBox="1">
            <a:spLocks noGrp="1"/>
          </p:cNvSpPr>
          <p:nvPr>
            <p:ph type="ctrTitle"/>
          </p:nvPr>
        </p:nvSpPr>
        <p:spPr>
          <a:xfrm>
            <a:off x="1143000" y="797753"/>
            <a:ext cx="7315200" cy="1406400"/>
          </a:xfrm>
          <a:prstGeom prst="rect">
            <a:avLst/>
          </a:prstGeom>
          <a:noFill/>
          <a:ln>
            <a:noFill/>
          </a:ln>
        </p:spPr>
        <p:txBody>
          <a:bodyPr spcFirstLastPara="1" wrap="square" lIns="68575" tIns="34275" rIns="68575" bIns="34275" anchor="b" anchorCtr="0">
            <a:noAutofit/>
          </a:bodyPr>
          <a:lstStyle>
            <a:lvl1pPr lvl="0" algn="r" rtl="0">
              <a:lnSpc>
                <a:spcPct val="90000"/>
              </a:lnSpc>
              <a:spcBef>
                <a:spcPts val="0"/>
              </a:spcBef>
              <a:spcAft>
                <a:spcPts val="0"/>
              </a:spcAft>
              <a:buClr>
                <a:schemeClr val="lt1"/>
              </a:buClr>
              <a:buSzPts val="4100"/>
              <a:buFont typeface="Quattrocento Sans"/>
              <a:buNone/>
              <a:defRPr sz="41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4" name="Google Shape;14;p2"/>
          <p:cNvSpPr txBox="1">
            <a:spLocks noGrp="1"/>
          </p:cNvSpPr>
          <p:nvPr>
            <p:ph type="subTitle" idx="1"/>
          </p:nvPr>
        </p:nvSpPr>
        <p:spPr>
          <a:xfrm>
            <a:off x="4114800" y="2430433"/>
            <a:ext cx="4343400" cy="1532100"/>
          </a:xfrm>
          <a:prstGeom prst="rect">
            <a:avLst/>
          </a:prstGeom>
          <a:noFill/>
          <a:ln>
            <a:noFill/>
          </a:ln>
        </p:spPr>
        <p:txBody>
          <a:bodyPr spcFirstLastPara="1" wrap="square" lIns="68575" tIns="34275" rIns="68575" bIns="34275" anchor="t" anchorCtr="0">
            <a:noAutofit/>
          </a:bodyPr>
          <a:lstStyle>
            <a:lvl1pPr lvl="0" algn="r" rtl="0">
              <a:lnSpc>
                <a:spcPct val="90000"/>
              </a:lnSpc>
              <a:spcBef>
                <a:spcPts val="800"/>
              </a:spcBef>
              <a:spcAft>
                <a:spcPts val="0"/>
              </a:spcAft>
              <a:buClr>
                <a:srgbClr val="E9F7F6"/>
              </a:buClr>
              <a:buSzPts val="1800"/>
              <a:buNone/>
              <a:defRPr sz="1800">
                <a:solidFill>
                  <a:srgbClr val="E9F7F6"/>
                </a:solidFill>
              </a:defRPr>
            </a:lvl1pPr>
            <a:lvl2pPr lvl="1" algn="ctr" rtl="0">
              <a:lnSpc>
                <a:spcPct val="90000"/>
              </a:lnSpc>
              <a:spcBef>
                <a:spcPts val="400"/>
              </a:spcBef>
              <a:spcAft>
                <a:spcPts val="0"/>
              </a:spcAft>
              <a:buClr>
                <a:schemeClr val="dk1"/>
              </a:buClr>
              <a:buSzPts val="2100"/>
              <a:buNone/>
              <a:defRPr sz="2100"/>
            </a:lvl2pPr>
            <a:lvl3pPr lvl="2" algn="ctr" rtl="0">
              <a:lnSpc>
                <a:spcPct val="90000"/>
              </a:lnSpc>
              <a:spcBef>
                <a:spcPts val="400"/>
              </a:spcBef>
              <a:spcAft>
                <a:spcPts val="0"/>
              </a:spcAft>
              <a:buClr>
                <a:schemeClr val="dk1"/>
              </a:buClr>
              <a:buSzPts val="1800"/>
              <a:buNone/>
              <a:defRPr sz="1800"/>
            </a:lvl3pPr>
            <a:lvl4pPr lvl="3" algn="ctr" rtl="0">
              <a:lnSpc>
                <a:spcPct val="90000"/>
              </a:lnSpc>
              <a:spcBef>
                <a:spcPts val="400"/>
              </a:spcBef>
              <a:spcAft>
                <a:spcPts val="0"/>
              </a:spcAft>
              <a:buClr>
                <a:schemeClr val="dk1"/>
              </a:buClr>
              <a:buSzPts val="1500"/>
              <a:buNone/>
              <a:defRPr sz="1500"/>
            </a:lvl4pPr>
            <a:lvl5pPr lvl="4" algn="ctr" rtl="0">
              <a:lnSpc>
                <a:spcPct val="90000"/>
              </a:lnSpc>
              <a:spcBef>
                <a:spcPts val="400"/>
              </a:spcBef>
              <a:spcAft>
                <a:spcPts val="0"/>
              </a:spcAft>
              <a:buClr>
                <a:schemeClr val="dk1"/>
              </a:buClr>
              <a:buSzPts val="1500"/>
              <a:buNone/>
              <a:defRPr sz="1500"/>
            </a:lvl5pPr>
            <a:lvl6pPr lvl="5" algn="ctr" rtl="0">
              <a:spcBef>
                <a:spcPts val="300"/>
              </a:spcBef>
              <a:spcAft>
                <a:spcPts val="0"/>
              </a:spcAft>
              <a:buClr>
                <a:schemeClr val="dk1"/>
              </a:buClr>
              <a:buSzPts val="1500"/>
              <a:buNone/>
              <a:defRPr sz="1500"/>
            </a:lvl6pPr>
            <a:lvl7pPr lvl="6" algn="ctr" rtl="0">
              <a:spcBef>
                <a:spcPts val="300"/>
              </a:spcBef>
              <a:spcAft>
                <a:spcPts val="0"/>
              </a:spcAft>
              <a:buClr>
                <a:schemeClr val="dk1"/>
              </a:buClr>
              <a:buSzPts val="1500"/>
              <a:buNone/>
              <a:defRPr sz="1500"/>
            </a:lvl7pPr>
            <a:lvl8pPr lvl="7" algn="ctr" rtl="0">
              <a:spcBef>
                <a:spcPts val="300"/>
              </a:spcBef>
              <a:spcAft>
                <a:spcPts val="0"/>
              </a:spcAft>
              <a:buClr>
                <a:schemeClr val="dk1"/>
              </a:buClr>
              <a:buSzPts val="1500"/>
              <a:buNone/>
              <a:defRPr sz="1500"/>
            </a:lvl8pPr>
            <a:lvl9pPr lvl="8" algn="ctr" rtl="0">
              <a:spcBef>
                <a:spcPts val="300"/>
              </a:spcBef>
              <a:spcAft>
                <a:spcPts val="0"/>
              </a:spcAft>
              <a:buClr>
                <a:schemeClr val="dk1"/>
              </a:buClr>
              <a:buSzPts val="1500"/>
              <a:buNone/>
              <a:defRPr sz="1500"/>
            </a:lvl9pPr>
          </a:lstStyle>
          <a:p>
            <a:endParaRPr/>
          </a:p>
        </p:txBody>
      </p:sp>
      <p:sp>
        <p:nvSpPr>
          <p:cNvPr id="15" name="Google Shape;15;p2"/>
          <p:cNvSpPr txBox="1">
            <a:spLocks noGrp="1"/>
          </p:cNvSpPr>
          <p:nvPr>
            <p:ph type="dt" idx="10"/>
          </p:nvPr>
        </p:nvSpPr>
        <p:spPr>
          <a:xfrm>
            <a:off x="411480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6" name="Google Shape;16;p2"/>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17" name="Google Shape;17;p2"/>
          <p:cNvCxnSpPr/>
          <p:nvPr/>
        </p:nvCxnSpPr>
        <p:spPr>
          <a:xfrm>
            <a:off x="685800" y="2317221"/>
            <a:ext cx="7772400" cy="0"/>
          </a:xfrm>
          <a:prstGeom prst="straightConnector1">
            <a:avLst/>
          </a:prstGeom>
          <a:noFill/>
          <a:ln w="9525" cap="flat" cmpd="sng">
            <a:solidFill>
              <a:schemeClr val="lt1"/>
            </a:solidFill>
            <a:prstDash val="solid"/>
            <a:round/>
            <a:headEnd type="none" w="sm" len="sm"/>
            <a:tailEnd type="none" w="sm" len="sm"/>
          </a:ln>
        </p:spPr>
      </p:cxnSp>
      <p:pic>
        <p:nvPicPr>
          <p:cNvPr id="18" name="Google Shape;18;p2"/>
          <p:cNvPicPr preferRelativeResize="0"/>
          <p:nvPr/>
        </p:nvPicPr>
        <p:blipFill rotWithShape="1">
          <a:blip r:embed="rId3">
            <a:alphaModFix/>
          </a:blip>
          <a:srcRect/>
          <a:stretch/>
        </p:blipFill>
        <p:spPr>
          <a:xfrm>
            <a:off x="685800" y="3401088"/>
            <a:ext cx="2260623" cy="124414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21" name="Google Shape;21;p3"/>
          <p:cNvSpPr txBox="1">
            <a:spLocks noGrp="1"/>
          </p:cNvSpPr>
          <p:nvPr>
            <p:ph type="body" idx="1"/>
          </p:nvPr>
        </p:nvSpPr>
        <p:spPr>
          <a:xfrm>
            <a:off x="633845" y="1035886"/>
            <a:ext cx="3867000" cy="619200"/>
          </a:xfrm>
          <a:prstGeom prst="rect">
            <a:avLst/>
          </a:prstGeom>
          <a:noFill/>
          <a:ln>
            <a:noFill/>
          </a:ln>
        </p:spPr>
        <p:txBody>
          <a:bodyPr spcFirstLastPara="1" wrap="square" lIns="68575" tIns="34275" rIns="68575" bIns="34275" anchor="b" anchorCtr="0">
            <a:noAutofit/>
          </a:bodyPr>
          <a:lstStyle>
            <a:lvl1pPr marL="457200" lvl="0" indent="-228600" algn="l" rtl="0">
              <a:lnSpc>
                <a:spcPct val="90000"/>
              </a:lnSpc>
              <a:spcBef>
                <a:spcPts val="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spcBef>
                <a:spcPts val="200"/>
              </a:spcBef>
              <a:spcAft>
                <a:spcPts val="0"/>
              </a:spcAft>
              <a:buClr>
                <a:schemeClr val="dk1"/>
              </a:buClr>
              <a:buSzPts val="1200"/>
              <a:buNone/>
              <a:defRPr sz="1200" b="1"/>
            </a:lvl6pPr>
            <a:lvl7pPr marL="3200400" lvl="6" indent="-228600" algn="l" rtl="0">
              <a:spcBef>
                <a:spcPts val="200"/>
              </a:spcBef>
              <a:spcAft>
                <a:spcPts val="0"/>
              </a:spcAft>
              <a:buClr>
                <a:schemeClr val="dk1"/>
              </a:buClr>
              <a:buSzPts val="1200"/>
              <a:buNone/>
              <a:defRPr sz="1200" b="1"/>
            </a:lvl7pPr>
            <a:lvl8pPr marL="3657600" lvl="7" indent="-228600" algn="l" rtl="0">
              <a:spcBef>
                <a:spcPts val="200"/>
              </a:spcBef>
              <a:spcAft>
                <a:spcPts val="0"/>
              </a:spcAft>
              <a:buClr>
                <a:schemeClr val="dk1"/>
              </a:buClr>
              <a:buSzPts val="1200"/>
              <a:buNone/>
              <a:defRPr sz="1200" b="1"/>
            </a:lvl8pPr>
            <a:lvl9pPr marL="4114800" lvl="8" indent="-228600" algn="l" rtl="0">
              <a:spcBef>
                <a:spcPts val="200"/>
              </a:spcBef>
              <a:spcAft>
                <a:spcPts val="0"/>
              </a:spcAft>
              <a:buClr>
                <a:schemeClr val="dk1"/>
              </a:buClr>
              <a:buSzPts val="1200"/>
              <a:buNone/>
              <a:defRPr sz="1200" b="1"/>
            </a:lvl9pPr>
          </a:lstStyle>
          <a:p>
            <a:endParaRPr/>
          </a:p>
        </p:txBody>
      </p:sp>
      <p:sp>
        <p:nvSpPr>
          <p:cNvPr id="22" name="Google Shape;22;p3"/>
          <p:cNvSpPr txBox="1">
            <a:spLocks noGrp="1"/>
          </p:cNvSpPr>
          <p:nvPr>
            <p:ph type="body" idx="2"/>
          </p:nvPr>
        </p:nvSpPr>
        <p:spPr>
          <a:xfrm>
            <a:off x="633845" y="1655160"/>
            <a:ext cx="3867000" cy="29859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23" name="Google Shape;23;p3"/>
          <p:cNvSpPr txBox="1">
            <a:spLocks noGrp="1"/>
          </p:cNvSpPr>
          <p:nvPr>
            <p:ph type="body" idx="3"/>
          </p:nvPr>
        </p:nvSpPr>
        <p:spPr>
          <a:xfrm>
            <a:off x="4629150" y="1035887"/>
            <a:ext cx="3886200" cy="619200"/>
          </a:xfrm>
          <a:prstGeom prst="rect">
            <a:avLst/>
          </a:prstGeom>
          <a:noFill/>
          <a:ln>
            <a:noFill/>
          </a:ln>
        </p:spPr>
        <p:txBody>
          <a:bodyPr spcFirstLastPara="1" wrap="square" lIns="68575" tIns="34275" rIns="68575" bIns="34275" anchor="b" anchorCtr="0">
            <a:noAutofit/>
          </a:bodyPr>
          <a:lstStyle>
            <a:lvl1pPr marL="457200" lvl="0" indent="-228600" algn="l" rtl="0">
              <a:lnSpc>
                <a:spcPct val="90000"/>
              </a:lnSpc>
              <a:spcBef>
                <a:spcPts val="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spcBef>
                <a:spcPts val="200"/>
              </a:spcBef>
              <a:spcAft>
                <a:spcPts val="0"/>
              </a:spcAft>
              <a:buClr>
                <a:schemeClr val="dk1"/>
              </a:buClr>
              <a:buSzPts val="1200"/>
              <a:buNone/>
              <a:defRPr sz="1200" b="1"/>
            </a:lvl6pPr>
            <a:lvl7pPr marL="3200400" lvl="6" indent="-228600" algn="l" rtl="0">
              <a:spcBef>
                <a:spcPts val="200"/>
              </a:spcBef>
              <a:spcAft>
                <a:spcPts val="0"/>
              </a:spcAft>
              <a:buClr>
                <a:schemeClr val="dk1"/>
              </a:buClr>
              <a:buSzPts val="1200"/>
              <a:buNone/>
              <a:defRPr sz="1200" b="1"/>
            </a:lvl7pPr>
            <a:lvl8pPr marL="3657600" lvl="7" indent="-228600" algn="l" rtl="0">
              <a:spcBef>
                <a:spcPts val="200"/>
              </a:spcBef>
              <a:spcAft>
                <a:spcPts val="0"/>
              </a:spcAft>
              <a:buClr>
                <a:schemeClr val="dk1"/>
              </a:buClr>
              <a:buSzPts val="1200"/>
              <a:buNone/>
              <a:defRPr sz="1200" b="1"/>
            </a:lvl8pPr>
            <a:lvl9pPr marL="4114800" lvl="8" indent="-228600" algn="l" rtl="0">
              <a:spcBef>
                <a:spcPts val="200"/>
              </a:spcBef>
              <a:spcAft>
                <a:spcPts val="0"/>
              </a:spcAft>
              <a:buClr>
                <a:schemeClr val="dk1"/>
              </a:buClr>
              <a:buSzPts val="1200"/>
              <a:buNone/>
              <a:defRPr sz="1200" b="1"/>
            </a:lvl9pPr>
          </a:lstStyle>
          <a:p>
            <a:endParaRPr/>
          </a:p>
        </p:txBody>
      </p:sp>
      <p:sp>
        <p:nvSpPr>
          <p:cNvPr id="24" name="Google Shape;24;p3"/>
          <p:cNvSpPr txBox="1">
            <a:spLocks noGrp="1"/>
          </p:cNvSpPr>
          <p:nvPr>
            <p:ph type="body" idx="4"/>
          </p:nvPr>
        </p:nvSpPr>
        <p:spPr>
          <a:xfrm>
            <a:off x="4629150" y="1655160"/>
            <a:ext cx="3886200" cy="29859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25" name="Google Shape;25;p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 name="Google Shape;26;p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 name="Google Shape;27;p3"/>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28" name="Google Shape;28;p3"/>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29" name="Google Shape;29;p3"/>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30" name="Google Shape;30;p3"/>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pic>
        <p:nvPicPr>
          <p:cNvPr id="32" name="Google Shape;32;p4"/>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33" name="Google Shape;33;p4"/>
          <p:cNvSpPr txBox="1">
            <a:spLocks noGrp="1"/>
          </p:cNvSpPr>
          <p:nvPr>
            <p:ph type="title"/>
          </p:nvPr>
        </p:nvSpPr>
        <p:spPr>
          <a:xfrm>
            <a:off x="623888" y="1284317"/>
            <a:ext cx="7886700" cy="21384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rgbClr val="3EADA7"/>
              </a:buClr>
              <a:buSzPts val="4500"/>
              <a:buFont typeface="Quattrocento Sans"/>
              <a:buNone/>
              <a:defRPr sz="4500"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4" name="Google Shape;34;p4"/>
          <p:cNvSpPr txBox="1">
            <a:spLocks noGrp="1"/>
          </p:cNvSpPr>
          <p:nvPr>
            <p:ph type="body" idx="1"/>
          </p:nvPr>
        </p:nvSpPr>
        <p:spPr>
          <a:xfrm>
            <a:off x="623888" y="3414475"/>
            <a:ext cx="7886700" cy="11253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rgbClr val="3F3F3F"/>
              </a:buClr>
              <a:buSzPts val="1800"/>
              <a:buNone/>
              <a:defRPr sz="1800">
                <a:solidFill>
                  <a:srgbClr val="3F3F3F"/>
                </a:solidFill>
              </a:defRPr>
            </a:lvl1pPr>
            <a:lvl2pPr marL="914400" lvl="1" indent="-228600" algn="l" rtl="0">
              <a:lnSpc>
                <a:spcPct val="90000"/>
              </a:lnSpc>
              <a:spcBef>
                <a:spcPts val="400"/>
              </a:spcBef>
              <a:spcAft>
                <a:spcPts val="0"/>
              </a:spcAft>
              <a:buClr>
                <a:srgbClr val="888888"/>
              </a:buClr>
              <a:buSzPts val="1400"/>
              <a:buNone/>
              <a:defRPr sz="1400">
                <a:solidFill>
                  <a:srgbClr val="888888"/>
                </a:solidFill>
              </a:defRPr>
            </a:lvl2pPr>
            <a:lvl3pPr marL="1371600" lvl="2" indent="-228600" algn="l" rtl="0">
              <a:lnSpc>
                <a:spcPct val="90000"/>
              </a:lnSpc>
              <a:spcBef>
                <a:spcPts val="400"/>
              </a:spcBef>
              <a:spcAft>
                <a:spcPts val="0"/>
              </a:spcAft>
              <a:buClr>
                <a:srgbClr val="888888"/>
              </a:buClr>
              <a:buSzPts val="1200"/>
              <a:buNone/>
              <a:defRPr sz="1200">
                <a:solidFill>
                  <a:srgbClr val="888888"/>
                </a:solidFill>
              </a:defRPr>
            </a:lvl3pPr>
            <a:lvl4pPr marL="1828800" lvl="3" indent="-228600" algn="l" rtl="0">
              <a:lnSpc>
                <a:spcPct val="90000"/>
              </a:lnSpc>
              <a:spcBef>
                <a:spcPts val="400"/>
              </a:spcBef>
              <a:spcAft>
                <a:spcPts val="0"/>
              </a:spcAft>
              <a:buClr>
                <a:srgbClr val="888888"/>
              </a:buClr>
              <a:buSzPts val="1100"/>
              <a:buNone/>
              <a:defRPr sz="1100">
                <a:solidFill>
                  <a:srgbClr val="888888"/>
                </a:solidFill>
              </a:defRPr>
            </a:lvl4pPr>
            <a:lvl5pPr marL="2286000" lvl="4" indent="-228600" algn="l" rtl="0">
              <a:lnSpc>
                <a:spcPct val="90000"/>
              </a:lnSpc>
              <a:spcBef>
                <a:spcPts val="400"/>
              </a:spcBef>
              <a:spcAft>
                <a:spcPts val="0"/>
              </a:spcAft>
              <a:buClr>
                <a:srgbClr val="888888"/>
              </a:buClr>
              <a:buSzPts val="1100"/>
              <a:buNone/>
              <a:defRPr sz="1100">
                <a:solidFill>
                  <a:srgbClr val="888888"/>
                </a:solidFill>
              </a:defRPr>
            </a:lvl5pPr>
            <a:lvl6pPr marL="2743200" lvl="5" indent="-228600" algn="l" rtl="0">
              <a:spcBef>
                <a:spcPts val="200"/>
              </a:spcBef>
              <a:spcAft>
                <a:spcPts val="0"/>
              </a:spcAft>
              <a:buClr>
                <a:srgbClr val="888888"/>
              </a:buClr>
              <a:buSzPts val="1100"/>
              <a:buNone/>
              <a:defRPr sz="1100">
                <a:solidFill>
                  <a:srgbClr val="888888"/>
                </a:solidFill>
              </a:defRPr>
            </a:lvl6pPr>
            <a:lvl7pPr marL="3200400" lvl="6" indent="-228600" algn="l" rtl="0">
              <a:spcBef>
                <a:spcPts val="200"/>
              </a:spcBef>
              <a:spcAft>
                <a:spcPts val="0"/>
              </a:spcAft>
              <a:buClr>
                <a:srgbClr val="888888"/>
              </a:buClr>
              <a:buSzPts val="1100"/>
              <a:buNone/>
              <a:defRPr sz="1100">
                <a:solidFill>
                  <a:srgbClr val="888888"/>
                </a:solidFill>
              </a:defRPr>
            </a:lvl7pPr>
            <a:lvl8pPr marL="3657600" lvl="7" indent="-228600" algn="l" rtl="0">
              <a:spcBef>
                <a:spcPts val="200"/>
              </a:spcBef>
              <a:spcAft>
                <a:spcPts val="0"/>
              </a:spcAft>
              <a:buClr>
                <a:srgbClr val="888888"/>
              </a:buClr>
              <a:buSzPts val="1100"/>
              <a:buNone/>
              <a:defRPr sz="1100">
                <a:solidFill>
                  <a:srgbClr val="888888"/>
                </a:solidFill>
              </a:defRPr>
            </a:lvl8pPr>
            <a:lvl9pPr marL="4114800" lvl="8" indent="-228600" algn="l" rtl="0">
              <a:spcBef>
                <a:spcPts val="200"/>
              </a:spcBef>
              <a:spcAft>
                <a:spcPts val="0"/>
              </a:spcAft>
              <a:buClr>
                <a:srgbClr val="888888"/>
              </a:buClr>
              <a:buSzPts val="1100"/>
              <a:buNone/>
              <a:defRPr sz="1100">
                <a:solidFill>
                  <a:srgbClr val="888888"/>
                </a:solidFill>
              </a:defRPr>
            </a:lvl9pPr>
          </a:lstStyle>
          <a:p>
            <a:endParaRPr/>
          </a:p>
        </p:txBody>
      </p:sp>
      <p:sp>
        <p:nvSpPr>
          <p:cNvPr id="35" name="Google Shape;35;p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6" name="Google Shape;36;p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7" name="Google Shape;37;p4"/>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
        <p:cNvGrpSpPr/>
        <p:nvPr/>
      </p:nvGrpSpPr>
      <p:grpSpPr>
        <a:xfrm>
          <a:off x="0" y="0"/>
          <a:ext cx="0" cy="0"/>
          <a:chOff x="0" y="0"/>
          <a:chExt cx="0" cy="0"/>
        </a:xfrm>
      </p:grpSpPr>
      <p:pic>
        <p:nvPicPr>
          <p:cNvPr id="39" name="Google Shape;39;p5"/>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40" name="Google Shape;40;p5"/>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41" name="Google Shape;41;p5"/>
          <p:cNvSpPr txBox="1">
            <a:spLocks noGrp="1"/>
          </p:cNvSpPr>
          <p:nvPr>
            <p:ph type="body" idx="1"/>
          </p:nvPr>
        </p:nvSpPr>
        <p:spPr>
          <a:xfrm>
            <a:off x="633845" y="1035887"/>
            <a:ext cx="7886700" cy="3599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42" name="Google Shape;42;p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3" name="Google Shape;43;p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4" name="Google Shape;44;p5"/>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45" name="Google Shape;45;p5"/>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46" name="Google Shape;46;p5"/>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49" name="Google Shape;49;p6"/>
          <p:cNvSpPr txBox="1">
            <a:spLocks noGrp="1"/>
          </p:cNvSpPr>
          <p:nvPr>
            <p:ph type="body" idx="1"/>
          </p:nvPr>
        </p:nvSpPr>
        <p:spPr>
          <a:xfrm>
            <a:off x="633845" y="1035887"/>
            <a:ext cx="3886200" cy="3599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50" name="Google Shape;50;p6"/>
          <p:cNvSpPr txBox="1">
            <a:spLocks noGrp="1"/>
          </p:cNvSpPr>
          <p:nvPr>
            <p:ph type="body" idx="2"/>
          </p:nvPr>
        </p:nvSpPr>
        <p:spPr>
          <a:xfrm>
            <a:off x="4629150" y="1035887"/>
            <a:ext cx="3886200" cy="3599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51" name="Google Shape;51;p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52" name="Google Shape;52;p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53" name="Google Shape;53;p6"/>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6"/>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55" name="Google Shape;55;p6"/>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56" name="Google Shape;56;p6"/>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7"/>
        <p:cNvGrpSpPr/>
        <p:nvPr/>
      </p:nvGrpSpPr>
      <p:grpSpPr>
        <a:xfrm>
          <a:off x="0" y="0"/>
          <a:ext cx="0" cy="0"/>
          <a:chOff x="0" y="0"/>
          <a:chExt cx="0" cy="0"/>
        </a:xfrm>
      </p:grpSpPr>
      <p:pic>
        <p:nvPicPr>
          <p:cNvPr id="58" name="Google Shape;58;p7"/>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59" name="Google Shape;59;p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0" name="Google Shape;60;p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1" name="Google Shape;61;p7"/>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62" name="Google Shape;62;p7"/>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63" name="Google Shape;63;p7"/>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64" name="Google Shape;64;p7"/>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7" name="Google Shape;67;p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8" name="Google Shape;68;p8"/>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pic>
        <p:nvPicPr>
          <p:cNvPr id="70" name="Google Shape;70;p9"/>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71" name="Google Shape;71;p9"/>
          <p:cNvSpPr txBox="1">
            <a:spLocks noGrp="1"/>
          </p:cNvSpPr>
          <p:nvPr>
            <p:ph type="title"/>
          </p:nvPr>
        </p:nvSpPr>
        <p:spPr>
          <a:xfrm>
            <a:off x="630936" y="342900"/>
            <a:ext cx="2948700" cy="12003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rgbClr val="3EADA7"/>
              </a:buClr>
              <a:buSzPts val="2400"/>
              <a:buFont typeface="Quattrocento Sans"/>
              <a:buNone/>
              <a:defRPr sz="2400"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72" name="Google Shape;72;p9"/>
          <p:cNvSpPr txBox="1">
            <a:spLocks noGrp="1"/>
          </p:cNvSpPr>
          <p:nvPr>
            <p:ph type="body" idx="1"/>
          </p:nvPr>
        </p:nvSpPr>
        <p:spPr>
          <a:xfrm>
            <a:off x="3886200" y="742950"/>
            <a:ext cx="4629300" cy="3657600"/>
          </a:xfrm>
          <a:prstGeom prst="rect">
            <a:avLst/>
          </a:prstGeom>
          <a:noFill/>
          <a:ln>
            <a:noFill/>
          </a:ln>
        </p:spPr>
        <p:txBody>
          <a:bodyPr spcFirstLastPara="1" wrap="square" lIns="68575" tIns="34275" rIns="68575" bIns="34275" anchor="t" anchorCtr="0">
            <a:noAutofit/>
          </a:bodyPr>
          <a:lstStyle>
            <a:lvl1pPr marL="457200" lvl="0" indent="-381000" algn="l" rtl="0">
              <a:lnSpc>
                <a:spcPct val="90000"/>
              </a:lnSpc>
              <a:spcBef>
                <a:spcPts val="800"/>
              </a:spcBef>
              <a:spcAft>
                <a:spcPts val="0"/>
              </a:spcAft>
              <a:buClr>
                <a:schemeClr val="dk1"/>
              </a:buClr>
              <a:buSzPts val="2400"/>
              <a:buChar char="⚫"/>
              <a:defRPr sz="2400"/>
            </a:lvl1pPr>
            <a:lvl2pPr marL="914400" lvl="1" indent="-361950" algn="l" rtl="0">
              <a:lnSpc>
                <a:spcPct val="90000"/>
              </a:lnSpc>
              <a:spcBef>
                <a:spcPts val="400"/>
              </a:spcBef>
              <a:spcAft>
                <a:spcPts val="0"/>
              </a:spcAft>
              <a:buClr>
                <a:schemeClr val="dk1"/>
              </a:buClr>
              <a:buSzPts val="2100"/>
              <a:buChar char="⚫"/>
              <a:defRPr sz="2100"/>
            </a:lvl2pPr>
            <a:lvl3pPr marL="1371600" lvl="2" indent="-342900" algn="l" rtl="0">
              <a:lnSpc>
                <a:spcPct val="90000"/>
              </a:lnSpc>
              <a:spcBef>
                <a:spcPts val="400"/>
              </a:spcBef>
              <a:spcAft>
                <a:spcPts val="0"/>
              </a:spcAft>
              <a:buClr>
                <a:schemeClr val="dk1"/>
              </a:buClr>
              <a:buSzPts val="1800"/>
              <a:buChar char="⚫"/>
              <a:defRPr sz="1800"/>
            </a:lvl3pPr>
            <a:lvl4pPr marL="1828800" lvl="3" indent="-323850" algn="l" rtl="0">
              <a:lnSpc>
                <a:spcPct val="90000"/>
              </a:lnSpc>
              <a:spcBef>
                <a:spcPts val="400"/>
              </a:spcBef>
              <a:spcAft>
                <a:spcPts val="0"/>
              </a:spcAft>
              <a:buClr>
                <a:schemeClr val="dk1"/>
              </a:buClr>
              <a:buSzPts val="1500"/>
              <a:buChar char="⚫"/>
              <a:defRPr sz="1500"/>
            </a:lvl4pPr>
            <a:lvl5pPr marL="2286000" lvl="4" indent="-323850" algn="l" rtl="0">
              <a:lnSpc>
                <a:spcPct val="90000"/>
              </a:lnSpc>
              <a:spcBef>
                <a:spcPts val="400"/>
              </a:spcBef>
              <a:spcAft>
                <a:spcPts val="0"/>
              </a:spcAft>
              <a:buClr>
                <a:schemeClr val="dk1"/>
              </a:buClr>
              <a:buSzPts val="1500"/>
              <a:buChar char="⚫"/>
              <a:defRPr sz="1500"/>
            </a:lvl5pPr>
            <a:lvl6pPr marL="2743200" lvl="5" indent="-323850" algn="l" rtl="0">
              <a:spcBef>
                <a:spcPts val="300"/>
              </a:spcBef>
              <a:spcAft>
                <a:spcPts val="0"/>
              </a:spcAft>
              <a:buClr>
                <a:schemeClr val="dk1"/>
              </a:buClr>
              <a:buSzPts val="1500"/>
              <a:buChar char="⚫"/>
              <a:defRPr sz="1500"/>
            </a:lvl6pPr>
            <a:lvl7pPr marL="3200400" lvl="6" indent="-323850" algn="l" rtl="0">
              <a:spcBef>
                <a:spcPts val="300"/>
              </a:spcBef>
              <a:spcAft>
                <a:spcPts val="0"/>
              </a:spcAft>
              <a:buClr>
                <a:schemeClr val="dk1"/>
              </a:buClr>
              <a:buSzPts val="1500"/>
              <a:buChar char="⚫"/>
              <a:defRPr sz="1500"/>
            </a:lvl7pPr>
            <a:lvl8pPr marL="3657600" lvl="7" indent="-323850" algn="l" rtl="0">
              <a:spcBef>
                <a:spcPts val="300"/>
              </a:spcBef>
              <a:spcAft>
                <a:spcPts val="0"/>
              </a:spcAft>
              <a:buClr>
                <a:schemeClr val="dk1"/>
              </a:buClr>
              <a:buSzPts val="1500"/>
              <a:buChar char="⚫"/>
              <a:defRPr sz="1500"/>
            </a:lvl8pPr>
            <a:lvl9pPr marL="4114800" lvl="8" indent="-323850" algn="l" rtl="0">
              <a:spcBef>
                <a:spcPts val="300"/>
              </a:spcBef>
              <a:spcAft>
                <a:spcPts val="0"/>
              </a:spcAft>
              <a:buClr>
                <a:schemeClr val="dk1"/>
              </a:buClr>
              <a:buSzPts val="1500"/>
              <a:buChar char="⚫"/>
              <a:defRPr sz="1500"/>
            </a:lvl9pPr>
          </a:lstStyle>
          <a:p>
            <a:endParaRPr/>
          </a:p>
        </p:txBody>
      </p:sp>
      <p:sp>
        <p:nvSpPr>
          <p:cNvPr id="73" name="Google Shape;73;p9"/>
          <p:cNvSpPr txBox="1">
            <a:spLocks noGrp="1"/>
          </p:cNvSpPr>
          <p:nvPr>
            <p:ph type="body" idx="2"/>
          </p:nvPr>
        </p:nvSpPr>
        <p:spPr>
          <a:xfrm>
            <a:off x="630936" y="1543049"/>
            <a:ext cx="2948700" cy="2857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900"/>
              <a:buNone/>
              <a:defRPr sz="900"/>
            </a:lvl2pPr>
            <a:lvl3pPr marL="1371600" lvl="2" indent="-228600" algn="l" rtl="0">
              <a:lnSpc>
                <a:spcPct val="90000"/>
              </a:lnSpc>
              <a:spcBef>
                <a:spcPts val="400"/>
              </a:spcBef>
              <a:spcAft>
                <a:spcPts val="0"/>
              </a:spcAft>
              <a:buClr>
                <a:schemeClr val="dk1"/>
              </a:buClr>
              <a:buSzPts val="800"/>
              <a:buNone/>
              <a:defRPr sz="800"/>
            </a:lvl3pPr>
            <a:lvl4pPr marL="1828800" lvl="3" indent="-228600" algn="l" rtl="0">
              <a:lnSpc>
                <a:spcPct val="90000"/>
              </a:lnSpc>
              <a:spcBef>
                <a:spcPts val="400"/>
              </a:spcBef>
              <a:spcAft>
                <a:spcPts val="0"/>
              </a:spcAft>
              <a:buClr>
                <a:schemeClr val="dk1"/>
              </a:buClr>
              <a:buSzPts val="700"/>
              <a:buNone/>
              <a:defRPr sz="700"/>
            </a:lvl4pPr>
            <a:lvl5pPr marL="2286000" lvl="4" indent="-228600" algn="l" rtl="0">
              <a:lnSpc>
                <a:spcPct val="90000"/>
              </a:lnSpc>
              <a:spcBef>
                <a:spcPts val="400"/>
              </a:spcBef>
              <a:spcAft>
                <a:spcPts val="0"/>
              </a:spcAft>
              <a:buClr>
                <a:schemeClr val="dk1"/>
              </a:buClr>
              <a:buSzPts val="700"/>
              <a:buNone/>
              <a:defRPr sz="700"/>
            </a:lvl5pPr>
            <a:lvl6pPr marL="2743200" lvl="5" indent="-228600" algn="l" rtl="0">
              <a:spcBef>
                <a:spcPts val="100"/>
              </a:spcBef>
              <a:spcAft>
                <a:spcPts val="0"/>
              </a:spcAft>
              <a:buClr>
                <a:schemeClr val="dk1"/>
              </a:buClr>
              <a:buSzPts val="700"/>
              <a:buNone/>
              <a:defRPr sz="700"/>
            </a:lvl6pPr>
            <a:lvl7pPr marL="3200400" lvl="6" indent="-228600" algn="l" rtl="0">
              <a:spcBef>
                <a:spcPts val="100"/>
              </a:spcBef>
              <a:spcAft>
                <a:spcPts val="0"/>
              </a:spcAft>
              <a:buClr>
                <a:schemeClr val="dk1"/>
              </a:buClr>
              <a:buSzPts val="700"/>
              <a:buNone/>
              <a:defRPr sz="700"/>
            </a:lvl7pPr>
            <a:lvl8pPr marL="3657600" lvl="7" indent="-228600" algn="l" rtl="0">
              <a:spcBef>
                <a:spcPts val="100"/>
              </a:spcBef>
              <a:spcAft>
                <a:spcPts val="0"/>
              </a:spcAft>
              <a:buClr>
                <a:schemeClr val="dk1"/>
              </a:buClr>
              <a:buSzPts val="700"/>
              <a:buNone/>
              <a:defRPr sz="700"/>
            </a:lvl8pPr>
            <a:lvl9pPr marL="4114800" lvl="8" indent="-228600" algn="l" rtl="0">
              <a:spcBef>
                <a:spcPts val="100"/>
              </a:spcBef>
              <a:spcAft>
                <a:spcPts val="0"/>
              </a:spcAft>
              <a:buClr>
                <a:schemeClr val="dk1"/>
              </a:buClr>
              <a:buSzPts val="700"/>
              <a:buNone/>
              <a:defRPr sz="700"/>
            </a:lvl9pPr>
          </a:lstStyle>
          <a:p>
            <a:endParaRPr/>
          </a:p>
        </p:txBody>
      </p:sp>
      <p:sp>
        <p:nvSpPr>
          <p:cNvPr id="74" name="Google Shape;74;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5" name="Google Shape;75;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6" name="Google Shape;76;p9"/>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9"/>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78" name="Google Shape;78;p9"/>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pic>
        <p:nvPicPr>
          <p:cNvPr id="80" name="Google Shape;80;p10"/>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81" name="Google Shape;81;p10"/>
          <p:cNvSpPr txBox="1">
            <a:spLocks noGrp="1"/>
          </p:cNvSpPr>
          <p:nvPr>
            <p:ph type="title"/>
          </p:nvPr>
        </p:nvSpPr>
        <p:spPr>
          <a:xfrm>
            <a:off x="630936" y="342900"/>
            <a:ext cx="2948700" cy="12003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rgbClr val="3EADA7"/>
              </a:buClr>
              <a:buSzPts val="2400"/>
              <a:buFont typeface="Quattrocento Sans"/>
              <a:buNone/>
              <a:defRPr sz="2400"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2" name="Google Shape;82;p10"/>
          <p:cNvSpPr>
            <a:spLocks noGrp="1"/>
          </p:cNvSpPr>
          <p:nvPr>
            <p:ph type="pic" idx="2"/>
          </p:nvPr>
        </p:nvSpPr>
        <p:spPr>
          <a:xfrm>
            <a:off x="3886200" y="742950"/>
            <a:ext cx="4629300" cy="36576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Noto Sans Symbols"/>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Noto Sans Symbols"/>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Noto Sans Symbols"/>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5pPr>
            <a:lvl6pPr marR="0" lvl="5"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6pPr>
            <a:lvl7pPr marR="0" lvl="6"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7pPr>
            <a:lvl8pPr marR="0" lvl="7"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8pPr>
            <a:lvl9pPr marR="0" lvl="8"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9pPr>
          </a:lstStyle>
          <a:p>
            <a:endParaRPr/>
          </a:p>
        </p:txBody>
      </p:sp>
      <p:sp>
        <p:nvSpPr>
          <p:cNvPr id="83" name="Google Shape;83;p10"/>
          <p:cNvSpPr txBox="1">
            <a:spLocks noGrp="1"/>
          </p:cNvSpPr>
          <p:nvPr>
            <p:ph type="body" idx="1"/>
          </p:nvPr>
        </p:nvSpPr>
        <p:spPr>
          <a:xfrm>
            <a:off x="630936" y="1543050"/>
            <a:ext cx="2948700" cy="2857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900"/>
              <a:buNone/>
              <a:defRPr sz="900"/>
            </a:lvl2pPr>
            <a:lvl3pPr marL="1371600" lvl="2" indent="-228600" algn="l" rtl="0">
              <a:lnSpc>
                <a:spcPct val="90000"/>
              </a:lnSpc>
              <a:spcBef>
                <a:spcPts val="400"/>
              </a:spcBef>
              <a:spcAft>
                <a:spcPts val="0"/>
              </a:spcAft>
              <a:buClr>
                <a:schemeClr val="dk1"/>
              </a:buClr>
              <a:buSzPts val="800"/>
              <a:buNone/>
              <a:defRPr sz="800"/>
            </a:lvl3pPr>
            <a:lvl4pPr marL="1828800" lvl="3" indent="-228600" algn="l" rtl="0">
              <a:lnSpc>
                <a:spcPct val="90000"/>
              </a:lnSpc>
              <a:spcBef>
                <a:spcPts val="400"/>
              </a:spcBef>
              <a:spcAft>
                <a:spcPts val="0"/>
              </a:spcAft>
              <a:buClr>
                <a:schemeClr val="dk1"/>
              </a:buClr>
              <a:buSzPts val="700"/>
              <a:buNone/>
              <a:defRPr sz="700"/>
            </a:lvl4pPr>
            <a:lvl5pPr marL="2286000" lvl="4" indent="-228600" algn="l" rtl="0">
              <a:lnSpc>
                <a:spcPct val="90000"/>
              </a:lnSpc>
              <a:spcBef>
                <a:spcPts val="400"/>
              </a:spcBef>
              <a:spcAft>
                <a:spcPts val="0"/>
              </a:spcAft>
              <a:buClr>
                <a:schemeClr val="dk1"/>
              </a:buClr>
              <a:buSzPts val="700"/>
              <a:buNone/>
              <a:defRPr sz="700"/>
            </a:lvl5pPr>
            <a:lvl6pPr marL="2743200" lvl="5" indent="-228600" algn="l" rtl="0">
              <a:spcBef>
                <a:spcPts val="100"/>
              </a:spcBef>
              <a:spcAft>
                <a:spcPts val="0"/>
              </a:spcAft>
              <a:buClr>
                <a:schemeClr val="dk1"/>
              </a:buClr>
              <a:buSzPts val="700"/>
              <a:buNone/>
              <a:defRPr sz="700"/>
            </a:lvl6pPr>
            <a:lvl7pPr marL="3200400" lvl="6" indent="-228600" algn="l" rtl="0">
              <a:spcBef>
                <a:spcPts val="100"/>
              </a:spcBef>
              <a:spcAft>
                <a:spcPts val="0"/>
              </a:spcAft>
              <a:buClr>
                <a:schemeClr val="dk1"/>
              </a:buClr>
              <a:buSzPts val="700"/>
              <a:buNone/>
              <a:defRPr sz="700"/>
            </a:lvl7pPr>
            <a:lvl8pPr marL="3657600" lvl="7" indent="-228600" algn="l" rtl="0">
              <a:spcBef>
                <a:spcPts val="100"/>
              </a:spcBef>
              <a:spcAft>
                <a:spcPts val="0"/>
              </a:spcAft>
              <a:buClr>
                <a:schemeClr val="dk1"/>
              </a:buClr>
              <a:buSzPts val="700"/>
              <a:buNone/>
              <a:defRPr sz="700"/>
            </a:lvl8pPr>
            <a:lvl9pPr marL="4114800" lvl="8" indent="-228600" algn="l" rtl="0">
              <a:spcBef>
                <a:spcPts val="100"/>
              </a:spcBef>
              <a:spcAft>
                <a:spcPts val="0"/>
              </a:spcAft>
              <a:buClr>
                <a:schemeClr val="dk1"/>
              </a:buClr>
              <a:buSzPts val="700"/>
              <a:buNone/>
              <a:defRPr sz="700"/>
            </a:lvl9pPr>
          </a:lstStyle>
          <a:p>
            <a:endParaRPr/>
          </a:p>
        </p:txBody>
      </p:sp>
      <p:sp>
        <p:nvSpPr>
          <p:cNvPr id="84" name="Google Shape;84;p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85" name="Google Shape;85;p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86" name="Google Shape;86;p10"/>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87" name="Google Shape;87;p10"/>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88" name="Google Shape;88;p10"/>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89"/>
        <p:cNvGrpSpPr/>
        <p:nvPr/>
      </p:nvGrpSpPr>
      <p:grpSpPr>
        <a:xfrm>
          <a:off x="0" y="0"/>
          <a:ext cx="0" cy="0"/>
          <a:chOff x="0" y="0"/>
          <a:chExt cx="0" cy="0"/>
        </a:xfrm>
      </p:grpSpPr>
      <p:pic>
        <p:nvPicPr>
          <p:cNvPr id="90" name="Google Shape;90;p11"/>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91" name="Google Shape;91;p11"/>
          <p:cNvSpPr txBox="1">
            <a:spLocks noGrp="1"/>
          </p:cNvSpPr>
          <p:nvPr>
            <p:ph type="body" idx="1"/>
          </p:nvPr>
        </p:nvSpPr>
        <p:spPr>
          <a:xfrm rot="5400000">
            <a:off x="2777496" y="-1107763"/>
            <a:ext cx="3599400" cy="78867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92" name="Google Shape;92;p1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93" name="Google Shape;93;p1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94" name="Google Shape;94;p11"/>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95" name="Google Shape;95;p11"/>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96" name="Google Shape;96;p11"/>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97" name="Google Shape;97;p11"/>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12"/>
          <p:cNvSpPr txBox="1">
            <a:spLocks noGrp="1"/>
          </p:cNvSpPr>
          <p:nvPr>
            <p:ph type="title"/>
          </p:nvPr>
        </p:nvSpPr>
        <p:spPr>
          <a:xfrm rot="5400000">
            <a:off x="5350050" y="1463972"/>
            <a:ext cx="4359000" cy="19716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00" name="Google Shape;100;p12"/>
          <p:cNvSpPr txBox="1">
            <a:spLocks noGrp="1"/>
          </p:cNvSpPr>
          <p:nvPr>
            <p:ph type="body" idx="1"/>
          </p:nvPr>
        </p:nvSpPr>
        <p:spPr>
          <a:xfrm rot="5400000">
            <a:off x="1349475" y="-450628"/>
            <a:ext cx="4359000" cy="58008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101" name="Google Shape;101;p1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02" name="Google Shape;102;p1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03" name="Google Shape;103;p12"/>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104" name="Google Shape;104;p12"/>
          <p:cNvCxnSpPr/>
          <p:nvPr/>
        </p:nvCxnSpPr>
        <p:spPr>
          <a:xfrm>
            <a:off x="6543675" y="277589"/>
            <a:ext cx="0" cy="4354800"/>
          </a:xfrm>
          <a:prstGeom prst="straightConnector1">
            <a:avLst/>
          </a:prstGeom>
          <a:noFill/>
          <a:ln w="9525" cap="flat" cmpd="sng">
            <a:solidFill>
              <a:srgbClr val="3DACA7"/>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05"/>
        <p:cNvGrpSpPr/>
        <p:nvPr/>
      </p:nvGrpSpPr>
      <p:grpSpPr>
        <a:xfrm>
          <a:off x="0" y="0"/>
          <a:ext cx="0" cy="0"/>
          <a:chOff x="0" y="0"/>
          <a:chExt cx="0" cy="0"/>
        </a:xfrm>
      </p:grpSpPr>
      <p:pic>
        <p:nvPicPr>
          <p:cNvPr id="106" name="Google Shape;106;p13"/>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07" name="Google Shape;107;p13"/>
          <p:cNvSpPr txBox="1">
            <a:spLocks noGrp="1"/>
          </p:cNvSpPr>
          <p:nvPr>
            <p:ph type="body" idx="1"/>
          </p:nvPr>
        </p:nvSpPr>
        <p:spPr>
          <a:xfrm>
            <a:off x="685799" y="1035886"/>
            <a:ext cx="3834300" cy="3599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108" name="Google Shape;108;p13"/>
          <p:cNvSpPr txBox="1">
            <a:spLocks noGrp="1"/>
          </p:cNvSpPr>
          <p:nvPr>
            <p:ph type="body" idx="2"/>
          </p:nvPr>
        </p:nvSpPr>
        <p:spPr>
          <a:xfrm>
            <a:off x="4683577" y="1035886"/>
            <a:ext cx="3828900" cy="3599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109" name="Google Shape;109;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0" name="Google Shape;110;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1" name="Google Shape;111;p13"/>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13"/>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113" name="Google Shape;113;p13"/>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14" name="Google Shape;114;p13"/>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115"/>
        <p:cNvGrpSpPr/>
        <p:nvPr/>
      </p:nvGrpSpPr>
      <p:grpSpPr>
        <a:xfrm>
          <a:off x="0" y="0"/>
          <a:ext cx="0" cy="0"/>
          <a:chOff x="0" y="0"/>
          <a:chExt cx="0" cy="0"/>
        </a:xfrm>
      </p:grpSpPr>
      <p:pic>
        <p:nvPicPr>
          <p:cNvPr id="116" name="Google Shape;116;p14"/>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17" name="Google Shape;117;p14"/>
          <p:cNvSpPr txBox="1">
            <a:spLocks noGrp="1"/>
          </p:cNvSpPr>
          <p:nvPr>
            <p:ph type="body" idx="1"/>
          </p:nvPr>
        </p:nvSpPr>
        <p:spPr>
          <a:xfrm>
            <a:off x="685799" y="946718"/>
            <a:ext cx="3815100" cy="619200"/>
          </a:xfrm>
          <a:prstGeom prst="rect">
            <a:avLst/>
          </a:prstGeom>
          <a:noFill/>
          <a:ln>
            <a:noFill/>
          </a:ln>
        </p:spPr>
        <p:txBody>
          <a:bodyPr spcFirstLastPara="1" wrap="square" lIns="68575" tIns="34275" rIns="68575" bIns="34275" anchor="b" anchorCtr="0">
            <a:noAutofit/>
          </a:bodyPr>
          <a:lstStyle>
            <a:lvl1pPr marL="457200" lvl="0" indent="-228600" algn="l" rtl="0">
              <a:lnSpc>
                <a:spcPct val="90000"/>
              </a:lnSpc>
              <a:spcBef>
                <a:spcPts val="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spcBef>
                <a:spcPts val="200"/>
              </a:spcBef>
              <a:spcAft>
                <a:spcPts val="0"/>
              </a:spcAft>
              <a:buClr>
                <a:schemeClr val="dk1"/>
              </a:buClr>
              <a:buSzPts val="1200"/>
              <a:buNone/>
              <a:defRPr sz="1200" b="1"/>
            </a:lvl6pPr>
            <a:lvl7pPr marL="3200400" lvl="6" indent="-228600" algn="l" rtl="0">
              <a:spcBef>
                <a:spcPts val="200"/>
              </a:spcBef>
              <a:spcAft>
                <a:spcPts val="0"/>
              </a:spcAft>
              <a:buClr>
                <a:schemeClr val="dk1"/>
              </a:buClr>
              <a:buSzPts val="1200"/>
              <a:buNone/>
              <a:defRPr sz="1200" b="1"/>
            </a:lvl7pPr>
            <a:lvl8pPr marL="3657600" lvl="7" indent="-228600" algn="l" rtl="0">
              <a:spcBef>
                <a:spcPts val="200"/>
              </a:spcBef>
              <a:spcAft>
                <a:spcPts val="0"/>
              </a:spcAft>
              <a:buClr>
                <a:schemeClr val="dk1"/>
              </a:buClr>
              <a:buSzPts val="1200"/>
              <a:buNone/>
              <a:defRPr sz="1200" b="1"/>
            </a:lvl8pPr>
            <a:lvl9pPr marL="4114800" lvl="8" indent="-228600" algn="l" rtl="0">
              <a:spcBef>
                <a:spcPts val="200"/>
              </a:spcBef>
              <a:spcAft>
                <a:spcPts val="0"/>
              </a:spcAft>
              <a:buClr>
                <a:schemeClr val="dk1"/>
              </a:buClr>
              <a:buSzPts val="1200"/>
              <a:buNone/>
              <a:defRPr sz="1200" b="1"/>
            </a:lvl9pPr>
          </a:lstStyle>
          <a:p>
            <a:endParaRPr/>
          </a:p>
        </p:txBody>
      </p:sp>
      <p:sp>
        <p:nvSpPr>
          <p:cNvPr id="118" name="Google Shape;118;p14"/>
          <p:cNvSpPr txBox="1">
            <a:spLocks noGrp="1"/>
          </p:cNvSpPr>
          <p:nvPr>
            <p:ph type="body" idx="2"/>
          </p:nvPr>
        </p:nvSpPr>
        <p:spPr>
          <a:xfrm>
            <a:off x="685799" y="1616168"/>
            <a:ext cx="3815100" cy="30249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119" name="Google Shape;119;p14"/>
          <p:cNvSpPr txBox="1">
            <a:spLocks noGrp="1"/>
          </p:cNvSpPr>
          <p:nvPr>
            <p:ph type="body" idx="3"/>
          </p:nvPr>
        </p:nvSpPr>
        <p:spPr>
          <a:xfrm>
            <a:off x="4672693" y="946716"/>
            <a:ext cx="3828900" cy="619200"/>
          </a:xfrm>
          <a:prstGeom prst="rect">
            <a:avLst/>
          </a:prstGeom>
          <a:noFill/>
          <a:ln>
            <a:noFill/>
          </a:ln>
        </p:spPr>
        <p:txBody>
          <a:bodyPr spcFirstLastPara="1" wrap="square" lIns="68575" tIns="34275" rIns="68575" bIns="34275" anchor="b" anchorCtr="0">
            <a:noAutofit/>
          </a:bodyPr>
          <a:lstStyle>
            <a:lvl1pPr marL="457200" lvl="0" indent="-228600" algn="l" rtl="0">
              <a:lnSpc>
                <a:spcPct val="90000"/>
              </a:lnSpc>
              <a:spcBef>
                <a:spcPts val="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spcBef>
                <a:spcPts val="200"/>
              </a:spcBef>
              <a:spcAft>
                <a:spcPts val="0"/>
              </a:spcAft>
              <a:buClr>
                <a:schemeClr val="dk1"/>
              </a:buClr>
              <a:buSzPts val="1200"/>
              <a:buNone/>
              <a:defRPr sz="1200" b="1"/>
            </a:lvl6pPr>
            <a:lvl7pPr marL="3200400" lvl="6" indent="-228600" algn="l" rtl="0">
              <a:spcBef>
                <a:spcPts val="200"/>
              </a:spcBef>
              <a:spcAft>
                <a:spcPts val="0"/>
              </a:spcAft>
              <a:buClr>
                <a:schemeClr val="dk1"/>
              </a:buClr>
              <a:buSzPts val="1200"/>
              <a:buNone/>
              <a:defRPr sz="1200" b="1"/>
            </a:lvl7pPr>
            <a:lvl8pPr marL="3657600" lvl="7" indent="-228600" algn="l" rtl="0">
              <a:spcBef>
                <a:spcPts val="200"/>
              </a:spcBef>
              <a:spcAft>
                <a:spcPts val="0"/>
              </a:spcAft>
              <a:buClr>
                <a:schemeClr val="dk1"/>
              </a:buClr>
              <a:buSzPts val="1200"/>
              <a:buNone/>
              <a:defRPr sz="1200" b="1"/>
            </a:lvl8pPr>
            <a:lvl9pPr marL="4114800" lvl="8" indent="-228600" algn="l" rtl="0">
              <a:spcBef>
                <a:spcPts val="200"/>
              </a:spcBef>
              <a:spcAft>
                <a:spcPts val="0"/>
              </a:spcAft>
              <a:buClr>
                <a:schemeClr val="dk1"/>
              </a:buClr>
              <a:buSzPts val="1200"/>
              <a:buNone/>
              <a:defRPr sz="1200" b="1"/>
            </a:lvl9pPr>
          </a:lstStyle>
          <a:p>
            <a:endParaRPr/>
          </a:p>
        </p:txBody>
      </p:sp>
      <p:sp>
        <p:nvSpPr>
          <p:cNvPr id="120" name="Google Shape;120;p14"/>
          <p:cNvSpPr txBox="1">
            <a:spLocks noGrp="1"/>
          </p:cNvSpPr>
          <p:nvPr>
            <p:ph type="body" idx="4"/>
          </p:nvPr>
        </p:nvSpPr>
        <p:spPr>
          <a:xfrm>
            <a:off x="4672693" y="1616168"/>
            <a:ext cx="3828900" cy="30249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121" name="Google Shape;121;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22" name="Google Shape;122;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23" name="Google Shape;123;p14"/>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14"/>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125" name="Google Shape;125;p14"/>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26" name="Google Shape;126;p14"/>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27"/>
        <p:cNvGrpSpPr/>
        <p:nvPr/>
      </p:nvGrpSpPr>
      <p:grpSpPr>
        <a:xfrm>
          <a:off x="0" y="0"/>
          <a:ext cx="0" cy="0"/>
          <a:chOff x="0" y="0"/>
          <a:chExt cx="0" cy="0"/>
        </a:xfrm>
      </p:grpSpPr>
      <p:pic>
        <p:nvPicPr>
          <p:cNvPr id="128" name="Google Shape;128;p15"/>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29" name="Google Shape;129;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30" name="Google Shape;130;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31" name="Google Shape;131;p15"/>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32" name="Google Shape;132;p15"/>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133" name="Google Shape;133;p15"/>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34" name="Google Shape;134;p15"/>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135"/>
        <p:cNvGrpSpPr/>
        <p:nvPr/>
      </p:nvGrpSpPr>
      <p:grpSpPr>
        <a:xfrm>
          <a:off x="0" y="0"/>
          <a:ext cx="0" cy="0"/>
          <a:chOff x="0" y="0"/>
          <a:chExt cx="0" cy="0"/>
        </a:xfrm>
      </p:grpSpPr>
      <p:pic>
        <p:nvPicPr>
          <p:cNvPr id="136" name="Google Shape;136;p16"/>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37" name="Google Shape;137;p16"/>
          <p:cNvSpPr txBox="1">
            <a:spLocks noGrp="1"/>
          </p:cNvSpPr>
          <p:nvPr>
            <p:ph type="body" idx="1"/>
          </p:nvPr>
        </p:nvSpPr>
        <p:spPr>
          <a:xfrm>
            <a:off x="3886200" y="742950"/>
            <a:ext cx="4629300" cy="3657600"/>
          </a:xfrm>
          <a:prstGeom prst="rect">
            <a:avLst/>
          </a:prstGeom>
          <a:noFill/>
          <a:ln>
            <a:noFill/>
          </a:ln>
        </p:spPr>
        <p:txBody>
          <a:bodyPr spcFirstLastPara="1" wrap="square" lIns="68575" tIns="34275" rIns="68575" bIns="34275" anchor="t" anchorCtr="0">
            <a:noAutofit/>
          </a:bodyPr>
          <a:lstStyle>
            <a:lvl1pPr marL="457200" lvl="0" indent="-381000" algn="l" rtl="0">
              <a:lnSpc>
                <a:spcPct val="90000"/>
              </a:lnSpc>
              <a:spcBef>
                <a:spcPts val="800"/>
              </a:spcBef>
              <a:spcAft>
                <a:spcPts val="0"/>
              </a:spcAft>
              <a:buClr>
                <a:schemeClr val="dk1"/>
              </a:buClr>
              <a:buSzPts val="2400"/>
              <a:buChar char="⚫"/>
              <a:defRPr sz="2400"/>
            </a:lvl1pPr>
            <a:lvl2pPr marL="914400" lvl="1" indent="-361950" algn="l" rtl="0">
              <a:lnSpc>
                <a:spcPct val="90000"/>
              </a:lnSpc>
              <a:spcBef>
                <a:spcPts val="400"/>
              </a:spcBef>
              <a:spcAft>
                <a:spcPts val="0"/>
              </a:spcAft>
              <a:buClr>
                <a:schemeClr val="dk1"/>
              </a:buClr>
              <a:buSzPts val="2100"/>
              <a:buChar char="⚫"/>
              <a:defRPr sz="2100"/>
            </a:lvl2pPr>
            <a:lvl3pPr marL="1371600" lvl="2" indent="-342900" algn="l" rtl="0">
              <a:lnSpc>
                <a:spcPct val="90000"/>
              </a:lnSpc>
              <a:spcBef>
                <a:spcPts val="400"/>
              </a:spcBef>
              <a:spcAft>
                <a:spcPts val="0"/>
              </a:spcAft>
              <a:buClr>
                <a:schemeClr val="dk1"/>
              </a:buClr>
              <a:buSzPts val="1800"/>
              <a:buChar char="⚫"/>
              <a:defRPr sz="1800"/>
            </a:lvl3pPr>
            <a:lvl4pPr marL="1828800" lvl="3" indent="-323850" algn="l" rtl="0">
              <a:lnSpc>
                <a:spcPct val="90000"/>
              </a:lnSpc>
              <a:spcBef>
                <a:spcPts val="400"/>
              </a:spcBef>
              <a:spcAft>
                <a:spcPts val="0"/>
              </a:spcAft>
              <a:buClr>
                <a:schemeClr val="dk1"/>
              </a:buClr>
              <a:buSzPts val="1500"/>
              <a:buChar char="⚫"/>
              <a:defRPr sz="1500"/>
            </a:lvl4pPr>
            <a:lvl5pPr marL="2286000" lvl="4" indent="-323850" algn="l" rtl="0">
              <a:lnSpc>
                <a:spcPct val="90000"/>
              </a:lnSpc>
              <a:spcBef>
                <a:spcPts val="400"/>
              </a:spcBef>
              <a:spcAft>
                <a:spcPts val="0"/>
              </a:spcAft>
              <a:buClr>
                <a:schemeClr val="dk1"/>
              </a:buClr>
              <a:buSzPts val="1500"/>
              <a:buChar char="⚫"/>
              <a:defRPr sz="1500"/>
            </a:lvl5pPr>
            <a:lvl6pPr marL="2743200" lvl="5" indent="-323850" algn="l" rtl="0">
              <a:spcBef>
                <a:spcPts val="300"/>
              </a:spcBef>
              <a:spcAft>
                <a:spcPts val="0"/>
              </a:spcAft>
              <a:buClr>
                <a:schemeClr val="dk1"/>
              </a:buClr>
              <a:buSzPts val="1500"/>
              <a:buChar char="⚫"/>
              <a:defRPr sz="1500"/>
            </a:lvl6pPr>
            <a:lvl7pPr marL="3200400" lvl="6" indent="-323850" algn="l" rtl="0">
              <a:spcBef>
                <a:spcPts val="300"/>
              </a:spcBef>
              <a:spcAft>
                <a:spcPts val="0"/>
              </a:spcAft>
              <a:buClr>
                <a:schemeClr val="dk1"/>
              </a:buClr>
              <a:buSzPts val="1500"/>
              <a:buChar char="⚫"/>
              <a:defRPr sz="1500"/>
            </a:lvl7pPr>
            <a:lvl8pPr marL="3657600" lvl="7" indent="-323850" algn="l" rtl="0">
              <a:spcBef>
                <a:spcPts val="300"/>
              </a:spcBef>
              <a:spcAft>
                <a:spcPts val="0"/>
              </a:spcAft>
              <a:buClr>
                <a:schemeClr val="dk1"/>
              </a:buClr>
              <a:buSzPts val="1500"/>
              <a:buChar char="⚫"/>
              <a:defRPr sz="1500"/>
            </a:lvl8pPr>
            <a:lvl9pPr marL="4114800" lvl="8" indent="-323850" algn="l" rtl="0">
              <a:spcBef>
                <a:spcPts val="300"/>
              </a:spcBef>
              <a:spcAft>
                <a:spcPts val="0"/>
              </a:spcAft>
              <a:buClr>
                <a:schemeClr val="dk1"/>
              </a:buClr>
              <a:buSzPts val="1500"/>
              <a:buChar char="⚫"/>
              <a:defRPr sz="1500"/>
            </a:lvl9pPr>
          </a:lstStyle>
          <a:p>
            <a:endParaRPr/>
          </a:p>
        </p:txBody>
      </p:sp>
      <p:sp>
        <p:nvSpPr>
          <p:cNvPr id="138" name="Google Shape;138;p16"/>
          <p:cNvSpPr txBox="1">
            <a:spLocks noGrp="1"/>
          </p:cNvSpPr>
          <p:nvPr>
            <p:ph type="body" idx="2"/>
          </p:nvPr>
        </p:nvSpPr>
        <p:spPr>
          <a:xfrm>
            <a:off x="630936" y="1643745"/>
            <a:ext cx="2948700" cy="27567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900"/>
              <a:buNone/>
              <a:defRPr sz="900"/>
            </a:lvl2pPr>
            <a:lvl3pPr marL="1371600" lvl="2" indent="-228600" algn="l" rtl="0">
              <a:lnSpc>
                <a:spcPct val="90000"/>
              </a:lnSpc>
              <a:spcBef>
                <a:spcPts val="400"/>
              </a:spcBef>
              <a:spcAft>
                <a:spcPts val="0"/>
              </a:spcAft>
              <a:buClr>
                <a:schemeClr val="dk1"/>
              </a:buClr>
              <a:buSzPts val="800"/>
              <a:buNone/>
              <a:defRPr sz="800"/>
            </a:lvl3pPr>
            <a:lvl4pPr marL="1828800" lvl="3" indent="-228600" algn="l" rtl="0">
              <a:lnSpc>
                <a:spcPct val="90000"/>
              </a:lnSpc>
              <a:spcBef>
                <a:spcPts val="400"/>
              </a:spcBef>
              <a:spcAft>
                <a:spcPts val="0"/>
              </a:spcAft>
              <a:buClr>
                <a:schemeClr val="dk1"/>
              </a:buClr>
              <a:buSzPts val="700"/>
              <a:buNone/>
              <a:defRPr sz="700"/>
            </a:lvl4pPr>
            <a:lvl5pPr marL="2286000" lvl="4" indent="-228600" algn="l" rtl="0">
              <a:lnSpc>
                <a:spcPct val="90000"/>
              </a:lnSpc>
              <a:spcBef>
                <a:spcPts val="400"/>
              </a:spcBef>
              <a:spcAft>
                <a:spcPts val="0"/>
              </a:spcAft>
              <a:buClr>
                <a:schemeClr val="dk1"/>
              </a:buClr>
              <a:buSzPts val="700"/>
              <a:buNone/>
              <a:defRPr sz="700"/>
            </a:lvl5pPr>
            <a:lvl6pPr marL="2743200" lvl="5" indent="-228600" algn="l" rtl="0">
              <a:spcBef>
                <a:spcPts val="100"/>
              </a:spcBef>
              <a:spcAft>
                <a:spcPts val="0"/>
              </a:spcAft>
              <a:buClr>
                <a:schemeClr val="dk1"/>
              </a:buClr>
              <a:buSzPts val="700"/>
              <a:buNone/>
              <a:defRPr sz="700"/>
            </a:lvl6pPr>
            <a:lvl7pPr marL="3200400" lvl="6" indent="-228600" algn="l" rtl="0">
              <a:spcBef>
                <a:spcPts val="100"/>
              </a:spcBef>
              <a:spcAft>
                <a:spcPts val="0"/>
              </a:spcAft>
              <a:buClr>
                <a:schemeClr val="dk1"/>
              </a:buClr>
              <a:buSzPts val="700"/>
              <a:buNone/>
              <a:defRPr sz="700"/>
            </a:lvl7pPr>
            <a:lvl8pPr marL="3657600" lvl="7" indent="-228600" algn="l" rtl="0">
              <a:spcBef>
                <a:spcPts val="100"/>
              </a:spcBef>
              <a:spcAft>
                <a:spcPts val="0"/>
              </a:spcAft>
              <a:buClr>
                <a:schemeClr val="dk1"/>
              </a:buClr>
              <a:buSzPts val="700"/>
              <a:buNone/>
              <a:defRPr sz="700"/>
            </a:lvl8pPr>
            <a:lvl9pPr marL="4114800" lvl="8" indent="-228600" algn="l" rtl="0">
              <a:spcBef>
                <a:spcPts val="100"/>
              </a:spcBef>
              <a:spcAft>
                <a:spcPts val="0"/>
              </a:spcAft>
              <a:buClr>
                <a:schemeClr val="dk1"/>
              </a:buClr>
              <a:buSzPts val="700"/>
              <a:buNone/>
              <a:defRPr sz="700"/>
            </a:lvl9pPr>
          </a:lstStyle>
          <a:p>
            <a:endParaRPr/>
          </a:p>
        </p:txBody>
      </p:sp>
      <p:sp>
        <p:nvSpPr>
          <p:cNvPr id="139" name="Google Shape;139;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40" name="Google Shape;140;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41" name="Google Shape;141;p16"/>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42" name="Google Shape;142;p16"/>
          <p:cNvSpPr txBox="1">
            <a:spLocks noGrp="1"/>
          </p:cNvSpPr>
          <p:nvPr>
            <p:ph type="title"/>
          </p:nvPr>
        </p:nvSpPr>
        <p:spPr>
          <a:xfrm>
            <a:off x="630936" y="342900"/>
            <a:ext cx="2948700" cy="11157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rgbClr val="3EADA7"/>
              </a:buClr>
              <a:buSzPts val="2400"/>
              <a:buFont typeface="Quattrocento Sans"/>
              <a:buNone/>
              <a:defRPr sz="2400" b="0">
                <a:solidFill>
                  <a:srgbClr val="3EADA7"/>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143" name="Google Shape;143;p16"/>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144" name="Google Shape;144;p16"/>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45"/>
        <p:cNvGrpSpPr/>
        <p:nvPr/>
      </p:nvGrpSpPr>
      <p:grpSpPr>
        <a:xfrm>
          <a:off x="0" y="0"/>
          <a:ext cx="0" cy="0"/>
          <a:chOff x="0" y="0"/>
          <a:chExt cx="0" cy="0"/>
        </a:xfrm>
      </p:grpSpPr>
      <p:pic>
        <p:nvPicPr>
          <p:cNvPr id="146" name="Google Shape;146;p17"/>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47" name="Google Shape;147;p17"/>
          <p:cNvSpPr>
            <a:spLocks noGrp="1"/>
          </p:cNvSpPr>
          <p:nvPr>
            <p:ph type="pic" idx="2"/>
          </p:nvPr>
        </p:nvSpPr>
        <p:spPr>
          <a:xfrm>
            <a:off x="3886200" y="742950"/>
            <a:ext cx="4629300" cy="36576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Noto Sans Symbols"/>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Noto Sans Symbols"/>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Noto Sans Symbols"/>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5pPr>
            <a:lvl6pPr marR="0" lvl="5"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6pPr>
            <a:lvl7pPr marR="0" lvl="6"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7pPr>
            <a:lvl8pPr marR="0" lvl="7"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8pPr>
            <a:lvl9pPr marR="0" lvl="8" algn="l" rtl="0">
              <a:spcBef>
                <a:spcPts val="300"/>
              </a:spcBef>
              <a:spcAft>
                <a:spcPts val="0"/>
              </a:spcAft>
              <a:buClr>
                <a:schemeClr val="dk1"/>
              </a:buClr>
              <a:buSzPts val="1500"/>
              <a:buFont typeface="Noto Sans Symbols"/>
              <a:buNone/>
              <a:defRPr sz="1500" b="0" i="0" u="none" strike="noStrike" cap="none">
                <a:solidFill>
                  <a:schemeClr val="dk1"/>
                </a:solidFill>
                <a:latin typeface="Calibri"/>
                <a:ea typeface="Calibri"/>
                <a:cs typeface="Calibri"/>
                <a:sym typeface="Calibri"/>
              </a:defRPr>
            </a:lvl9pPr>
          </a:lstStyle>
          <a:p>
            <a:endParaRPr/>
          </a:p>
        </p:txBody>
      </p:sp>
      <p:sp>
        <p:nvSpPr>
          <p:cNvPr id="148" name="Google Shape;148;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49" name="Google Shape;149;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50" name="Google Shape;150;p17"/>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51" name="Google Shape;151;p17"/>
          <p:cNvSpPr txBox="1">
            <a:spLocks noGrp="1"/>
          </p:cNvSpPr>
          <p:nvPr>
            <p:ph type="body" idx="1"/>
          </p:nvPr>
        </p:nvSpPr>
        <p:spPr>
          <a:xfrm>
            <a:off x="630936" y="1643745"/>
            <a:ext cx="2948700" cy="27567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900"/>
              <a:buNone/>
              <a:defRPr sz="900"/>
            </a:lvl2pPr>
            <a:lvl3pPr marL="1371600" lvl="2" indent="-228600" algn="l" rtl="0">
              <a:lnSpc>
                <a:spcPct val="90000"/>
              </a:lnSpc>
              <a:spcBef>
                <a:spcPts val="400"/>
              </a:spcBef>
              <a:spcAft>
                <a:spcPts val="0"/>
              </a:spcAft>
              <a:buClr>
                <a:schemeClr val="dk1"/>
              </a:buClr>
              <a:buSzPts val="800"/>
              <a:buNone/>
              <a:defRPr sz="800"/>
            </a:lvl3pPr>
            <a:lvl4pPr marL="1828800" lvl="3" indent="-228600" algn="l" rtl="0">
              <a:lnSpc>
                <a:spcPct val="90000"/>
              </a:lnSpc>
              <a:spcBef>
                <a:spcPts val="400"/>
              </a:spcBef>
              <a:spcAft>
                <a:spcPts val="0"/>
              </a:spcAft>
              <a:buClr>
                <a:schemeClr val="dk1"/>
              </a:buClr>
              <a:buSzPts val="700"/>
              <a:buNone/>
              <a:defRPr sz="700"/>
            </a:lvl4pPr>
            <a:lvl5pPr marL="2286000" lvl="4" indent="-228600" algn="l" rtl="0">
              <a:lnSpc>
                <a:spcPct val="90000"/>
              </a:lnSpc>
              <a:spcBef>
                <a:spcPts val="400"/>
              </a:spcBef>
              <a:spcAft>
                <a:spcPts val="0"/>
              </a:spcAft>
              <a:buClr>
                <a:schemeClr val="dk1"/>
              </a:buClr>
              <a:buSzPts val="700"/>
              <a:buNone/>
              <a:defRPr sz="700"/>
            </a:lvl5pPr>
            <a:lvl6pPr marL="2743200" lvl="5" indent="-228600" algn="l" rtl="0">
              <a:spcBef>
                <a:spcPts val="100"/>
              </a:spcBef>
              <a:spcAft>
                <a:spcPts val="0"/>
              </a:spcAft>
              <a:buClr>
                <a:schemeClr val="dk1"/>
              </a:buClr>
              <a:buSzPts val="700"/>
              <a:buNone/>
              <a:defRPr sz="700"/>
            </a:lvl6pPr>
            <a:lvl7pPr marL="3200400" lvl="6" indent="-228600" algn="l" rtl="0">
              <a:spcBef>
                <a:spcPts val="100"/>
              </a:spcBef>
              <a:spcAft>
                <a:spcPts val="0"/>
              </a:spcAft>
              <a:buClr>
                <a:schemeClr val="dk1"/>
              </a:buClr>
              <a:buSzPts val="700"/>
              <a:buNone/>
              <a:defRPr sz="700"/>
            </a:lvl7pPr>
            <a:lvl8pPr marL="3657600" lvl="7" indent="-228600" algn="l" rtl="0">
              <a:spcBef>
                <a:spcPts val="100"/>
              </a:spcBef>
              <a:spcAft>
                <a:spcPts val="0"/>
              </a:spcAft>
              <a:buClr>
                <a:schemeClr val="dk1"/>
              </a:buClr>
              <a:buSzPts val="700"/>
              <a:buNone/>
              <a:defRPr sz="700"/>
            </a:lvl8pPr>
            <a:lvl9pPr marL="4114800" lvl="8" indent="-228600" algn="l" rtl="0">
              <a:spcBef>
                <a:spcPts val="100"/>
              </a:spcBef>
              <a:spcAft>
                <a:spcPts val="0"/>
              </a:spcAft>
              <a:buClr>
                <a:schemeClr val="dk1"/>
              </a:buClr>
              <a:buSzPts val="700"/>
              <a:buNone/>
              <a:defRPr sz="700"/>
            </a:lvl9pPr>
          </a:lstStyle>
          <a:p>
            <a:endParaRPr/>
          </a:p>
        </p:txBody>
      </p:sp>
      <p:sp>
        <p:nvSpPr>
          <p:cNvPr id="152" name="Google Shape;152;p17"/>
          <p:cNvSpPr txBox="1">
            <a:spLocks noGrp="1"/>
          </p:cNvSpPr>
          <p:nvPr>
            <p:ph type="title"/>
          </p:nvPr>
        </p:nvSpPr>
        <p:spPr>
          <a:xfrm>
            <a:off x="630936" y="342900"/>
            <a:ext cx="2948700" cy="11157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rgbClr val="3EADA7"/>
              </a:buClr>
              <a:buSzPts val="2400"/>
              <a:buFont typeface="Quattrocento Sans"/>
              <a:buNone/>
              <a:defRPr sz="2400" b="0">
                <a:solidFill>
                  <a:srgbClr val="3EADA7"/>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153" name="Google Shape;153;p17"/>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154" name="Google Shape;154;p17"/>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Vertical Text">
  <p:cSld name="1_Title and Vertical Text">
    <p:spTree>
      <p:nvGrpSpPr>
        <p:cNvPr id="1" name="Shape 155"/>
        <p:cNvGrpSpPr/>
        <p:nvPr/>
      </p:nvGrpSpPr>
      <p:grpSpPr>
        <a:xfrm>
          <a:off x="0" y="0"/>
          <a:ext cx="0" cy="0"/>
          <a:chOff x="0" y="0"/>
          <a:chExt cx="0" cy="0"/>
        </a:xfrm>
      </p:grpSpPr>
      <p:pic>
        <p:nvPicPr>
          <p:cNvPr id="156" name="Google Shape;156;p18"/>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57" name="Google Shape;157;p18"/>
          <p:cNvSpPr txBox="1">
            <a:spLocks noGrp="1"/>
          </p:cNvSpPr>
          <p:nvPr>
            <p:ph type="body" idx="1"/>
          </p:nvPr>
        </p:nvSpPr>
        <p:spPr>
          <a:xfrm rot="5400000">
            <a:off x="2786946" y="-1122314"/>
            <a:ext cx="3575400" cy="78918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spcBef>
                <a:spcPts val="300"/>
              </a:spcBef>
              <a:spcAft>
                <a:spcPts val="0"/>
              </a:spcAft>
              <a:buClr>
                <a:schemeClr val="dk1"/>
              </a:buClr>
              <a:buSzPts val="1400"/>
              <a:buChar char="⚫"/>
              <a:defRPr/>
            </a:lvl6pPr>
            <a:lvl7pPr marL="3200400" lvl="6" indent="-317500" algn="l" rtl="0">
              <a:spcBef>
                <a:spcPts val="300"/>
              </a:spcBef>
              <a:spcAft>
                <a:spcPts val="0"/>
              </a:spcAft>
              <a:buClr>
                <a:schemeClr val="dk1"/>
              </a:buClr>
              <a:buSzPts val="1400"/>
              <a:buChar char="⚫"/>
              <a:defRPr/>
            </a:lvl7pPr>
            <a:lvl8pPr marL="3657600" lvl="7" indent="-317500" algn="l" rtl="0">
              <a:spcBef>
                <a:spcPts val="300"/>
              </a:spcBef>
              <a:spcAft>
                <a:spcPts val="0"/>
              </a:spcAft>
              <a:buClr>
                <a:schemeClr val="dk1"/>
              </a:buClr>
              <a:buSzPts val="1400"/>
              <a:buChar char="⚫"/>
              <a:defRPr/>
            </a:lvl8pPr>
            <a:lvl9pPr marL="4114800" lvl="8" indent="-317500" algn="l" rtl="0">
              <a:spcBef>
                <a:spcPts val="300"/>
              </a:spcBef>
              <a:spcAft>
                <a:spcPts val="0"/>
              </a:spcAft>
              <a:buClr>
                <a:schemeClr val="dk1"/>
              </a:buClr>
              <a:buSzPts val="1400"/>
              <a:buChar char="⚫"/>
              <a:defRPr/>
            </a:lvl9pPr>
          </a:lstStyle>
          <a:p>
            <a:endParaRPr/>
          </a:p>
        </p:txBody>
      </p:sp>
      <p:sp>
        <p:nvSpPr>
          <p:cNvPr id="158" name="Google Shape;158;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59" name="Google Shape;159;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60" name="Google Shape;160;p18"/>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61" name="Google Shape;161;p18"/>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3EADA7"/>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cxnSp>
        <p:nvCxnSpPr>
          <p:cNvPr id="162" name="Google Shape;162;p18"/>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63" name="Google Shape;163;p18"/>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1" type="twoObj">
  <p:cSld name="TWO_OBJECTS">
    <p:spTree>
      <p:nvGrpSpPr>
        <p:cNvPr id="1" name="Shape 164"/>
        <p:cNvGrpSpPr/>
        <p:nvPr/>
      </p:nvGrpSpPr>
      <p:grpSpPr>
        <a:xfrm>
          <a:off x="0" y="0"/>
          <a:ext cx="0" cy="0"/>
          <a:chOff x="0" y="0"/>
          <a:chExt cx="0" cy="0"/>
        </a:xfrm>
      </p:grpSpPr>
      <p:sp>
        <p:nvSpPr>
          <p:cNvPr id="165" name="Google Shape;165;p1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66" name="Google Shape;166;p19"/>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67" name="Google Shape;167;p19"/>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68" name="Google Shape;168;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69" name="Google Shape;169;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70" name="Google Shape;170;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33845" y="274320"/>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3EADA7"/>
              </a:buClr>
              <a:buSzPts val="3300"/>
              <a:buFont typeface="Quattrocento Sans"/>
              <a:buNone/>
              <a:defRPr sz="3300" b="0" i="0" u="none" strike="noStrike" cap="none">
                <a:solidFill>
                  <a:srgbClr val="3EADA7"/>
                </a:solidFill>
                <a:latin typeface="Quattrocento Sans"/>
                <a:ea typeface="Quattrocento Sans"/>
                <a:cs typeface="Quattrocento Sans"/>
                <a:sym typeface="Quattrocento Sans"/>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7" name="Google Shape;7;p1"/>
          <p:cNvSpPr txBox="1">
            <a:spLocks noGrp="1"/>
          </p:cNvSpPr>
          <p:nvPr>
            <p:ph type="body" idx="1"/>
          </p:nvPr>
        </p:nvSpPr>
        <p:spPr>
          <a:xfrm>
            <a:off x="633845" y="1371600"/>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Noto Sans Symbols"/>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Noto Sans Symbols"/>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5pPr>
            <a:lvl6pPr marL="2743200" marR="0" lvl="5"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6pPr>
            <a:lvl7pPr marL="3200400" marR="0" lvl="6"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7pPr>
            <a:lvl8pPr marL="3657600" marR="0" lvl="7"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8pPr>
            <a:lvl9pPr marL="4114800" marR="0" lvl="8"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800" b="0" i="0" u="none" strike="noStrike" cap="none">
                <a:solidFill>
                  <a:srgbClr val="595959"/>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800" b="0" i="0" u="none" strike="noStrike" cap="none">
                <a:solidFill>
                  <a:srgbClr val="595959"/>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ebdocs.cs.ualberta.ca/~jonathan/publications/ai_publications/samuel.pdf"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0"/>
          <p:cNvSpPr txBox="1">
            <a:spLocks noGrp="1"/>
          </p:cNvSpPr>
          <p:nvPr>
            <p:ph type="ctrTitle"/>
          </p:nvPr>
        </p:nvSpPr>
        <p:spPr>
          <a:xfrm>
            <a:off x="628650" y="797750"/>
            <a:ext cx="8458200" cy="14064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sz="3600" dirty="0">
                <a:latin typeface="Georgia"/>
                <a:ea typeface="Georgia"/>
                <a:cs typeface="Georgia"/>
                <a:sym typeface="Georgia"/>
              </a:rPr>
              <a:t>Lecture 4: Basic Machine Learning Concepts</a:t>
            </a:r>
            <a:endParaRPr sz="3600" dirty="0">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3"/>
          <p:cNvPicPr preferRelativeResize="0"/>
          <p:nvPr/>
        </p:nvPicPr>
        <p:blipFill>
          <a:blip r:embed="rId3">
            <a:alphaModFix/>
          </a:blip>
          <a:stretch>
            <a:fillRect/>
          </a:stretch>
        </p:blipFill>
        <p:spPr>
          <a:xfrm>
            <a:off x="721575" y="971675"/>
            <a:ext cx="7700851" cy="4013125"/>
          </a:xfrm>
          <a:prstGeom prst="rect">
            <a:avLst/>
          </a:prstGeom>
          <a:noFill/>
          <a:ln>
            <a:noFill/>
          </a:ln>
        </p:spPr>
      </p:pic>
      <p:sp>
        <p:nvSpPr>
          <p:cNvPr id="193" name="Google Shape;193;p23"/>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Georgia"/>
                <a:ea typeface="Georgia"/>
                <a:cs typeface="Georgia"/>
                <a:sym typeface="Georgia"/>
              </a:rPr>
              <a:t>Why ML: From Rules to Data</a:t>
            </a:r>
            <a:endParaRPr sz="3000" b="1">
              <a:solidFill>
                <a:schemeClr val="dk1"/>
              </a:solidFill>
              <a:latin typeface="Georgia"/>
              <a:ea typeface="Georgia"/>
              <a:cs typeface="Georgia"/>
              <a:sym typeface="Georgia"/>
            </a:endParaRPr>
          </a:p>
          <a:p>
            <a:pPr marL="0" lvl="0" indent="0" algn="ctr" rtl="0">
              <a:spcBef>
                <a:spcPts val="0"/>
              </a:spcBef>
              <a:spcAft>
                <a:spcPts val="0"/>
              </a:spcAft>
              <a:buNone/>
            </a:pPr>
            <a:endParaRPr sz="3600" b="1">
              <a:latin typeface="Georgia"/>
              <a:ea typeface="Georgia"/>
              <a:cs typeface="Georgia"/>
              <a:sym typeface="Georgia"/>
            </a:endParaRPr>
          </a:p>
        </p:txBody>
      </p:sp>
      <p:sp>
        <p:nvSpPr>
          <p:cNvPr id="194" name="Google Shape;194;p23"/>
          <p:cNvSpPr/>
          <p:nvPr/>
        </p:nvSpPr>
        <p:spPr>
          <a:xfrm>
            <a:off x="305825" y="3002700"/>
            <a:ext cx="8116500" cy="19971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000"/>
                                          </p:stCondLst>
                                        </p:cTn>
                                        <p:tgtEl>
                                          <p:spTgt spid="1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4"/>
          <p:cNvSpPr txBox="1">
            <a:spLocks noGrp="1"/>
          </p:cNvSpPr>
          <p:nvPr>
            <p:ph type="body" idx="1"/>
          </p:nvPr>
        </p:nvSpPr>
        <p:spPr>
          <a:xfrm>
            <a:off x="633845" y="959687"/>
            <a:ext cx="7886700" cy="3599400"/>
          </a:xfrm>
          <a:prstGeom prst="rect">
            <a:avLst/>
          </a:prstGeom>
        </p:spPr>
        <p:txBody>
          <a:bodyPr spcFirstLastPara="1" wrap="square" lIns="68575" tIns="34275" rIns="68575" bIns="34275" anchor="t" anchorCtr="0">
            <a:noAutofit/>
          </a:bodyPr>
          <a:lstStyle/>
          <a:p>
            <a:pPr marL="457200" marR="0" lvl="0" indent="-393700" algn="just" rtl="0">
              <a:lnSpc>
                <a:spcPct val="90000"/>
              </a:lnSpc>
              <a:spcBef>
                <a:spcPts val="0"/>
              </a:spcBef>
              <a:spcAft>
                <a:spcPts val="0"/>
              </a:spcAft>
              <a:buSzPts val="2600"/>
              <a:buFont typeface="Georgia"/>
              <a:buChar char="●"/>
            </a:pPr>
            <a:r>
              <a:rPr lang="en" sz="2600" dirty="0">
                <a:latin typeface="Georgia"/>
                <a:ea typeface="Georgia"/>
                <a:cs typeface="Georgia"/>
                <a:sym typeface="Georgia"/>
              </a:rPr>
              <a:t>Input: 1 | 2 | 3 | 4 | 5 | 6 </a:t>
            </a:r>
            <a:endParaRPr sz="2600" dirty="0">
              <a:latin typeface="Georgia"/>
              <a:ea typeface="Georgia"/>
              <a:cs typeface="Georgia"/>
              <a:sym typeface="Georgia"/>
            </a:endParaRPr>
          </a:p>
          <a:p>
            <a:pPr marL="457200" marR="0" lvl="0" indent="-393700" algn="just" rtl="0">
              <a:lnSpc>
                <a:spcPct val="90000"/>
              </a:lnSpc>
              <a:spcBef>
                <a:spcPts val="0"/>
              </a:spcBef>
              <a:spcAft>
                <a:spcPts val="0"/>
              </a:spcAft>
              <a:buSzPts val="2600"/>
              <a:buFont typeface="Georgia"/>
              <a:buChar char="●"/>
            </a:pPr>
            <a:r>
              <a:rPr lang="en" sz="2600" dirty="0">
                <a:latin typeface="Georgia"/>
                <a:ea typeface="Georgia"/>
                <a:cs typeface="Georgia"/>
                <a:sym typeface="Georgia"/>
              </a:rPr>
              <a:t>Output: 1  |  3  |  5  |  7  |  9  |  ?</a:t>
            </a:r>
            <a:endParaRPr sz="2600" dirty="0">
              <a:latin typeface="Georgia"/>
              <a:ea typeface="Georgia"/>
              <a:cs typeface="Georgia"/>
              <a:sym typeface="Georgia"/>
            </a:endParaRPr>
          </a:p>
          <a:p>
            <a:pPr marL="457200" marR="0" lvl="0" indent="-393700" algn="just" rtl="0">
              <a:lnSpc>
                <a:spcPct val="90000"/>
              </a:lnSpc>
              <a:spcBef>
                <a:spcPts val="0"/>
              </a:spcBef>
              <a:spcAft>
                <a:spcPts val="0"/>
              </a:spcAft>
              <a:buSzPts val="2600"/>
              <a:buFont typeface="Georgia"/>
              <a:buChar char="●"/>
            </a:pPr>
            <a:r>
              <a:rPr lang="en" sz="2600" dirty="0">
                <a:latin typeface="Georgia"/>
                <a:ea typeface="Georgia"/>
                <a:cs typeface="Georgia"/>
                <a:sym typeface="Georgia"/>
              </a:rPr>
              <a:t>Input = 6 -&gt; Output = ?</a:t>
            </a:r>
            <a:endParaRPr sz="2600" dirty="0">
              <a:latin typeface="Georgia"/>
              <a:ea typeface="Georgia"/>
              <a:cs typeface="Georgia"/>
              <a:sym typeface="Georgia"/>
            </a:endParaRPr>
          </a:p>
          <a:p>
            <a:pPr marL="914400" marR="0" lvl="1" indent="-393700" algn="just" rtl="0">
              <a:lnSpc>
                <a:spcPct val="90000"/>
              </a:lnSpc>
              <a:spcBef>
                <a:spcPts val="0"/>
              </a:spcBef>
              <a:spcAft>
                <a:spcPts val="0"/>
              </a:spcAft>
              <a:buSzPts val="2600"/>
              <a:buFont typeface="Georgia"/>
              <a:buChar char="○"/>
            </a:pPr>
            <a:r>
              <a:rPr lang="en" sz="2600" dirty="0">
                <a:latin typeface="Georgia"/>
                <a:ea typeface="Georgia"/>
                <a:cs typeface="Georgia"/>
                <a:sym typeface="Georgia"/>
              </a:rPr>
              <a:t>Output = 11</a:t>
            </a:r>
            <a:endParaRPr sz="2600" dirty="0">
              <a:latin typeface="Georgia"/>
              <a:ea typeface="Georgia"/>
              <a:cs typeface="Georgia"/>
              <a:sym typeface="Georgia"/>
            </a:endParaRPr>
          </a:p>
          <a:p>
            <a:pPr marL="914400" marR="0" lvl="1" indent="-393700" algn="just" rtl="0">
              <a:lnSpc>
                <a:spcPct val="90000"/>
              </a:lnSpc>
              <a:spcBef>
                <a:spcPts val="0"/>
              </a:spcBef>
              <a:spcAft>
                <a:spcPts val="0"/>
              </a:spcAft>
              <a:buSzPts val="2600"/>
              <a:buFont typeface="Georgia"/>
              <a:buChar char="○"/>
            </a:pPr>
            <a:r>
              <a:rPr lang="en" sz="2600" dirty="0">
                <a:latin typeface="Georgia"/>
                <a:ea typeface="Georgia"/>
                <a:cs typeface="Georgia"/>
                <a:sym typeface="Georgia"/>
              </a:rPr>
              <a:t>y = 2x - 1</a:t>
            </a:r>
            <a:endParaRPr sz="2600" dirty="0">
              <a:latin typeface="Georgia"/>
              <a:ea typeface="Georgia"/>
              <a:cs typeface="Georgia"/>
              <a:sym typeface="Georgia"/>
            </a:endParaRPr>
          </a:p>
          <a:p>
            <a:pPr marL="457200" lvl="0" indent="-393700" algn="just" rtl="0">
              <a:spcBef>
                <a:spcPts val="0"/>
              </a:spcBef>
              <a:spcAft>
                <a:spcPts val="0"/>
              </a:spcAft>
              <a:buSzPts val="2600"/>
              <a:buFont typeface="Georgia"/>
              <a:buChar char="●"/>
            </a:pPr>
            <a:r>
              <a:rPr lang="en" sz="2600" dirty="0">
                <a:latin typeface="Georgia"/>
                <a:ea typeface="Georgia"/>
                <a:cs typeface="Georgia"/>
                <a:sym typeface="Georgia"/>
              </a:rPr>
              <a:t>Input: 1 | 2 | 3 | 4 | 5 | 6 </a:t>
            </a:r>
            <a:endParaRPr sz="2600" dirty="0">
              <a:latin typeface="Georgia"/>
              <a:ea typeface="Georgia"/>
              <a:cs typeface="Georgia"/>
              <a:sym typeface="Georgia"/>
            </a:endParaRPr>
          </a:p>
          <a:p>
            <a:pPr marL="457200" lvl="0" indent="-393700" algn="just" rtl="0">
              <a:spcBef>
                <a:spcPts val="0"/>
              </a:spcBef>
              <a:spcAft>
                <a:spcPts val="0"/>
              </a:spcAft>
              <a:buSzPts val="2600"/>
              <a:buFont typeface="Georgia"/>
              <a:buChar char="●"/>
            </a:pPr>
            <a:r>
              <a:rPr lang="en" sz="2600" dirty="0">
                <a:latin typeface="Georgia"/>
                <a:ea typeface="Georgia"/>
                <a:cs typeface="Georgia"/>
                <a:sym typeface="Georgia"/>
              </a:rPr>
              <a:t>Output: 3  |  8  |  15  |  24  |  35  |  ?</a:t>
            </a:r>
            <a:endParaRPr sz="2600" dirty="0">
              <a:latin typeface="Georgia"/>
              <a:ea typeface="Georgia"/>
              <a:cs typeface="Georgia"/>
              <a:sym typeface="Georgia"/>
            </a:endParaRPr>
          </a:p>
          <a:p>
            <a:pPr marL="457200" lvl="0" indent="-393700" algn="just" rtl="0">
              <a:spcBef>
                <a:spcPts val="0"/>
              </a:spcBef>
              <a:spcAft>
                <a:spcPts val="0"/>
              </a:spcAft>
              <a:buSzPts val="2600"/>
              <a:buFont typeface="Georgia"/>
              <a:buChar char="●"/>
            </a:pPr>
            <a:r>
              <a:rPr lang="en" sz="2600" dirty="0">
                <a:latin typeface="Georgia"/>
                <a:ea typeface="Georgia"/>
                <a:cs typeface="Georgia"/>
                <a:sym typeface="Georgia"/>
              </a:rPr>
              <a:t>Input = 6 -&gt; Output = ?</a:t>
            </a:r>
            <a:endParaRPr sz="2600" dirty="0">
              <a:latin typeface="Georgia"/>
              <a:ea typeface="Georgia"/>
              <a:cs typeface="Georgia"/>
              <a:sym typeface="Georgia"/>
            </a:endParaRPr>
          </a:p>
          <a:p>
            <a:pPr marL="914400" lvl="1" indent="-393700" algn="just" rtl="0">
              <a:spcBef>
                <a:spcPts val="0"/>
              </a:spcBef>
              <a:spcAft>
                <a:spcPts val="0"/>
              </a:spcAft>
              <a:buSzPts val="2600"/>
              <a:buFont typeface="Georgia"/>
              <a:buChar char="○"/>
            </a:pPr>
            <a:r>
              <a:rPr lang="en" sz="2600" dirty="0">
                <a:latin typeface="Georgia"/>
                <a:ea typeface="Georgia"/>
                <a:cs typeface="Georgia"/>
                <a:sym typeface="Georgia"/>
              </a:rPr>
              <a:t>35</a:t>
            </a:r>
            <a:endParaRPr sz="2600" dirty="0">
              <a:latin typeface="Georgia"/>
              <a:ea typeface="Georgia"/>
              <a:cs typeface="Georgia"/>
              <a:sym typeface="Georgia"/>
            </a:endParaRPr>
          </a:p>
          <a:p>
            <a:pPr marL="914400" lvl="1" indent="-393700" algn="just" rtl="0">
              <a:spcBef>
                <a:spcPts val="0"/>
              </a:spcBef>
              <a:spcAft>
                <a:spcPts val="0"/>
              </a:spcAft>
              <a:buSzPts val="2600"/>
              <a:buFont typeface="Georgia"/>
              <a:buChar char="○"/>
            </a:pPr>
            <a:r>
              <a:rPr lang="en" sz="2600" dirty="0">
                <a:latin typeface="Georgia"/>
                <a:ea typeface="Georgia"/>
                <a:cs typeface="Georgia"/>
                <a:sym typeface="Georgia"/>
              </a:rPr>
              <a:t>y = x*(x+2)</a:t>
            </a:r>
            <a:endParaRPr sz="2600" dirty="0">
              <a:latin typeface="Georgia"/>
              <a:ea typeface="Georgia"/>
              <a:cs typeface="Georgia"/>
              <a:sym typeface="Georgia"/>
            </a:endParaRPr>
          </a:p>
          <a:p>
            <a:pPr marL="0" marR="0" lvl="0" indent="0" algn="just" rtl="0">
              <a:lnSpc>
                <a:spcPct val="90000"/>
              </a:lnSpc>
              <a:spcBef>
                <a:spcPts val="0"/>
              </a:spcBef>
              <a:spcAft>
                <a:spcPts val="0"/>
              </a:spcAft>
              <a:buNone/>
            </a:pPr>
            <a:endParaRPr sz="2600" dirty="0">
              <a:latin typeface="Georgia"/>
              <a:ea typeface="Georgia"/>
              <a:cs typeface="Georgia"/>
              <a:sym typeface="Georgia"/>
            </a:endParaRPr>
          </a:p>
        </p:txBody>
      </p:sp>
      <p:sp>
        <p:nvSpPr>
          <p:cNvPr id="200" name="Google Shape;200;p24"/>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dirty="0">
                <a:solidFill>
                  <a:schemeClr val="dk1"/>
                </a:solidFill>
                <a:latin typeface="Georgia"/>
                <a:ea typeface="Georgia"/>
                <a:cs typeface="Georgia"/>
                <a:sym typeface="Georgia"/>
              </a:rPr>
              <a:t>Exercise</a:t>
            </a:r>
            <a:endParaRPr sz="3600" b="1" dirty="0">
              <a:latin typeface="Georgia"/>
              <a:ea typeface="Georgia"/>
              <a:cs typeface="Georgia"/>
              <a:sym typeface="Georgia"/>
            </a:endParaRPr>
          </a:p>
        </p:txBody>
      </p:sp>
    </p:spTree>
    <p:extLst>
      <p:ext uri="{BB962C8B-B14F-4D97-AF65-F5344CB8AC3E}">
        <p14:creationId xmlns:p14="http://schemas.microsoft.com/office/powerpoint/2010/main" val="55205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body" idx="1"/>
          </p:nvPr>
        </p:nvSpPr>
        <p:spPr>
          <a:xfrm>
            <a:off x="633845" y="1014551"/>
            <a:ext cx="7886700" cy="3599400"/>
          </a:xfrm>
          <a:prstGeom prst="rect">
            <a:avLst/>
          </a:prstGeom>
        </p:spPr>
        <p:txBody>
          <a:bodyPr spcFirstLastPara="1" wrap="square" lIns="68575" tIns="34275" rIns="68575" bIns="34275" anchor="t" anchorCtr="0">
            <a:noAutofit/>
          </a:bodyPr>
          <a:lstStyle/>
          <a:p>
            <a:pPr marL="457200" marR="0" lvl="0" indent="-361950" algn="just" rtl="0">
              <a:lnSpc>
                <a:spcPct val="90000"/>
              </a:lnSpc>
              <a:spcBef>
                <a:spcPts val="0"/>
              </a:spcBef>
              <a:spcAft>
                <a:spcPts val="0"/>
              </a:spcAft>
              <a:buSzPts val="2100"/>
              <a:buFont typeface="Georgia"/>
              <a:buChar char="●"/>
            </a:pPr>
            <a:r>
              <a:rPr lang="en" dirty="0">
                <a:latin typeface="Georgia"/>
                <a:ea typeface="Georgia"/>
                <a:cs typeface="Georgia"/>
                <a:sym typeface="Georgia"/>
              </a:rPr>
              <a:t>Term “Machine Learning” coined by Arthur Samuel in 1959.</a:t>
            </a:r>
            <a:endParaRPr dirty="0">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u="sng" dirty="0">
                <a:solidFill>
                  <a:schemeClr val="hlink"/>
                </a:solidFill>
                <a:latin typeface="Georgia"/>
                <a:ea typeface="Georgia"/>
                <a:cs typeface="Georgia"/>
                <a:sym typeface="Georgia"/>
                <a:hlinkClick r:id="rId3"/>
              </a:rPr>
              <a:t>Samuel Checkers-playing Program</a:t>
            </a:r>
            <a:endParaRPr sz="2100" dirty="0">
              <a:latin typeface="Georgia"/>
              <a:ea typeface="Georgia"/>
              <a:cs typeface="Georgia"/>
              <a:sym typeface="Georgia"/>
            </a:endParaRPr>
          </a:p>
          <a:p>
            <a:pPr marL="914400" marR="0" lvl="0" indent="0" algn="just" rtl="0">
              <a:lnSpc>
                <a:spcPct val="90000"/>
              </a:lnSpc>
              <a:spcBef>
                <a:spcPts val="0"/>
              </a:spcBef>
              <a:spcAft>
                <a:spcPts val="0"/>
              </a:spcAft>
              <a:buNone/>
            </a:pPr>
            <a:endParaRPr dirty="0">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dirty="0">
                <a:latin typeface="Georgia"/>
                <a:ea typeface="Georgia"/>
                <a:cs typeface="Georgia"/>
                <a:sym typeface="Georgia"/>
              </a:rPr>
              <a:t>Common definition (by Tom Mitchell)</a:t>
            </a:r>
            <a:endParaRPr dirty="0">
              <a:latin typeface="Georgia"/>
              <a:ea typeface="Georgia"/>
              <a:cs typeface="Georgia"/>
              <a:sym typeface="Georgia"/>
            </a:endParaRPr>
          </a:p>
          <a:p>
            <a:pPr marL="457200" marR="0" lvl="0" indent="0" algn="just" rtl="0">
              <a:lnSpc>
                <a:spcPct val="90000"/>
              </a:lnSpc>
              <a:spcBef>
                <a:spcPts val="0"/>
              </a:spcBef>
              <a:spcAft>
                <a:spcPts val="0"/>
              </a:spcAft>
              <a:buNone/>
            </a:pPr>
            <a:endParaRPr dirty="0">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dirty="0">
                <a:latin typeface="Georgia"/>
                <a:ea typeface="Georgia"/>
                <a:cs typeface="Georgia"/>
                <a:sym typeface="Georgia"/>
              </a:rPr>
              <a:t>Machine Learning is the study of computer algorithms that improve automatically through experience</a:t>
            </a:r>
            <a:endParaRPr sz="2100" dirty="0">
              <a:latin typeface="Georgia"/>
              <a:ea typeface="Georgia"/>
              <a:cs typeface="Georgia"/>
              <a:sym typeface="Georgia"/>
            </a:endParaRPr>
          </a:p>
          <a:p>
            <a:pPr marL="457200" lvl="0" indent="-361950" algn="just" rtl="0">
              <a:spcBef>
                <a:spcPts val="0"/>
              </a:spcBef>
              <a:spcAft>
                <a:spcPts val="0"/>
              </a:spcAft>
              <a:buSzPts val="2100"/>
              <a:buFont typeface="Georgia"/>
              <a:buChar char="●"/>
            </a:pPr>
            <a:endParaRPr lang="en" dirty="0">
              <a:latin typeface="Georgia"/>
              <a:ea typeface="Georgia"/>
              <a:cs typeface="Georgia"/>
              <a:sym typeface="Georgia"/>
            </a:endParaRPr>
          </a:p>
          <a:p>
            <a:pPr marL="457200" lvl="0" indent="-361950" algn="just" rtl="0">
              <a:spcBef>
                <a:spcPts val="0"/>
              </a:spcBef>
              <a:spcAft>
                <a:spcPts val="0"/>
              </a:spcAft>
              <a:buSzPts val="2100"/>
              <a:buFont typeface="Georgia"/>
              <a:buChar char="●"/>
            </a:pPr>
            <a:r>
              <a:rPr lang="en" dirty="0">
                <a:latin typeface="Georgia"/>
                <a:ea typeface="Georgia"/>
                <a:cs typeface="Georgia"/>
                <a:sym typeface="Georgia"/>
              </a:rPr>
              <a:t>Study of algorithms that</a:t>
            </a:r>
            <a:endParaRPr dirty="0">
              <a:latin typeface="Georgia"/>
              <a:ea typeface="Georgia"/>
              <a:cs typeface="Georgia"/>
              <a:sym typeface="Georgia"/>
            </a:endParaRPr>
          </a:p>
          <a:p>
            <a:pPr marL="914400" lvl="1" indent="-361950" algn="just" rtl="0">
              <a:spcBef>
                <a:spcPts val="0"/>
              </a:spcBef>
              <a:spcAft>
                <a:spcPts val="0"/>
              </a:spcAft>
              <a:buSzPts val="2100"/>
              <a:buFont typeface="Georgia"/>
              <a:buChar char="○"/>
            </a:pPr>
            <a:r>
              <a:rPr lang="en" sz="2100" dirty="0">
                <a:latin typeface="Georgia"/>
                <a:ea typeface="Georgia"/>
                <a:cs typeface="Georgia"/>
                <a:sym typeface="Georgia"/>
              </a:rPr>
              <a:t>improve their performance P</a:t>
            </a:r>
            <a:endParaRPr sz="2100" dirty="0">
              <a:latin typeface="Georgia"/>
              <a:ea typeface="Georgia"/>
              <a:cs typeface="Georgia"/>
              <a:sym typeface="Georgia"/>
            </a:endParaRPr>
          </a:p>
          <a:p>
            <a:pPr marL="914400" lvl="1" indent="-361950" algn="just" rtl="0">
              <a:spcBef>
                <a:spcPts val="0"/>
              </a:spcBef>
              <a:spcAft>
                <a:spcPts val="0"/>
              </a:spcAft>
              <a:buSzPts val="2100"/>
              <a:buFont typeface="Georgia"/>
              <a:buChar char="○"/>
            </a:pPr>
            <a:r>
              <a:rPr lang="en" sz="2100" dirty="0">
                <a:latin typeface="Georgia"/>
                <a:ea typeface="Georgia"/>
                <a:cs typeface="Georgia"/>
                <a:sym typeface="Georgia"/>
              </a:rPr>
              <a:t>at some task T</a:t>
            </a:r>
            <a:endParaRPr sz="2100" dirty="0">
              <a:latin typeface="Georgia"/>
              <a:ea typeface="Georgia"/>
              <a:cs typeface="Georgia"/>
              <a:sym typeface="Georgia"/>
            </a:endParaRPr>
          </a:p>
          <a:p>
            <a:pPr marL="914400" lvl="1" indent="-361950" algn="just" rtl="0">
              <a:spcBef>
                <a:spcPts val="0"/>
              </a:spcBef>
              <a:spcAft>
                <a:spcPts val="0"/>
              </a:spcAft>
              <a:buSzPts val="2100"/>
              <a:buFont typeface="Georgia"/>
              <a:buChar char="○"/>
            </a:pPr>
            <a:r>
              <a:rPr lang="en" sz="2100" dirty="0">
                <a:latin typeface="Georgia"/>
                <a:ea typeface="Georgia"/>
                <a:cs typeface="Georgia"/>
                <a:sym typeface="Georgia"/>
              </a:rPr>
              <a:t>with experience E</a:t>
            </a:r>
            <a:endParaRPr sz="2100" dirty="0">
              <a:latin typeface="Georgia"/>
              <a:ea typeface="Georgia"/>
              <a:cs typeface="Georgia"/>
              <a:sym typeface="Georgia"/>
            </a:endParaRPr>
          </a:p>
          <a:p>
            <a:pPr marL="914400" lvl="0" indent="0" algn="just" rtl="0">
              <a:spcBef>
                <a:spcPts val="0"/>
              </a:spcBef>
              <a:spcAft>
                <a:spcPts val="0"/>
              </a:spcAft>
              <a:buNone/>
            </a:pPr>
            <a:endParaRPr dirty="0">
              <a:latin typeface="Georgia"/>
              <a:ea typeface="Georgia"/>
              <a:cs typeface="Georgia"/>
              <a:sym typeface="Georgia"/>
            </a:endParaRPr>
          </a:p>
          <a:p>
            <a:pPr marL="457200" lvl="0" indent="-361950" algn="just" rtl="0">
              <a:spcBef>
                <a:spcPts val="0"/>
              </a:spcBef>
              <a:spcAft>
                <a:spcPts val="0"/>
              </a:spcAft>
              <a:buSzPts val="2100"/>
              <a:buFont typeface="Georgia"/>
              <a:buChar char="●"/>
            </a:pPr>
            <a:r>
              <a:rPr lang="en" dirty="0">
                <a:latin typeface="Georgia"/>
                <a:ea typeface="Georgia"/>
                <a:cs typeface="Georgia"/>
                <a:sym typeface="Georgia"/>
              </a:rPr>
              <a:t>Well-defined learning task: &lt;P,T,E&gt; </a:t>
            </a:r>
            <a:endParaRPr dirty="0">
              <a:latin typeface="Georgia"/>
              <a:ea typeface="Georgia"/>
              <a:cs typeface="Georgia"/>
              <a:sym typeface="Georgia"/>
            </a:endParaRPr>
          </a:p>
          <a:p>
            <a:pPr marL="0" marR="0" lvl="0" indent="0" algn="just" rtl="0">
              <a:lnSpc>
                <a:spcPct val="90000"/>
              </a:lnSpc>
              <a:spcBef>
                <a:spcPts val="0"/>
              </a:spcBef>
              <a:spcAft>
                <a:spcPts val="0"/>
              </a:spcAft>
              <a:buNone/>
            </a:pPr>
            <a:endParaRPr dirty="0">
              <a:latin typeface="Georgia"/>
              <a:ea typeface="Georgia"/>
              <a:cs typeface="Georgia"/>
              <a:sym typeface="Georgia"/>
            </a:endParaRPr>
          </a:p>
        </p:txBody>
      </p:sp>
      <p:sp>
        <p:nvSpPr>
          <p:cNvPr id="206" name="Google Shape;206;p25"/>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dirty="0">
                <a:solidFill>
                  <a:schemeClr val="dk1"/>
                </a:solidFill>
                <a:latin typeface="Georgia"/>
                <a:ea typeface="Georgia"/>
                <a:cs typeface="Georgia"/>
                <a:sym typeface="Georgia"/>
              </a:rPr>
              <a:t>What is Machine Learning?</a:t>
            </a:r>
            <a:endParaRPr sz="3000" b="1" dirty="0">
              <a:solidFill>
                <a:schemeClr val="dk1"/>
              </a:solidFill>
              <a:latin typeface="Georgia"/>
              <a:ea typeface="Georgia"/>
              <a:cs typeface="Georgia"/>
              <a:sym typeface="Georgia"/>
            </a:endParaRPr>
          </a:p>
          <a:p>
            <a:pPr marL="0" lvl="0" indent="0" algn="ctr" rtl="0">
              <a:spcBef>
                <a:spcPts val="0"/>
              </a:spcBef>
              <a:spcAft>
                <a:spcPts val="0"/>
              </a:spcAft>
              <a:buNone/>
            </a:pPr>
            <a:endParaRPr sz="3600" b="1"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5">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body" idx="1"/>
          </p:nvPr>
        </p:nvSpPr>
        <p:spPr>
          <a:xfrm>
            <a:off x="633845" y="1188287"/>
            <a:ext cx="7886700" cy="3599400"/>
          </a:xfrm>
          <a:prstGeom prst="rect">
            <a:avLst/>
          </a:prstGeom>
        </p:spPr>
        <p:txBody>
          <a:bodyPr spcFirstLastPara="1" wrap="square" lIns="68575" tIns="34275" rIns="68575" bIns="34275" anchor="t" anchorCtr="0">
            <a:noAutofit/>
          </a:bodyPr>
          <a:lstStyle/>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Classification or Pattern Recognition</a:t>
            </a:r>
            <a:endParaRPr>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Regression or Prediction</a:t>
            </a:r>
            <a:endParaRPr>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Clustering</a:t>
            </a:r>
            <a:endParaRPr>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Synthesis or Sampling</a:t>
            </a:r>
            <a:endParaRPr>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Ranking</a:t>
            </a:r>
            <a:endParaRPr>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Recommendation Systems</a:t>
            </a:r>
            <a:endParaRPr>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Anomaly Detection</a:t>
            </a:r>
            <a:endParaRPr>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Data Mining etc.</a:t>
            </a:r>
            <a:endParaRPr>
              <a:latin typeface="Georgia"/>
              <a:ea typeface="Georgia"/>
              <a:cs typeface="Georgia"/>
              <a:sym typeface="Georgia"/>
            </a:endParaRPr>
          </a:p>
          <a:p>
            <a:pPr marL="0" marR="0" lvl="0" indent="0" algn="just" rtl="0">
              <a:lnSpc>
                <a:spcPct val="90000"/>
              </a:lnSpc>
              <a:spcBef>
                <a:spcPts val="0"/>
              </a:spcBef>
              <a:spcAft>
                <a:spcPts val="0"/>
              </a:spcAft>
              <a:buNone/>
            </a:pPr>
            <a:endParaRPr>
              <a:latin typeface="Georgia"/>
              <a:ea typeface="Georgia"/>
              <a:cs typeface="Georgia"/>
              <a:sym typeface="Georgia"/>
            </a:endParaRPr>
          </a:p>
        </p:txBody>
      </p:sp>
      <p:sp>
        <p:nvSpPr>
          <p:cNvPr id="212" name="Google Shape;212;p26"/>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Georgia"/>
                <a:ea typeface="Georgia"/>
                <a:cs typeface="Georgia"/>
                <a:sym typeface="Georgia"/>
              </a:rPr>
              <a:t>Task (T)</a:t>
            </a:r>
            <a:endParaRPr sz="3000" b="1">
              <a:solidFill>
                <a:schemeClr val="dk1"/>
              </a:solidFill>
              <a:latin typeface="Georgia"/>
              <a:ea typeface="Georgia"/>
              <a:cs typeface="Georgia"/>
              <a:sym typeface="Georgia"/>
            </a:endParaRPr>
          </a:p>
          <a:p>
            <a:pPr marL="0" lvl="0" indent="0" algn="ctr" rtl="0">
              <a:spcBef>
                <a:spcPts val="0"/>
              </a:spcBef>
              <a:spcAft>
                <a:spcPts val="0"/>
              </a:spcAft>
              <a:buNone/>
            </a:pPr>
            <a:endParaRPr sz="3600" b="1">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1">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1">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1">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7"/>
          <p:cNvSpPr txBox="1">
            <a:spLocks noGrp="1"/>
          </p:cNvSpPr>
          <p:nvPr>
            <p:ph type="body" idx="1"/>
          </p:nvPr>
        </p:nvSpPr>
        <p:spPr>
          <a:xfrm>
            <a:off x="539496" y="959438"/>
            <a:ext cx="8096400" cy="3599400"/>
          </a:xfrm>
          <a:prstGeom prst="rect">
            <a:avLst/>
          </a:prstGeom>
        </p:spPr>
        <p:txBody>
          <a:bodyPr spcFirstLastPara="1" wrap="square" lIns="68575" tIns="34275" rIns="68575" bIns="34275" anchor="t" anchorCtr="0">
            <a:noAutofit/>
          </a:bodyPr>
          <a:lstStyle/>
          <a:p>
            <a:pPr marL="457200" marR="0" lvl="0" indent="-361950" algn="just" rtl="0">
              <a:lnSpc>
                <a:spcPct val="90000"/>
              </a:lnSpc>
              <a:spcBef>
                <a:spcPts val="0"/>
              </a:spcBef>
              <a:spcAft>
                <a:spcPts val="0"/>
              </a:spcAft>
              <a:buSzPts val="2100"/>
              <a:buFont typeface="Georgia"/>
              <a:buChar char="●"/>
            </a:pPr>
            <a:r>
              <a:rPr lang="en" dirty="0">
                <a:latin typeface="Georgia"/>
                <a:ea typeface="Georgia"/>
                <a:cs typeface="Georgia"/>
                <a:sym typeface="Georgia"/>
              </a:rPr>
              <a:t>A quantitative measure to evaluate performance</a:t>
            </a:r>
            <a:endParaRPr dirty="0">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dirty="0">
                <a:latin typeface="Georgia"/>
                <a:ea typeface="Georgia"/>
                <a:cs typeface="Georgia"/>
                <a:sym typeface="Georgia"/>
              </a:rPr>
              <a:t>Usually Task specific</a:t>
            </a:r>
            <a:endParaRPr sz="2100" dirty="0">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dirty="0">
                <a:latin typeface="Georgia"/>
                <a:ea typeface="Georgia"/>
                <a:cs typeface="Georgia"/>
                <a:sym typeface="Georgia"/>
              </a:rPr>
              <a:t>Classification</a:t>
            </a:r>
            <a:endParaRPr dirty="0">
              <a:latin typeface="Georgia"/>
              <a:ea typeface="Georgia"/>
              <a:cs typeface="Georgia"/>
              <a:sym typeface="Georgia"/>
            </a:endParaRPr>
          </a:p>
          <a:p>
            <a:pPr marL="914400" marR="0" lvl="1" indent="-381000" algn="just" rtl="0">
              <a:lnSpc>
                <a:spcPct val="90000"/>
              </a:lnSpc>
              <a:spcBef>
                <a:spcPts val="0"/>
              </a:spcBef>
              <a:spcAft>
                <a:spcPts val="0"/>
              </a:spcAft>
              <a:buSzPts val="2400"/>
              <a:buFont typeface="Georgia"/>
              <a:buChar char="○"/>
            </a:pPr>
            <a:r>
              <a:rPr lang="en" sz="2400" dirty="0">
                <a:latin typeface="Georgia"/>
                <a:ea typeface="Georgia"/>
                <a:cs typeface="Georgia"/>
                <a:sym typeface="Georgia"/>
              </a:rPr>
              <a:t>Accuracy or Error Rate</a:t>
            </a:r>
            <a:endParaRPr sz="2400" dirty="0">
              <a:latin typeface="Georgia"/>
              <a:ea typeface="Georgia"/>
              <a:cs typeface="Georgia"/>
              <a:sym typeface="Georgia"/>
            </a:endParaRPr>
          </a:p>
          <a:p>
            <a:pPr marL="914400" marR="0" lvl="1" indent="-381000" algn="just" rtl="0">
              <a:lnSpc>
                <a:spcPct val="90000"/>
              </a:lnSpc>
              <a:spcBef>
                <a:spcPts val="0"/>
              </a:spcBef>
              <a:spcAft>
                <a:spcPts val="0"/>
              </a:spcAft>
              <a:buSzPts val="2400"/>
              <a:buFont typeface="Georgia"/>
              <a:buChar char="○"/>
            </a:pPr>
            <a:r>
              <a:rPr lang="en" sz="2400" dirty="0">
                <a:latin typeface="Georgia"/>
                <a:ea typeface="Georgia"/>
                <a:cs typeface="Georgia"/>
                <a:sym typeface="Georgia"/>
              </a:rPr>
              <a:t>= (TP+TN)/(TP+FP+FN+TN)</a:t>
            </a:r>
            <a:endParaRPr sz="2400" dirty="0">
              <a:latin typeface="Georgia"/>
              <a:ea typeface="Georgia"/>
              <a:cs typeface="Georgia"/>
              <a:sym typeface="Georgia"/>
            </a:endParaRPr>
          </a:p>
          <a:p>
            <a:pPr marL="0" marR="0" lvl="0" indent="0" algn="just" rtl="0">
              <a:lnSpc>
                <a:spcPct val="90000"/>
              </a:lnSpc>
              <a:spcBef>
                <a:spcPts val="0"/>
              </a:spcBef>
              <a:spcAft>
                <a:spcPts val="0"/>
              </a:spcAft>
              <a:buNone/>
            </a:pPr>
            <a:endParaRPr sz="2400" dirty="0">
              <a:latin typeface="Georgia"/>
              <a:ea typeface="Georgia"/>
              <a:cs typeface="Georgia"/>
              <a:sym typeface="Georgia"/>
            </a:endParaRPr>
          </a:p>
          <a:p>
            <a:pPr marL="0" marR="0" lvl="0" indent="0" algn="just" rtl="0">
              <a:lnSpc>
                <a:spcPct val="90000"/>
              </a:lnSpc>
              <a:spcBef>
                <a:spcPts val="0"/>
              </a:spcBef>
              <a:spcAft>
                <a:spcPts val="0"/>
              </a:spcAft>
              <a:buNone/>
            </a:pPr>
            <a:endParaRPr sz="2400" dirty="0">
              <a:latin typeface="Georgia"/>
              <a:ea typeface="Georgia"/>
              <a:cs typeface="Georgia"/>
              <a:sym typeface="Georgia"/>
            </a:endParaRPr>
          </a:p>
        </p:txBody>
      </p:sp>
      <p:sp>
        <p:nvSpPr>
          <p:cNvPr id="218" name="Google Shape;218;p27"/>
          <p:cNvSpPr txBox="1"/>
          <p:nvPr/>
        </p:nvSpPr>
        <p:spPr>
          <a:xfrm>
            <a:off x="516425" y="0"/>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Georgia"/>
                <a:ea typeface="Georgia"/>
                <a:cs typeface="Georgia"/>
                <a:sym typeface="Georgia"/>
              </a:rPr>
              <a:t>Performance (P)</a:t>
            </a:r>
            <a:endParaRPr sz="3600" b="1">
              <a:latin typeface="Georgia"/>
              <a:ea typeface="Georgia"/>
              <a:cs typeface="Georgia"/>
              <a:sym typeface="Georgia"/>
            </a:endParaRPr>
          </a:p>
        </p:txBody>
      </p:sp>
      <p:pic>
        <p:nvPicPr>
          <p:cNvPr id="219" name="Google Shape;219;p27"/>
          <p:cNvPicPr preferRelativeResize="0"/>
          <p:nvPr/>
        </p:nvPicPr>
        <p:blipFill>
          <a:blip r:embed="rId3">
            <a:alphaModFix/>
          </a:blip>
          <a:stretch>
            <a:fillRect/>
          </a:stretch>
        </p:blipFill>
        <p:spPr>
          <a:xfrm>
            <a:off x="1566152" y="2166425"/>
            <a:ext cx="5281676" cy="2977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8"/>
          <p:cNvSpPr txBox="1">
            <a:spLocks noGrp="1"/>
          </p:cNvSpPr>
          <p:nvPr>
            <p:ph type="body" idx="1"/>
          </p:nvPr>
        </p:nvSpPr>
        <p:spPr>
          <a:xfrm>
            <a:off x="633845" y="883487"/>
            <a:ext cx="7886700" cy="3599400"/>
          </a:xfrm>
          <a:prstGeom prst="rect">
            <a:avLst/>
          </a:prstGeom>
        </p:spPr>
        <p:txBody>
          <a:bodyPr spcFirstLastPara="1" wrap="square" lIns="68575" tIns="34275" rIns="68575" bIns="34275" anchor="t" anchorCtr="0">
            <a:noAutofit/>
          </a:bodyPr>
          <a:lstStyle/>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Supervised Learning</a:t>
            </a:r>
            <a:endParaRPr>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a:latin typeface="Georgia"/>
                <a:ea typeface="Georgia"/>
                <a:cs typeface="Georgia"/>
                <a:sym typeface="Georgia"/>
              </a:rPr>
              <a:t>Labelled data – (Data, target value)</a:t>
            </a:r>
            <a:endParaRPr sz="2100">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a:latin typeface="Georgia"/>
                <a:ea typeface="Georgia"/>
                <a:cs typeface="Georgia"/>
                <a:sym typeface="Georgia"/>
              </a:rPr>
              <a:t>Target value could be category/class labels, real value, real vector, etc.</a:t>
            </a:r>
            <a:endParaRPr sz="2100">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a:latin typeface="Georgia"/>
                <a:ea typeface="Georgia"/>
                <a:cs typeface="Georgia"/>
                <a:sym typeface="Georgia"/>
              </a:rPr>
              <a:t>Classification, Regression</a:t>
            </a:r>
            <a:endParaRPr sz="2100">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Unsupervised Learning</a:t>
            </a:r>
            <a:endParaRPr>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a:latin typeface="Georgia"/>
                <a:ea typeface="Georgia"/>
                <a:cs typeface="Georgia"/>
                <a:sym typeface="Georgia"/>
              </a:rPr>
              <a:t>Only data, no labels</a:t>
            </a:r>
            <a:endParaRPr sz="2100">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a:latin typeface="Georgia"/>
                <a:ea typeface="Georgia"/>
                <a:cs typeface="Georgia"/>
                <a:sym typeface="Georgia"/>
              </a:rPr>
              <a:t>Dimensionality Reduction, ICA, Clustering</a:t>
            </a:r>
            <a:endParaRPr sz="2100">
              <a:latin typeface="Georgia"/>
              <a:ea typeface="Georgia"/>
              <a:cs typeface="Georgia"/>
              <a:sym typeface="Georgia"/>
            </a:endParaRPr>
          </a:p>
          <a:p>
            <a:pPr marL="457200" marR="0" lvl="0" indent="-361950" algn="just" rtl="0">
              <a:lnSpc>
                <a:spcPct val="90000"/>
              </a:lnSpc>
              <a:spcBef>
                <a:spcPts val="0"/>
              </a:spcBef>
              <a:spcAft>
                <a:spcPts val="0"/>
              </a:spcAft>
              <a:buSzPts val="2100"/>
              <a:buFont typeface="Georgia"/>
              <a:buChar char="●"/>
            </a:pPr>
            <a:r>
              <a:rPr lang="en">
                <a:latin typeface="Georgia"/>
                <a:ea typeface="Georgia"/>
                <a:cs typeface="Georgia"/>
                <a:sym typeface="Georgia"/>
              </a:rPr>
              <a:t>Reinforcement Learning</a:t>
            </a:r>
            <a:endParaRPr>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a:latin typeface="Georgia"/>
                <a:ea typeface="Georgia"/>
                <a:cs typeface="Georgia"/>
                <a:sym typeface="Georgia"/>
              </a:rPr>
              <a:t>No examples, but a reward function</a:t>
            </a:r>
            <a:endParaRPr sz="2100">
              <a:latin typeface="Georgia"/>
              <a:ea typeface="Georgia"/>
              <a:cs typeface="Georgia"/>
              <a:sym typeface="Georgia"/>
            </a:endParaRPr>
          </a:p>
          <a:p>
            <a:pPr marL="914400" marR="0" lvl="1" indent="-361950" algn="just" rtl="0">
              <a:lnSpc>
                <a:spcPct val="90000"/>
              </a:lnSpc>
              <a:spcBef>
                <a:spcPts val="0"/>
              </a:spcBef>
              <a:spcAft>
                <a:spcPts val="0"/>
              </a:spcAft>
              <a:buSzPts val="2100"/>
              <a:buFont typeface="Georgia"/>
              <a:buChar char="○"/>
            </a:pPr>
            <a:r>
              <a:rPr lang="en" sz="2100">
                <a:latin typeface="Georgia"/>
                <a:ea typeface="Georgia"/>
                <a:cs typeface="Georgia"/>
                <a:sym typeface="Georgia"/>
              </a:rPr>
              <a:t>Payoff based on actions</a:t>
            </a:r>
            <a:endParaRPr sz="2100">
              <a:latin typeface="Georgia"/>
              <a:ea typeface="Georgia"/>
              <a:cs typeface="Georgia"/>
              <a:sym typeface="Georgia"/>
            </a:endParaRPr>
          </a:p>
        </p:txBody>
      </p:sp>
      <p:sp>
        <p:nvSpPr>
          <p:cNvPr id="225" name="Google Shape;225;p28"/>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Georgia"/>
                <a:ea typeface="Georgia"/>
                <a:cs typeface="Georgia"/>
                <a:sym typeface="Georgia"/>
              </a:rPr>
              <a:t>Experience (E): Types of ML</a:t>
            </a:r>
            <a:endParaRPr sz="3000" b="1">
              <a:solidFill>
                <a:schemeClr val="dk1"/>
              </a:solidFill>
              <a:latin typeface="Georgia"/>
              <a:ea typeface="Georgia"/>
              <a:cs typeface="Georgia"/>
              <a:sym typeface="Georgia"/>
            </a:endParaRPr>
          </a:p>
          <a:p>
            <a:pPr marL="0" lvl="0" indent="0" algn="ctr" rtl="0">
              <a:spcBef>
                <a:spcPts val="0"/>
              </a:spcBef>
              <a:spcAft>
                <a:spcPts val="0"/>
              </a:spcAft>
              <a:buNone/>
            </a:pPr>
            <a:endParaRPr sz="3600" b="1">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7"/>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Supervised vs Unsupervised vs RL</a:t>
            </a:r>
            <a:endParaRPr sz="3000">
              <a:solidFill>
                <a:srgbClr val="000000"/>
              </a:solidFill>
              <a:latin typeface="Georgia"/>
              <a:ea typeface="Georgia"/>
              <a:cs typeface="Georgia"/>
              <a:sym typeface="Georgia"/>
            </a:endParaRPr>
          </a:p>
        </p:txBody>
      </p:sp>
      <p:pic>
        <p:nvPicPr>
          <p:cNvPr id="358" name="Google Shape;358;p47"/>
          <p:cNvPicPr preferRelativeResize="0"/>
          <p:nvPr/>
        </p:nvPicPr>
        <p:blipFill>
          <a:blip r:embed="rId3">
            <a:alphaModFix/>
          </a:blip>
          <a:stretch>
            <a:fillRect/>
          </a:stretch>
        </p:blipFill>
        <p:spPr>
          <a:xfrm>
            <a:off x="1582450" y="975250"/>
            <a:ext cx="5895427" cy="4168251"/>
          </a:xfrm>
          <a:prstGeom prst="rect">
            <a:avLst/>
          </a:prstGeom>
          <a:noFill/>
          <a:ln>
            <a:noFill/>
          </a:ln>
        </p:spPr>
      </p:pic>
    </p:spTree>
    <p:extLst>
      <p:ext uri="{BB962C8B-B14F-4D97-AF65-F5344CB8AC3E}">
        <p14:creationId xmlns:p14="http://schemas.microsoft.com/office/powerpoint/2010/main" val="138057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9"/>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Georgia"/>
                <a:ea typeface="Georgia"/>
                <a:cs typeface="Georgia"/>
                <a:sym typeface="Georgia"/>
              </a:rPr>
              <a:t>Training and Testing</a:t>
            </a:r>
            <a:endParaRPr sz="3000" b="1">
              <a:solidFill>
                <a:schemeClr val="dk1"/>
              </a:solidFill>
              <a:latin typeface="Georgia"/>
              <a:ea typeface="Georgia"/>
              <a:cs typeface="Georgia"/>
              <a:sym typeface="Georgia"/>
            </a:endParaRPr>
          </a:p>
          <a:p>
            <a:pPr marL="0" lvl="0" indent="0" algn="ctr" rtl="0">
              <a:spcBef>
                <a:spcPts val="0"/>
              </a:spcBef>
              <a:spcAft>
                <a:spcPts val="0"/>
              </a:spcAft>
              <a:buNone/>
            </a:pPr>
            <a:endParaRPr sz="3600" b="1">
              <a:latin typeface="Georgia"/>
              <a:ea typeface="Georgia"/>
              <a:cs typeface="Georgia"/>
              <a:sym typeface="Georgia"/>
            </a:endParaRPr>
          </a:p>
        </p:txBody>
      </p:sp>
      <p:pic>
        <p:nvPicPr>
          <p:cNvPr id="231" name="Google Shape;231;p29"/>
          <p:cNvPicPr preferRelativeResize="0"/>
          <p:nvPr/>
        </p:nvPicPr>
        <p:blipFill>
          <a:blip r:embed="rId3">
            <a:alphaModFix/>
          </a:blip>
          <a:stretch>
            <a:fillRect/>
          </a:stretch>
        </p:blipFill>
        <p:spPr>
          <a:xfrm>
            <a:off x="179875" y="1715363"/>
            <a:ext cx="8839201" cy="1712786"/>
          </a:xfrm>
          <a:prstGeom prst="rect">
            <a:avLst/>
          </a:prstGeom>
          <a:noFill/>
          <a:ln>
            <a:noFill/>
          </a:ln>
        </p:spPr>
      </p:pic>
      <p:sp>
        <p:nvSpPr>
          <p:cNvPr id="232" name="Google Shape;232;p29"/>
          <p:cNvSpPr txBox="1"/>
          <p:nvPr/>
        </p:nvSpPr>
        <p:spPr>
          <a:xfrm>
            <a:off x="457200" y="3428150"/>
            <a:ext cx="3000000" cy="5448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n" sz="2600">
                <a:solidFill>
                  <a:schemeClr val="dk1"/>
                </a:solidFill>
                <a:latin typeface="Georgia"/>
                <a:ea typeface="Georgia"/>
                <a:cs typeface="Georgia"/>
                <a:sym typeface="Georgia"/>
              </a:rPr>
              <a:t>Training Phase</a:t>
            </a:r>
            <a:endParaRPr/>
          </a:p>
        </p:txBody>
      </p:sp>
      <p:sp>
        <p:nvSpPr>
          <p:cNvPr id="233" name="Google Shape;233;p29"/>
          <p:cNvSpPr txBox="1"/>
          <p:nvPr/>
        </p:nvSpPr>
        <p:spPr>
          <a:xfrm>
            <a:off x="4788675" y="3428150"/>
            <a:ext cx="3754200" cy="9051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n" sz="2600">
                <a:solidFill>
                  <a:schemeClr val="dk1"/>
                </a:solidFill>
                <a:latin typeface="Georgia"/>
                <a:ea typeface="Georgia"/>
                <a:cs typeface="Georgia"/>
                <a:sym typeface="Georgia"/>
              </a:rPr>
              <a:t>Testing/Deployment </a:t>
            </a:r>
            <a:br>
              <a:rPr lang="en" sz="2600">
                <a:solidFill>
                  <a:schemeClr val="dk1"/>
                </a:solidFill>
                <a:latin typeface="Georgia"/>
                <a:ea typeface="Georgia"/>
                <a:cs typeface="Georgia"/>
                <a:sym typeface="Georgia"/>
              </a:rPr>
            </a:br>
            <a:r>
              <a:rPr lang="en" sz="2600">
                <a:solidFill>
                  <a:schemeClr val="dk1"/>
                </a:solidFill>
                <a:latin typeface="Georgia"/>
                <a:ea typeface="Georgia"/>
                <a:cs typeface="Georgia"/>
                <a:sym typeface="Georgia"/>
              </a:rPr>
              <a:t>Phase</a:t>
            </a:r>
            <a:endParaRPr/>
          </a:p>
        </p:txBody>
      </p:sp>
      <p:sp>
        <p:nvSpPr>
          <p:cNvPr id="2" name="Google Shape;194;p23">
            <a:extLst>
              <a:ext uri="{FF2B5EF4-FFF2-40B4-BE49-F238E27FC236}">
                <a16:creationId xmlns:a16="http://schemas.microsoft.com/office/drawing/2014/main" id="{0451019D-89CD-F5C9-AF15-480F39567A04}"/>
              </a:ext>
            </a:extLst>
          </p:cNvPr>
          <p:cNvSpPr/>
          <p:nvPr/>
        </p:nvSpPr>
        <p:spPr>
          <a:xfrm>
            <a:off x="4355326" y="1335024"/>
            <a:ext cx="4532641" cy="2998226"/>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00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0"/>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Georgia"/>
                <a:ea typeface="Georgia"/>
                <a:cs typeface="Georgia"/>
                <a:sym typeface="Georgia"/>
              </a:rPr>
              <a:t>ML vs DL</a:t>
            </a:r>
            <a:endParaRPr sz="3000" b="1">
              <a:solidFill>
                <a:schemeClr val="dk1"/>
              </a:solidFill>
              <a:latin typeface="Georgia"/>
              <a:ea typeface="Georgia"/>
              <a:cs typeface="Georgia"/>
              <a:sym typeface="Georgia"/>
            </a:endParaRPr>
          </a:p>
          <a:p>
            <a:pPr marL="0" lvl="0" indent="0" algn="ctr" rtl="0">
              <a:spcBef>
                <a:spcPts val="0"/>
              </a:spcBef>
              <a:spcAft>
                <a:spcPts val="0"/>
              </a:spcAft>
              <a:buNone/>
            </a:pPr>
            <a:endParaRPr sz="3600" b="1">
              <a:latin typeface="Georgia"/>
              <a:ea typeface="Georgia"/>
              <a:cs typeface="Georgia"/>
              <a:sym typeface="Georgia"/>
            </a:endParaRPr>
          </a:p>
        </p:txBody>
      </p:sp>
      <p:pic>
        <p:nvPicPr>
          <p:cNvPr id="240" name="Google Shape;240;p30"/>
          <p:cNvPicPr preferRelativeResize="0"/>
          <p:nvPr/>
        </p:nvPicPr>
        <p:blipFill>
          <a:blip r:embed="rId3">
            <a:alphaModFix/>
          </a:blip>
          <a:stretch>
            <a:fillRect/>
          </a:stretch>
        </p:blipFill>
        <p:spPr>
          <a:xfrm>
            <a:off x="76200" y="957475"/>
            <a:ext cx="8839197" cy="1795283"/>
          </a:xfrm>
          <a:prstGeom prst="rect">
            <a:avLst/>
          </a:prstGeom>
          <a:noFill/>
          <a:ln>
            <a:noFill/>
          </a:ln>
        </p:spPr>
      </p:pic>
      <p:pic>
        <p:nvPicPr>
          <p:cNvPr id="241" name="Google Shape;241;p30"/>
          <p:cNvPicPr preferRelativeResize="0"/>
          <p:nvPr/>
        </p:nvPicPr>
        <p:blipFill>
          <a:blip r:embed="rId4">
            <a:alphaModFix/>
          </a:blip>
          <a:stretch>
            <a:fillRect/>
          </a:stretch>
        </p:blipFill>
        <p:spPr>
          <a:xfrm>
            <a:off x="152400" y="2905158"/>
            <a:ext cx="8839200" cy="19353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1"/>
          <p:cNvSpPr txBox="1">
            <a:spLocks noGrp="1"/>
          </p:cNvSpPr>
          <p:nvPr>
            <p:ph type="body" idx="1"/>
          </p:nvPr>
        </p:nvSpPr>
        <p:spPr>
          <a:xfrm>
            <a:off x="248725" y="883475"/>
            <a:ext cx="8581500" cy="3599400"/>
          </a:xfrm>
          <a:prstGeom prst="rect">
            <a:avLst/>
          </a:prstGeom>
        </p:spPr>
        <p:txBody>
          <a:bodyPr spcFirstLastPara="1" wrap="square" lIns="68575" tIns="34275" rIns="68575" bIns="34275" anchor="t" anchorCtr="0">
            <a:noAutofit/>
          </a:bodyPr>
          <a:lstStyle/>
          <a:p>
            <a:pPr marL="457200" marR="0" lvl="0" indent="-361950" algn="just" rtl="0">
              <a:lnSpc>
                <a:spcPct val="90000"/>
              </a:lnSpc>
              <a:spcBef>
                <a:spcPts val="0"/>
              </a:spcBef>
              <a:spcAft>
                <a:spcPts val="0"/>
              </a:spcAft>
              <a:buSzPts val="2100"/>
              <a:buFont typeface="Georgia"/>
              <a:buChar char="●"/>
            </a:pPr>
            <a:r>
              <a:rPr lang="en" b="1" dirty="0">
                <a:latin typeface="Georgia"/>
                <a:ea typeface="Georgia"/>
                <a:cs typeface="Georgia"/>
                <a:sym typeface="Georgia"/>
              </a:rPr>
              <a:t>Simple or deterministic problems: </a:t>
            </a:r>
            <a:r>
              <a:rPr lang="en" dirty="0">
                <a:latin typeface="Georgia"/>
                <a:ea typeface="Georgia"/>
                <a:cs typeface="Georgia"/>
                <a:sym typeface="Georgia"/>
              </a:rPr>
              <a:t>If the problem can be solved through simple rules or deterministic algorithms, then ML may not be necessary.</a:t>
            </a:r>
            <a:endParaRPr dirty="0">
              <a:latin typeface="Georgia"/>
              <a:ea typeface="Georgia"/>
              <a:cs typeface="Georgia"/>
              <a:sym typeface="Georgia"/>
            </a:endParaRPr>
          </a:p>
          <a:p>
            <a:pPr marL="457200" marR="0" lvl="0" indent="-317500" algn="just" rtl="0">
              <a:lnSpc>
                <a:spcPct val="90000"/>
              </a:lnSpc>
              <a:spcBef>
                <a:spcPts val="0"/>
              </a:spcBef>
              <a:spcAft>
                <a:spcPts val="0"/>
              </a:spcAft>
              <a:buSzPts val="1400"/>
              <a:buFont typeface="Georgia"/>
              <a:buChar char="●"/>
            </a:pPr>
            <a:r>
              <a:rPr lang="en" b="1" dirty="0">
                <a:latin typeface="Georgia"/>
                <a:ea typeface="Georgia"/>
                <a:cs typeface="Georgia"/>
                <a:sym typeface="Georgia"/>
              </a:rPr>
              <a:t>Insufficient or poor quality data: </a:t>
            </a:r>
            <a:r>
              <a:rPr lang="en" dirty="0">
                <a:latin typeface="Georgia"/>
                <a:ea typeface="Georgia"/>
                <a:cs typeface="Georgia"/>
                <a:sym typeface="Georgia"/>
              </a:rPr>
              <a:t>If the data is incomplete, noisy, biased, or of poor quality, then the ML model may not be effective or may produce inaccurate or biased results.</a:t>
            </a:r>
            <a:endParaRPr dirty="0">
              <a:latin typeface="Georgia"/>
              <a:ea typeface="Georgia"/>
              <a:cs typeface="Georgia"/>
              <a:sym typeface="Georgia"/>
            </a:endParaRPr>
          </a:p>
          <a:p>
            <a:pPr marL="457200" marR="0" lvl="0" indent="-317500" algn="just" rtl="0">
              <a:lnSpc>
                <a:spcPct val="90000"/>
              </a:lnSpc>
              <a:spcBef>
                <a:spcPts val="0"/>
              </a:spcBef>
              <a:spcAft>
                <a:spcPts val="0"/>
              </a:spcAft>
              <a:buSzPts val="1400"/>
              <a:buFont typeface="Georgia"/>
              <a:buChar char="●"/>
            </a:pPr>
            <a:r>
              <a:rPr lang="en" b="1" dirty="0">
                <a:latin typeface="Georgia"/>
                <a:ea typeface="Georgia"/>
                <a:cs typeface="Georgia"/>
                <a:sym typeface="Georgia"/>
              </a:rPr>
              <a:t>When the cost of errors is high: </a:t>
            </a:r>
            <a:r>
              <a:rPr lang="en" dirty="0">
                <a:latin typeface="Georgia"/>
                <a:ea typeface="Georgia"/>
                <a:cs typeface="Georgia"/>
                <a:sym typeface="Georgia"/>
              </a:rPr>
              <a:t>Machine learning models are not perfect, and they can make mistakes. For example, diagnosis of medical conditions. </a:t>
            </a:r>
            <a:endParaRPr dirty="0">
              <a:latin typeface="Georgia"/>
              <a:ea typeface="Georgia"/>
              <a:cs typeface="Georgia"/>
              <a:sym typeface="Georgia"/>
            </a:endParaRPr>
          </a:p>
          <a:p>
            <a:pPr marL="457200" marR="0" lvl="0" indent="-317500" algn="just" rtl="0">
              <a:lnSpc>
                <a:spcPct val="90000"/>
              </a:lnSpc>
              <a:spcBef>
                <a:spcPts val="0"/>
              </a:spcBef>
              <a:spcAft>
                <a:spcPts val="0"/>
              </a:spcAft>
              <a:buSzPts val="1400"/>
              <a:buFont typeface="Georgia"/>
              <a:buChar char="●"/>
            </a:pPr>
            <a:r>
              <a:rPr lang="en" b="1" dirty="0">
                <a:latin typeface="Georgia"/>
                <a:ea typeface="Georgia"/>
                <a:cs typeface="Georgia"/>
                <a:sym typeface="Georgia"/>
              </a:rPr>
              <a:t>Lack of interpretability: </a:t>
            </a:r>
            <a:r>
              <a:rPr lang="en" dirty="0">
                <a:latin typeface="Georgia"/>
                <a:ea typeface="Georgia"/>
                <a:cs typeface="Georgia"/>
                <a:sym typeface="Georgia"/>
              </a:rPr>
              <a:t>Some ML models, such as deep neural networks, can be difficult to interpret. This can be problematic in situations where it is important to understand how the model is making decisions.</a:t>
            </a:r>
            <a:endParaRPr dirty="0">
              <a:latin typeface="Georgia"/>
              <a:ea typeface="Georgia"/>
              <a:cs typeface="Georgia"/>
              <a:sym typeface="Georgia"/>
            </a:endParaRPr>
          </a:p>
        </p:txBody>
      </p:sp>
      <p:sp>
        <p:nvSpPr>
          <p:cNvPr id="247" name="Google Shape;247;p31"/>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Georgia"/>
                <a:ea typeface="Georgia"/>
                <a:cs typeface="Georgia"/>
                <a:sym typeface="Georgia"/>
              </a:rPr>
              <a:t>When to avoid ML?</a:t>
            </a:r>
            <a:endParaRPr sz="3600" b="1">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7"/>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3300"/>
              <a:buFont typeface="Calibri"/>
              <a:buNone/>
            </a:pPr>
            <a:r>
              <a:rPr lang="en" sz="3000">
                <a:solidFill>
                  <a:schemeClr val="dk1"/>
                </a:solidFill>
                <a:latin typeface="Georgia"/>
                <a:ea typeface="Georgia"/>
                <a:cs typeface="Georgia"/>
                <a:sym typeface="Georgia"/>
              </a:rPr>
              <a:t>4.1 Quiz</a:t>
            </a:r>
            <a:endParaRPr>
              <a:solidFill>
                <a:srgbClr val="3F3F3F"/>
              </a:solidFill>
            </a:endParaRPr>
          </a:p>
        </p:txBody>
      </p:sp>
      <p:pic>
        <p:nvPicPr>
          <p:cNvPr id="1026" name="Picture 2">
            <a:extLst>
              <a:ext uri="{FF2B5EF4-FFF2-40B4-BE49-F238E27FC236}">
                <a16:creationId xmlns:a16="http://schemas.microsoft.com/office/drawing/2014/main" id="{D77CB93A-A04D-177F-22F1-72A38860C9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726" y="803910"/>
            <a:ext cx="4339590" cy="4339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994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Supervised Learning</a:t>
            </a:r>
            <a:endParaRPr sz="3000">
              <a:solidFill>
                <a:srgbClr val="000000"/>
              </a:solidFill>
              <a:latin typeface="Georgia"/>
              <a:ea typeface="Georgia"/>
              <a:cs typeface="Georgia"/>
              <a:sym typeface="Georgia"/>
            </a:endParaRPr>
          </a:p>
        </p:txBody>
      </p:sp>
      <p:pic>
        <p:nvPicPr>
          <p:cNvPr id="254" name="Google Shape;254;p32"/>
          <p:cNvPicPr preferRelativeResize="0"/>
          <p:nvPr/>
        </p:nvPicPr>
        <p:blipFill>
          <a:blip r:embed="rId3">
            <a:alphaModFix/>
          </a:blip>
          <a:stretch>
            <a:fillRect/>
          </a:stretch>
        </p:blipFill>
        <p:spPr>
          <a:xfrm>
            <a:off x="1298863" y="977175"/>
            <a:ext cx="6462624" cy="3877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3"/>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Supervised Learning</a:t>
            </a:r>
            <a:endParaRPr sz="3000">
              <a:solidFill>
                <a:srgbClr val="000000"/>
              </a:solidFill>
              <a:latin typeface="Georgia"/>
              <a:ea typeface="Georgia"/>
              <a:cs typeface="Georgia"/>
              <a:sym typeface="Georgia"/>
            </a:endParaRPr>
          </a:p>
        </p:txBody>
      </p:sp>
      <p:sp>
        <p:nvSpPr>
          <p:cNvPr id="261" name="Google Shape;261;p33"/>
          <p:cNvSpPr txBox="1">
            <a:spLocks noGrp="1"/>
          </p:cNvSpPr>
          <p:nvPr>
            <p:ph type="body" idx="1"/>
          </p:nvPr>
        </p:nvSpPr>
        <p:spPr>
          <a:xfrm>
            <a:off x="586300" y="929325"/>
            <a:ext cx="7998900" cy="410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dirty="0">
                <a:latin typeface="Georgia"/>
                <a:ea typeface="Georgia"/>
                <a:cs typeface="Georgia"/>
                <a:sym typeface="Georgia"/>
              </a:rPr>
              <a:t>An algorithm is trained on a labeled dataset, where each input data point is associated with a corresponding output value or label.</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sz="2100" b="1" dirty="0">
                <a:latin typeface="Georgia"/>
                <a:ea typeface="Georgia"/>
                <a:cs typeface="Georgia"/>
                <a:sym typeface="Georgia"/>
              </a:rPr>
              <a:t>D</a:t>
            </a:r>
            <a:r>
              <a:rPr lang="en" sz="2100" dirty="0">
                <a:latin typeface="Georgia"/>
                <a:ea typeface="Georgia"/>
                <a:cs typeface="Georgia"/>
                <a:sym typeface="Georgia"/>
              </a:rPr>
              <a:t> = {(x</a:t>
            </a:r>
            <a:r>
              <a:rPr lang="en" sz="2100" baseline="-25000" dirty="0">
                <a:latin typeface="Georgia"/>
                <a:ea typeface="Georgia"/>
                <a:cs typeface="Georgia"/>
                <a:sym typeface="Georgia"/>
              </a:rPr>
              <a:t>1</a:t>
            </a:r>
            <a:r>
              <a:rPr lang="en" sz="2100" dirty="0">
                <a:latin typeface="Georgia"/>
                <a:ea typeface="Georgia"/>
                <a:cs typeface="Georgia"/>
                <a:sym typeface="Georgia"/>
              </a:rPr>
              <a:t>, y</a:t>
            </a:r>
            <a:r>
              <a:rPr lang="en" sz="2100" baseline="-25000" dirty="0">
                <a:latin typeface="Georgia"/>
                <a:ea typeface="Georgia"/>
                <a:cs typeface="Georgia"/>
                <a:sym typeface="Georgia"/>
              </a:rPr>
              <a:t>1</a:t>
            </a:r>
            <a:r>
              <a:rPr lang="en" sz="2100" dirty="0">
                <a:latin typeface="Georgia"/>
                <a:ea typeface="Georgia"/>
                <a:cs typeface="Georgia"/>
                <a:sym typeface="Georgia"/>
              </a:rPr>
              <a:t>), (x</a:t>
            </a:r>
            <a:r>
              <a:rPr lang="en" sz="2100" baseline="-25000" dirty="0">
                <a:latin typeface="Georgia"/>
                <a:ea typeface="Georgia"/>
                <a:cs typeface="Georgia"/>
                <a:sym typeface="Georgia"/>
              </a:rPr>
              <a:t>2</a:t>
            </a:r>
            <a:r>
              <a:rPr lang="en" sz="2100" dirty="0">
                <a:latin typeface="Georgia"/>
                <a:ea typeface="Georgia"/>
                <a:cs typeface="Georgia"/>
                <a:sym typeface="Georgia"/>
              </a:rPr>
              <a:t>, y</a:t>
            </a:r>
            <a:r>
              <a:rPr lang="en" sz="2100" baseline="-25000" dirty="0">
                <a:latin typeface="Georgia"/>
                <a:ea typeface="Georgia"/>
                <a:cs typeface="Georgia"/>
                <a:sym typeface="Georgia"/>
              </a:rPr>
              <a:t>2</a:t>
            </a:r>
            <a:r>
              <a:rPr lang="en" sz="2100" dirty="0">
                <a:latin typeface="Georgia"/>
                <a:ea typeface="Georgia"/>
                <a:cs typeface="Georgia"/>
                <a:sym typeface="Georgia"/>
              </a:rPr>
              <a:t>), …, (</a:t>
            </a:r>
            <a:r>
              <a:rPr lang="en" sz="2100" dirty="0" err="1">
                <a:latin typeface="Georgia"/>
                <a:ea typeface="Georgia"/>
                <a:cs typeface="Georgia"/>
                <a:sym typeface="Georgia"/>
              </a:rPr>
              <a:t>x</a:t>
            </a:r>
            <a:r>
              <a:rPr lang="en" sz="2100" baseline="-25000" dirty="0" err="1">
                <a:latin typeface="Georgia"/>
                <a:ea typeface="Georgia"/>
                <a:cs typeface="Georgia"/>
                <a:sym typeface="Georgia"/>
              </a:rPr>
              <a:t>n</a:t>
            </a:r>
            <a:r>
              <a:rPr lang="en" sz="2100" dirty="0">
                <a:latin typeface="Georgia"/>
                <a:ea typeface="Georgia"/>
                <a:cs typeface="Georgia"/>
                <a:sym typeface="Georgia"/>
              </a:rPr>
              <a:t>, </a:t>
            </a:r>
            <a:r>
              <a:rPr lang="en" sz="2100" dirty="0" err="1">
                <a:latin typeface="Georgia"/>
                <a:ea typeface="Georgia"/>
                <a:cs typeface="Georgia"/>
                <a:sym typeface="Georgia"/>
              </a:rPr>
              <a:t>y</a:t>
            </a:r>
            <a:r>
              <a:rPr lang="en" sz="2100" baseline="-25000" dirty="0" err="1">
                <a:latin typeface="Georgia"/>
                <a:ea typeface="Georgia"/>
                <a:cs typeface="Georgia"/>
                <a:sym typeface="Georgia"/>
              </a:rPr>
              <a:t>n</a:t>
            </a:r>
            <a:r>
              <a:rPr lang="en" sz="2100" dirty="0">
                <a:latin typeface="Georgia"/>
                <a:ea typeface="Georgia"/>
                <a:cs typeface="Georgia"/>
                <a:sym typeface="Georgia"/>
              </a:rPr>
              <a:t>)} </a:t>
            </a:r>
            <a:endParaRPr sz="2100" dirty="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The goal is to learn a mapping function that can predict the output value for new, unseen input data points.</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b="1" dirty="0">
                <a:latin typeface="Georgia"/>
                <a:ea typeface="Georgia"/>
                <a:cs typeface="Georgia"/>
                <a:sym typeface="Georgia"/>
              </a:rPr>
              <a:t>f : X -&gt; Y</a:t>
            </a:r>
            <a:endParaRPr b="1" dirty="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b="1" dirty="0">
                <a:latin typeface="Georgia"/>
                <a:ea typeface="Georgia"/>
                <a:cs typeface="Georgia"/>
                <a:sym typeface="Georgia"/>
              </a:rPr>
              <a:t>Input: </a:t>
            </a:r>
            <a:r>
              <a:rPr lang="en" dirty="0">
                <a:latin typeface="Georgia"/>
                <a:ea typeface="Georgia"/>
                <a:cs typeface="Georgia"/>
                <a:sym typeface="Georgia"/>
              </a:rPr>
              <a:t>Training examples {&lt;</a:t>
            </a:r>
            <a:r>
              <a:rPr lang="en" dirty="0" err="1">
                <a:latin typeface="Georgia"/>
                <a:ea typeface="Georgia"/>
                <a:cs typeface="Georgia"/>
                <a:sym typeface="Georgia"/>
              </a:rPr>
              <a:t>x</a:t>
            </a:r>
            <a:r>
              <a:rPr lang="en" baseline="-25000" dirty="0" err="1">
                <a:latin typeface="Georgia"/>
                <a:ea typeface="Georgia"/>
                <a:cs typeface="Georgia"/>
                <a:sym typeface="Georgia"/>
              </a:rPr>
              <a:t>i</a:t>
            </a:r>
            <a:r>
              <a:rPr lang="en" dirty="0" err="1">
                <a:latin typeface="Georgia"/>
                <a:ea typeface="Georgia"/>
                <a:cs typeface="Georgia"/>
                <a:sym typeface="Georgia"/>
              </a:rPr>
              <a:t>,y</a:t>
            </a:r>
            <a:r>
              <a:rPr lang="en" baseline="-25000" dirty="0" err="1">
                <a:latin typeface="Georgia"/>
                <a:ea typeface="Georgia"/>
                <a:cs typeface="Georgia"/>
                <a:sym typeface="Georgia"/>
              </a:rPr>
              <a:t>i</a:t>
            </a:r>
            <a:r>
              <a:rPr lang="en" dirty="0">
                <a:latin typeface="Georgia"/>
                <a:ea typeface="Georgia"/>
                <a:cs typeface="Georgia"/>
                <a:sym typeface="Georgia"/>
              </a:rPr>
              <a:t>&gt;} </a:t>
            </a:r>
            <a:endParaRPr dirty="0">
              <a:latin typeface="Georgia"/>
              <a:ea typeface="Georgia"/>
              <a:cs typeface="Georgia"/>
              <a:sym typeface="Georgia"/>
            </a:endParaRPr>
          </a:p>
          <a:p>
            <a:pPr lvl="0" indent="-381000" algn="just">
              <a:lnSpc>
                <a:spcPct val="80000"/>
              </a:lnSpc>
              <a:spcBef>
                <a:spcPts val="0"/>
              </a:spcBef>
              <a:buSzPts val="2400"/>
              <a:buFont typeface="Georgia"/>
              <a:buChar char="●"/>
            </a:pPr>
            <a:r>
              <a:rPr lang="en" b="1" dirty="0">
                <a:latin typeface="Georgia"/>
                <a:ea typeface="Georgia"/>
                <a:cs typeface="Georgia"/>
                <a:sym typeface="Georgia"/>
              </a:rPr>
              <a:t>Output: </a:t>
            </a:r>
            <a:r>
              <a:rPr lang="en-IN" sz="2000" dirty="0">
                <a:latin typeface="Georgia"/>
                <a:ea typeface="Georgia"/>
                <a:cs typeface="Georgia"/>
                <a:sym typeface="Georgia"/>
              </a:rPr>
              <a:t>Unknown target function </a:t>
            </a:r>
            <a:r>
              <a:rPr lang="en-IN" sz="2000" b="1" dirty="0">
                <a:latin typeface="Georgia"/>
                <a:ea typeface="Georgia"/>
                <a:cs typeface="Georgia"/>
                <a:sym typeface="Georgia"/>
              </a:rPr>
              <a:t>f : X -&gt; Y </a:t>
            </a:r>
            <a:r>
              <a:rPr lang="en-IN" sz="2000" dirty="0">
                <a:latin typeface="Georgia"/>
                <a:ea typeface="Georgia"/>
                <a:cs typeface="Georgia"/>
                <a:sym typeface="Georgia"/>
              </a:rPr>
              <a:t>as distribution </a:t>
            </a:r>
            <a:r>
              <a:rPr lang="en-IN" sz="2000" b="1" i="1" dirty="0">
                <a:latin typeface="Georgia"/>
                <a:ea typeface="Georgia"/>
                <a:cs typeface="Georgia"/>
                <a:sym typeface="Georgia"/>
              </a:rPr>
              <a:t>P(y/x)</a:t>
            </a:r>
          </a:p>
          <a:p>
            <a:pPr lvl="0" indent="-381000" algn="just">
              <a:lnSpc>
                <a:spcPct val="80000"/>
              </a:lnSpc>
              <a:spcBef>
                <a:spcPts val="0"/>
              </a:spcBef>
              <a:buSzPts val="2400"/>
              <a:buFont typeface="Georgia"/>
              <a:buChar char="●"/>
            </a:pPr>
            <a:r>
              <a:rPr lang="en-IN" sz="2000" dirty="0">
                <a:latin typeface="Georgia"/>
                <a:ea typeface="Georgia"/>
                <a:cs typeface="Georgia"/>
                <a:sym typeface="Georgia"/>
              </a:rPr>
              <a:t>Set of function hypotheses H={ h | h : X-&gt;Y }</a:t>
            </a:r>
            <a:endParaRPr dirty="0">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Examples:</a:t>
            </a:r>
            <a:endParaRPr b="1"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Classification:</a:t>
            </a:r>
            <a:r>
              <a:rPr lang="en" dirty="0">
                <a:latin typeface="Georgia"/>
                <a:ea typeface="Georgia"/>
                <a:cs typeface="Georgia"/>
                <a:sym typeface="Georgia"/>
              </a:rPr>
              <a:t> The input data is assigned to a category or class, such as whether an email is spam or not.</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Regression:</a:t>
            </a:r>
            <a:r>
              <a:rPr lang="en" dirty="0">
                <a:latin typeface="Georgia"/>
                <a:ea typeface="Georgia"/>
                <a:cs typeface="Georgia"/>
                <a:sym typeface="Georgia"/>
              </a:rPr>
              <a:t> The output value is a continuous variable, such as predicting the price of a house based on its features.</a:t>
            </a:r>
            <a:endParaRPr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1">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1">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2"/>
          <p:cNvSpPr txBox="1">
            <a:spLocks noGrp="1"/>
          </p:cNvSpPr>
          <p:nvPr>
            <p:ph type="title"/>
          </p:nvPr>
        </p:nvSpPr>
        <p:spPr>
          <a:xfrm>
            <a:off x="475370" y="205750"/>
            <a:ext cx="7976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Learning Process</a:t>
            </a:r>
            <a:endParaRPr sz="3000">
              <a:solidFill>
                <a:srgbClr val="000000"/>
              </a:solidFill>
              <a:latin typeface="Georgia"/>
              <a:ea typeface="Georgia"/>
              <a:cs typeface="Georgia"/>
              <a:sym typeface="Georgia"/>
            </a:endParaRPr>
          </a:p>
        </p:txBody>
      </p:sp>
      <p:sp>
        <p:nvSpPr>
          <p:cNvPr id="192" name="Google Shape;192;p22"/>
          <p:cNvSpPr txBox="1">
            <a:spLocks noGrp="1"/>
          </p:cNvSpPr>
          <p:nvPr>
            <p:ph type="body" idx="1"/>
          </p:nvPr>
        </p:nvSpPr>
        <p:spPr>
          <a:xfrm>
            <a:off x="273269" y="910119"/>
            <a:ext cx="8534400" cy="3508800"/>
          </a:xfrm>
          <a:prstGeom prst="rect">
            <a:avLst/>
          </a:prstGeom>
          <a:noFill/>
          <a:ln>
            <a:noFill/>
          </a:ln>
        </p:spPr>
        <p:txBody>
          <a:bodyPr spcFirstLastPara="1" wrap="square" lIns="68575" tIns="34275" rIns="68575" bIns="34275" anchor="t" anchorCtr="0">
            <a:noAutofit/>
          </a:bodyPr>
          <a:lstStyle/>
          <a:p>
            <a:pPr marL="457200" lvl="0" indent="-381000" algn="just" rtl="0">
              <a:lnSpc>
                <a:spcPct val="80000"/>
              </a:lnSpc>
              <a:spcBef>
                <a:spcPts val="800"/>
              </a:spcBef>
              <a:spcAft>
                <a:spcPts val="0"/>
              </a:spcAft>
              <a:buSzPts val="2400"/>
              <a:buFont typeface="Georgia"/>
              <a:buChar char="●"/>
            </a:pPr>
            <a:r>
              <a:rPr lang="en" sz="2400" dirty="0">
                <a:latin typeface="Georgia"/>
                <a:ea typeface="Georgia"/>
                <a:cs typeface="Georgia"/>
                <a:sym typeface="Georgia"/>
              </a:rPr>
              <a:t>The learning problem is to choose </a:t>
            </a:r>
            <a:r>
              <a:rPr lang="en" sz="2400" i="1" dirty="0">
                <a:latin typeface="Georgia"/>
                <a:ea typeface="Georgia"/>
                <a:cs typeface="Georgia"/>
                <a:sym typeface="Georgia"/>
              </a:rPr>
              <a:t>h</a:t>
            </a:r>
            <a:r>
              <a:rPr lang="en" sz="2400" dirty="0">
                <a:latin typeface="Georgia"/>
                <a:ea typeface="Georgia"/>
                <a:cs typeface="Georgia"/>
                <a:sym typeface="Georgia"/>
              </a:rPr>
              <a:t> from the given set of functions the one which best approximates the supervisor’s response. </a:t>
            </a:r>
            <a:endParaRPr sz="2400" dirty="0">
              <a:latin typeface="Georgia"/>
              <a:ea typeface="Georgia"/>
              <a:cs typeface="Georgia"/>
              <a:sym typeface="Georgia"/>
            </a:endParaRPr>
          </a:p>
          <a:p>
            <a:pPr marL="457200" lvl="0" indent="-381000" algn="just" rtl="0">
              <a:lnSpc>
                <a:spcPct val="80000"/>
              </a:lnSpc>
              <a:spcBef>
                <a:spcPts val="800"/>
              </a:spcBef>
              <a:spcAft>
                <a:spcPts val="0"/>
              </a:spcAft>
              <a:buSzPts val="2400"/>
              <a:buFont typeface="Georgia"/>
              <a:buChar char="●"/>
            </a:pPr>
            <a:r>
              <a:rPr lang="en" sz="2400" dirty="0">
                <a:latin typeface="Georgia"/>
                <a:ea typeface="Georgia"/>
                <a:cs typeface="Georgia"/>
                <a:sym typeface="Georgia"/>
              </a:rPr>
              <a:t>The selection is based on training samples	</a:t>
            </a:r>
            <a:endParaRPr lang="en-IN" sz="2400" dirty="0">
              <a:latin typeface="Georgia"/>
              <a:ea typeface="Georgia"/>
              <a:cs typeface="Georgia"/>
              <a:sym typeface="Georgia"/>
            </a:endParaRPr>
          </a:p>
          <a:p>
            <a:pPr lvl="0" indent="-381000" algn="just">
              <a:lnSpc>
                <a:spcPct val="80000"/>
              </a:lnSpc>
              <a:spcBef>
                <a:spcPts val="0"/>
              </a:spcBef>
              <a:buSzPts val="2400"/>
              <a:buFont typeface="Georgia"/>
              <a:buChar char="●"/>
            </a:pPr>
            <a:endParaRPr lang="en-IN" sz="2400" b="1" dirty="0">
              <a:latin typeface="Georgia"/>
              <a:ea typeface="Georgia"/>
              <a:cs typeface="Georgia"/>
              <a:sym typeface="Georgia"/>
            </a:endParaRPr>
          </a:p>
          <a:p>
            <a:pPr lvl="0" indent="-381000" algn="just">
              <a:lnSpc>
                <a:spcPct val="80000"/>
              </a:lnSpc>
              <a:spcBef>
                <a:spcPts val="0"/>
              </a:spcBef>
              <a:buSzPts val="2400"/>
              <a:buFont typeface="Georgia"/>
              <a:buChar char="●"/>
            </a:pPr>
            <a:endParaRPr lang="en-IN" sz="2400" b="1" dirty="0">
              <a:latin typeface="Georgia"/>
              <a:ea typeface="Georgia"/>
              <a:cs typeface="Georgia"/>
              <a:sym typeface="Georgia"/>
            </a:endParaRPr>
          </a:p>
          <a:p>
            <a:pPr lvl="0" indent="-381000" algn="just">
              <a:lnSpc>
                <a:spcPct val="80000"/>
              </a:lnSpc>
              <a:spcBef>
                <a:spcPts val="0"/>
              </a:spcBef>
              <a:buSzPts val="2400"/>
              <a:buFont typeface="Georgia"/>
              <a:buChar char="●"/>
            </a:pPr>
            <a:endParaRPr lang="en-IN" sz="2400" b="1" dirty="0">
              <a:latin typeface="Georgia"/>
              <a:ea typeface="Georgia"/>
              <a:cs typeface="Georgia"/>
              <a:sym typeface="Georgia"/>
            </a:endParaRPr>
          </a:p>
          <a:p>
            <a:pPr indent="-381000" algn="just">
              <a:lnSpc>
                <a:spcPct val="80000"/>
              </a:lnSpc>
              <a:spcBef>
                <a:spcPts val="0"/>
              </a:spcBef>
              <a:buSzPts val="2400"/>
              <a:buFont typeface="Georgia"/>
              <a:buChar char="●"/>
            </a:pPr>
            <a:r>
              <a:rPr lang="en" sz="2400" dirty="0">
                <a:latin typeface="Georgia"/>
                <a:ea typeface="Georgia"/>
                <a:cs typeface="Georgia"/>
                <a:sym typeface="Georgia"/>
              </a:rPr>
              <a:t>Note: Picking the function f (via hypothesis h) that minimizes the empirical risk is known as </a:t>
            </a:r>
            <a:r>
              <a:rPr lang="en" sz="2400" i="1" dirty="0">
                <a:latin typeface="Georgia"/>
                <a:ea typeface="Georgia"/>
                <a:cs typeface="Georgia"/>
                <a:sym typeface="Georgia"/>
              </a:rPr>
              <a:t>empirical risk minimization</a:t>
            </a:r>
            <a:r>
              <a:rPr lang="en" sz="2400" dirty="0">
                <a:latin typeface="Georgia"/>
                <a:ea typeface="Georgia"/>
                <a:cs typeface="Georgia"/>
                <a:sym typeface="Georgia"/>
              </a:rPr>
              <a:t>!</a:t>
            </a:r>
          </a:p>
          <a:p>
            <a:pPr marL="76200" lvl="0" indent="0" algn="just">
              <a:lnSpc>
                <a:spcPct val="80000"/>
              </a:lnSpc>
              <a:spcBef>
                <a:spcPts val="0"/>
              </a:spcBef>
              <a:buSzPts val="2400"/>
              <a:buNone/>
            </a:pPr>
            <a:endParaRPr lang="en-IN" sz="2400" b="1" dirty="0">
              <a:latin typeface="Georgia"/>
              <a:ea typeface="Georgia"/>
              <a:cs typeface="Georgia"/>
              <a:sym typeface="Georgia"/>
            </a:endParaRPr>
          </a:p>
          <a:p>
            <a:pPr lvl="0" indent="-381000" algn="just">
              <a:lnSpc>
                <a:spcPct val="80000"/>
              </a:lnSpc>
              <a:spcBef>
                <a:spcPts val="0"/>
              </a:spcBef>
              <a:buSzPts val="2400"/>
              <a:buFont typeface="Georgia"/>
              <a:buChar char="●"/>
            </a:pPr>
            <a:r>
              <a:rPr lang="en-IN" sz="2400" b="1" dirty="0">
                <a:latin typeface="Georgia"/>
                <a:ea typeface="Georgia"/>
                <a:cs typeface="Georgia"/>
                <a:sym typeface="Georgia"/>
              </a:rPr>
              <a:t>Input: </a:t>
            </a:r>
            <a:r>
              <a:rPr lang="en-IN" sz="2400" dirty="0">
                <a:latin typeface="Georgia"/>
                <a:ea typeface="Georgia"/>
                <a:cs typeface="Georgia"/>
                <a:sym typeface="Georgia"/>
              </a:rPr>
              <a:t>Training examples {&lt;</a:t>
            </a:r>
            <a:r>
              <a:rPr lang="en-IN" sz="2400" dirty="0" err="1">
                <a:latin typeface="Georgia"/>
                <a:ea typeface="Georgia"/>
                <a:cs typeface="Georgia"/>
                <a:sym typeface="Georgia"/>
              </a:rPr>
              <a:t>x</a:t>
            </a:r>
            <a:r>
              <a:rPr lang="en-IN" sz="2400" baseline="-25000" dirty="0" err="1">
                <a:latin typeface="Georgia"/>
                <a:ea typeface="Georgia"/>
                <a:cs typeface="Georgia"/>
                <a:sym typeface="Georgia"/>
              </a:rPr>
              <a:t>i</a:t>
            </a:r>
            <a:r>
              <a:rPr lang="en-IN" sz="2400" dirty="0" err="1">
                <a:latin typeface="Georgia"/>
                <a:ea typeface="Georgia"/>
                <a:cs typeface="Georgia"/>
                <a:sym typeface="Georgia"/>
              </a:rPr>
              <a:t>,y</a:t>
            </a:r>
            <a:r>
              <a:rPr lang="en-IN" sz="2400" baseline="-25000" dirty="0" err="1">
                <a:latin typeface="Georgia"/>
                <a:ea typeface="Georgia"/>
                <a:cs typeface="Georgia"/>
                <a:sym typeface="Georgia"/>
              </a:rPr>
              <a:t>i</a:t>
            </a:r>
            <a:r>
              <a:rPr lang="en-IN" sz="2400" dirty="0">
                <a:latin typeface="Georgia"/>
                <a:ea typeface="Georgia"/>
                <a:cs typeface="Georgia"/>
                <a:sym typeface="Georgia"/>
              </a:rPr>
              <a:t>&gt;} </a:t>
            </a:r>
          </a:p>
          <a:p>
            <a:pPr lvl="0" indent="-381000" algn="just">
              <a:lnSpc>
                <a:spcPct val="80000"/>
              </a:lnSpc>
              <a:spcBef>
                <a:spcPts val="0"/>
              </a:spcBef>
              <a:buSzPts val="2400"/>
              <a:buFont typeface="Georgia"/>
              <a:buChar char="●"/>
            </a:pPr>
            <a:r>
              <a:rPr lang="en-IN" sz="2400" b="1" dirty="0">
                <a:latin typeface="Georgia"/>
                <a:ea typeface="Georgia"/>
                <a:cs typeface="Georgia"/>
                <a:sym typeface="Georgia"/>
              </a:rPr>
              <a:t>Output: </a:t>
            </a:r>
            <a:r>
              <a:rPr lang="en-IN" sz="2400" dirty="0">
                <a:latin typeface="Georgia"/>
                <a:ea typeface="Georgia"/>
                <a:cs typeface="Georgia"/>
                <a:sym typeface="Georgia"/>
              </a:rPr>
              <a:t>Hypothesis h ∈ H that best approximates target function f</a:t>
            </a:r>
          </a:p>
          <a:p>
            <a:pPr marL="0" lvl="0" indent="0" algn="just" rtl="0">
              <a:lnSpc>
                <a:spcPct val="80000"/>
              </a:lnSpc>
              <a:spcBef>
                <a:spcPts val="800"/>
              </a:spcBef>
              <a:spcAft>
                <a:spcPts val="0"/>
              </a:spcAft>
              <a:buNone/>
            </a:pPr>
            <a:endParaRPr sz="2400" dirty="0">
              <a:latin typeface="Georgia"/>
              <a:ea typeface="Georgia"/>
              <a:cs typeface="Georgia"/>
              <a:sym typeface="Georgia"/>
            </a:endParaRPr>
          </a:p>
        </p:txBody>
      </p:sp>
      <p:pic>
        <p:nvPicPr>
          <p:cNvPr id="193" name="Google Shape;193;p22"/>
          <p:cNvPicPr preferRelativeResize="0"/>
          <p:nvPr/>
        </p:nvPicPr>
        <p:blipFill>
          <a:blip r:embed="rId3">
            <a:alphaModFix/>
          </a:blip>
          <a:stretch>
            <a:fillRect/>
          </a:stretch>
        </p:blipFill>
        <p:spPr>
          <a:xfrm>
            <a:off x="2506032" y="2571750"/>
            <a:ext cx="3914775" cy="476250"/>
          </a:xfrm>
          <a:prstGeom prst="rect">
            <a:avLst/>
          </a:prstGeom>
          <a:noFill/>
          <a:ln>
            <a:noFill/>
          </a:ln>
        </p:spPr>
      </p:pic>
    </p:spTree>
    <p:extLst>
      <p:ext uri="{BB962C8B-B14F-4D97-AF65-F5344CB8AC3E}">
        <p14:creationId xmlns:p14="http://schemas.microsoft.com/office/powerpoint/2010/main" val="53499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6"/>
          <p:cNvSpPr txBox="1">
            <a:spLocks noGrp="1"/>
          </p:cNvSpPr>
          <p:nvPr>
            <p:ph type="title"/>
          </p:nvPr>
        </p:nvSpPr>
        <p:spPr>
          <a:xfrm>
            <a:off x="475370" y="205750"/>
            <a:ext cx="7976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How to choose h?</a:t>
            </a:r>
            <a:endParaRPr sz="3000">
              <a:solidFill>
                <a:srgbClr val="000000"/>
              </a:solidFill>
              <a:latin typeface="Georgia"/>
              <a:ea typeface="Georgia"/>
              <a:cs typeface="Georgia"/>
              <a:sym typeface="Georgia"/>
            </a:endParaRPr>
          </a:p>
        </p:txBody>
      </p:sp>
      <p:sp>
        <p:nvSpPr>
          <p:cNvPr id="225" name="Google Shape;225;p26"/>
          <p:cNvSpPr txBox="1">
            <a:spLocks noGrp="1"/>
          </p:cNvSpPr>
          <p:nvPr>
            <p:ph type="body" idx="1"/>
          </p:nvPr>
        </p:nvSpPr>
        <p:spPr>
          <a:xfrm>
            <a:off x="475375" y="929325"/>
            <a:ext cx="7976100" cy="4009800"/>
          </a:xfrm>
          <a:prstGeom prst="rect">
            <a:avLst/>
          </a:prstGeom>
          <a:noFill/>
          <a:ln>
            <a:noFill/>
          </a:ln>
        </p:spPr>
        <p:txBody>
          <a:bodyPr spcFirstLastPara="1" wrap="square" lIns="68575" tIns="34275" rIns="68575" bIns="34275" anchor="t" anchorCtr="0">
            <a:noAutofit/>
          </a:bodyPr>
          <a:lstStyle/>
          <a:p>
            <a:pPr marL="457200" lvl="0" indent="-381000" algn="just" rtl="0">
              <a:lnSpc>
                <a:spcPct val="80000"/>
              </a:lnSpc>
              <a:spcBef>
                <a:spcPts val="800"/>
              </a:spcBef>
              <a:spcAft>
                <a:spcPts val="0"/>
              </a:spcAft>
              <a:buSzPts val="2400"/>
              <a:buFont typeface="Georgia"/>
              <a:buChar char="●"/>
            </a:pPr>
            <a:r>
              <a:rPr lang="en" sz="2400" dirty="0">
                <a:latin typeface="Georgia"/>
                <a:ea typeface="Georgia"/>
                <a:cs typeface="Georgia"/>
                <a:sym typeface="Georgia"/>
              </a:rPr>
              <a:t>Randomly:</a:t>
            </a:r>
            <a:endParaRPr sz="2400" dirty="0">
              <a:latin typeface="Georgia"/>
              <a:ea typeface="Georgia"/>
              <a:cs typeface="Georgia"/>
              <a:sym typeface="Georgia"/>
            </a:endParaRPr>
          </a:p>
          <a:p>
            <a:pPr marL="914400" lvl="1" indent="-381000" algn="just" rtl="0">
              <a:lnSpc>
                <a:spcPct val="80000"/>
              </a:lnSpc>
              <a:spcBef>
                <a:spcPts val="0"/>
              </a:spcBef>
              <a:spcAft>
                <a:spcPts val="0"/>
              </a:spcAft>
              <a:buSzPts val="2400"/>
              <a:buFont typeface="Georgia"/>
              <a:buChar char="○"/>
            </a:pPr>
            <a:r>
              <a:rPr lang="en" sz="2400" dirty="0">
                <a:latin typeface="Georgia"/>
                <a:ea typeface="Georgia"/>
                <a:cs typeface="Georgia"/>
                <a:sym typeface="Georgia"/>
              </a:rPr>
              <a:t>Advantage: Really fast</a:t>
            </a:r>
            <a:endParaRPr sz="2400" dirty="0">
              <a:latin typeface="Georgia"/>
              <a:ea typeface="Georgia"/>
              <a:cs typeface="Georgia"/>
              <a:sym typeface="Georgia"/>
            </a:endParaRPr>
          </a:p>
          <a:p>
            <a:pPr marL="914400" lvl="1" indent="-381000" algn="just" rtl="0">
              <a:lnSpc>
                <a:spcPct val="80000"/>
              </a:lnSpc>
              <a:spcBef>
                <a:spcPts val="0"/>
              </a:spcBef>
              <a:spcAft>
                <a:spcPts val="0"/>
              </a:spcAft>
              <a:buSzPts val="2400"/>
              <a:buFont typeface="Georgia"/>
              <a:buChar char="○"/>
            </a:pPr>
            <a:r>
              <a:rPr lang="en" sz="2400" dirty="0">
                <a:latin typeface="Georgia"/>
                <a:ea typeface="Georgia"/>
                <a:cs typeface="Georgia"/>
                <a:sym typeface="Georgia"/>
              </a:rPr>
              <a:t>Disadvantage: Terrible performance</a:t>
            </a:r>
            <a:endParaRPr sz="2400" dirty="0">
              <a:latin typeface="Georgia"/>
              <a:ea typeface="Georgia"/>
              <a:cs typeface="Georgia"/>
              <a:sym typeface="Georgia"/>
            </a:endParaRPr>
          </a:p>
          <a:p>
            <a:pPr marL="0" lvl="0" indent="0" algn="ctr" rtl="0">
              <a:lnSpc>
                <a:spcPct val="80000"/>
              </a:lnSpc>
              <a:spcBef>
                <a:spcPts val="800"/>
              </a:spcBef>
              <a:spcAft>
                <a:spcPts val="0"/>
              </a:spcAft>
              <a:buNone/>
            </a:pPr>
            <a:r>
              <a:rPr lang="en" sz="2400" dirty="0">
                <a:latin typeface="Georgia"/>
                <a:ea typeface="Georgia"/>
                <a:cs typeface="Georgia"/>
                <a:sym typeface="Georgia"/>
              </a:rPr>
              <a:t>	</a:t>
            </a:r>
            <a:endParaRPr sz="2400" dirty="0">
              <a:latin typeface="Georgia"/>
              <a:ea typeface="Georgia"/>
              <a:cs typeface="Georgia"/>
              <a:sym typeface="Georgia"/>
            </a:endParaRPr>
          </a:p>
          <a:p>
            <a:pPr marL="457200" lvl="0" indent="-381000" algn="just" rtl="0">
              <a:lnSpc>
                <a:spcPct val="80000"/>
              </a:lnSpc>
              <a:spcBef>
                <a:spcPts val="800"/>
              </a:spcBef>
              <a:spcAft>
                <a:spcPts val="0"/>
              </a:spcAft>
              <a:buSzPts val="2400"/>
              <a:buFont typeface="Georgia"/>
              <a:buChar char="●"/>
            </a:pPr>
            <a:r>
              <a:rPr lang="en" sz="2400" dirty="0">
                <a:latin typeface="Georgia"/>
                <a:ea typeface="Georgia"/>
                <a:cs typeface="Georgia"/>
                <a:sym typeface="Georgia"/>
              </a:rPr>
              <a:t>Scan entire </a:t>
            </a:r>
            <a:r>
              <a:rPr lang="en" sz="2400" b="1" dirty="0">
                <a:latin typeface="Georgia"/>
                <a:ea typeface="Georgia"/>
                <a:cs typeface="Georgia"/>
                <a:sym typeface="Georgia"/>
              </a:rPr>
              <a:t>H </a:t>
            </a:r>
            <a:r>
              <a:rPr lang="en" sz="2400" dirty="0">
                <a:latin typeface="Georgia"/>
                <a:ea typeface="Georgia"/>
                <a:cs typeface="Georgia"/>
                <a:sym typeface="Georgia"/>
              </a:rPr>
              <a:t>and pick the best:</a:t>
            </a:r>
            <a:endParaRPr sz="2400" dirty="0">
              <a:latin typeface="Georgia"/>
              <a:ea typeface="Georgia"/>
              <a:cs typeface="Georgia"/>
              <a:sym typeface="Georgia"/>
            </a:endParaRPr>
          </a:p>
          <a:p>
            <a:pPr marL="914400" lvl="1" indent="-381000" algn="just" rtl="0">
              <a:lnSpc>
                <a:spcPct val="80000"/>
              </a:lnSpc>
              <a:spcBef>
                <a:spcPts val="0"/>
              </a:spcBef>
              <a:spcAft>
                <a:spcPts val="0"/>
              </a:spcAft>
              <a:buSzPts val="2400"/>
              <a:buFont typeface="Georgia"/>
              <a:buChar char="○"/>
            </a:pPr>
            <a:r>
              <a:rPr lang="en" sz="2400" dirty="0">
                <a:latin typeface="Georgia"/>
                <a:ea typeface="Georgia"/>
                <a:cs typeface="Georgia"/>
                <a:sym typeface="Georgia"/>
              </a:rPr>
              <a:t>Advantage: Great performance</a:t>
            </a:r>
            <a:endParaRPr sz="2400" dirty="0">
              <a:latin typeface="Georgia"/>
              <a:ea typeface="Georgia"/>
              <a:cs typeface="Georgia"/>
              <a:sym typeface="Georgia"/>
            </a:endParaRPr>
          </a:p>
          <a:p>
            <a:pPr marL="914400" lvl="1" indent="-381000" algn="just" rtl="0">
              <a:lnSpc>
                <a:spcPct val="80000"/>
              </a:lnSpc>
              <a:spcBef>
                <a:spcPts val="0"/>
              </a:spcBef>
              <a:spcAft>
                <a:spcPts val="0"/>
              </a:spcAft>
              <a:buSzPts val="2400"/>
              <a:buFont typeface="Georgia"/>
              <a:buChar char="○"/>
            </a:pPr>
            <a:r>
              <a:rPr lang="en" sz="2400" dirty="0">
                <a:latin typeface="Georgia"/>
                <a:ea typeface="Georgia"/>
                <a:cs typeface="Georgia"/>
                <a:sym typeface="Georgia"/>
              </a:rPr>
              <a:t>Disadvantage: Terribly slow</a:t>
            </a:r>
            <a:endParaRPr sz="2400" dirty="0">
              <a:latin typeface="Georgia"/>
              <a:ea typeface="Georgia"/>
              <a:cs typeface="Georgia"/>
              <a:sym typeface="Georgia"/>
            </a:endParaRPr>
          </a:p>
          <a:p>
            <a:pPr marL="914400" lvl="0" indent="0" algn="just" rtl="0">
              <a:lnSpc>
                <a:spcPct val="80000"/>
              </a:lnSpc>
              <a:spcBef>
                <a:spcPts val="800"/>
              </a:spcBef>
              <a:spcAft>
                <a:spcPts val="0"/>
              </a:spcAft>
              <a:buNone/>
            </a:pPr>
            <a:endParaRPr sz="2400" dirty="0">
              <a:latin typeface="Georgia"/>
              <a:ea typeface="Georgia"/>
              <a:cs typeface="Georgia"/>
              <a:sym typeface="Georgia"/>
            </a:endParaRPr>
          </a:p>
          <a:p>
            <a:pPr marL="457200" lvl="0" indent="-381000" algn="just" rtl="0">
              <a:lnSpc>
                <a:spcPct val="80000"/>
              </a:lnSpc>
              <a:spcBef>
                <a:spcPts val="800"/>
              </a:spcBef>
              <a:spcAft>
                <a:spcPts val="0"/>
              </a:spcAft>
              <a:buSzPts val="2400"/>
              <a:buFont typeface="Georgia"/>
              <a:buChar char="●"/>
            </a:pPr>
            <a:r>
              <a:rPr lang="en" sz="2400" dirty="0">
                <a:latin typeface="Georgia"/>
                <a:ea typeface="Georgia"/>
                <a:cs typeface="Georgia"/>
                <a:sym typeface="Georgia"/>
              </a:rPr>
              <a:t>Intelligent Way: Learn it using the performance metric</a:t>
            </a:r>
            <a:endParaRPr sz="2400" dirty="0">
              <a:latin typeface="Georgia"/>
              <a:ea typeface="Georgia"/>
              <a:cs typeface="Georgia"/>
              <a:sym typeface="Georgia"/>
            </a:endParaRPr>
          </a:p>
          <a:p>
            <a:pPr marL="914400" lvl="1" indent="-381000" algn="just" rtl="0">
              <a:lnSpc>
                <a:spcPct val="80000"/>
              </a:lnSpc>
              <a:spcBef>
                <a:spcPts val="0"/>
              </a:spcBef>
              <a:spcAft>
                <a:spcPts val="0"/>
              </a:spcAft>
              <a:buSzPts val="2400"/>
              <a:buFont typeface="Georgia"/>
              <a:buChar char="○"/>
            </a:pPr>
            <a:r>
              <a:rPr lang="en" sz="2400" dirty="0">
                <a:latin typeface="Georgia"/>
                <a:ea typeface="Georgia"/>
                <a:cs typeface="Georgia"/>
                <a:sym typeface="Georgia"/>
              </a:rPr>
              <a:t>Loss functions help to evaluate the performance of the</a:t>
            </a:r>
            <a:r>
              <a:rPr lang="en" sz="2400" b="1" dirty="0">
                <a:latin typeface="Georgia"/>
                <a:ea typeface="Georgia"/>
                <a:cs typeface="Georgia"/>
                <a:sym typeface="Georgia"/>
              </a:rPr>
              <a:t> h</a:t>
            </a:r>
            <a:r>
              <a:rPr lang="en" sz="2400" b="1" baseline="-25000" dirty="0">
                <a:latin typeface="Georgia"/>
                <a:ea typeface="Georgia"/>
                <a:cs typeface="Georgia"/>
                <a:sym typeface="Georgia"/>
              </a:rPr>
              <a:t>i</a:t>
            </a:r>
            <a:r>
              <a:rPr lang="en" sz="2400" b="1" dirty="0">
                <a:latin typeface="Georgia"/>
                <a:ea typeface="Georgia"/>
                <a:cs typeface="Georgia"/>
                <a:sym typeface="Georgia"/>
              </a:rPr>
              <a:t>’s ∈ H</a:t>
            </a:r>
            <a:r>
              <a:rPr lang="en" sz="2400" dirty="0">
                <a:latin typeface="Georgia"/>
                <a:ea typeface="Georgia"/>
                <a:cs typeface="Georgia"/>
                <a:sym typeface="Georgia"/>
              </a:rPr>
              <a:t> to identify the </a:t>
            </a:r>
            <a:r>
              <a:rPr lang="en" sz="2400" b="1" dirty="0">
                <a:latin typeface="Georgia"/>
                <a:ea typeface="Georgia"/>
                <a:cs typeface="Georgia"/>
                <a:sym typeface="Georgia"/>
              </a:rPr>
              <a:t>optimal h. </a:t>
            </a:r>
            <a:endParaRPr sz="2400" b="1"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7"/>
          <p:cNvSpPr txBox="1">
            <a:spLocks noGrp="1"/>
          </p:cNvSpPr>
          <p:nvPr>
            <p:ph type="title"/>
          </p:nvPr>
        </p:nvSpPr>
        <p:spPr>
          <a:xfrm>
            <a:off x="475370" y="205750"/>
            <a:ext cx="7976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Loss Functions</a:t>
            </a:r>
            <a:endParaRPr sz="3000">
              <a:solidFill>
                <a:srgbClr val="000000"/>
              </a:solidFill>
              <a:latin typeface="Georgia"/>
              <a:ea typeface="Georgia"/>
              <a:cs typeface="Georgia"/>
              <a:sym typeface="Georgia"/>
            </a:endParaRPr>
          </a:p>
        </p:txBody>
      </p:sp>
      <p:sp>
        <p:nvSpPr>
          <p:cNvPr id="232" name="Google Shape;232;p27"/>
          <p:cNvSpPr txBox="1">
            <a:spLocks noGrp="1"/>
          </p:cNvSpPr>
          <p:nvPr>
            <p:ph type="body" idx="1"/>
          </p:nvPr>
        </p:nvSpPr>
        <p:spPr>
          <a:xfrm>
            <a:off x="229775" y="776925"/>
            <a:ext cx="8620800" cy="4162200"/>
          </a:xfrm>
          <a:prstGeom prst="rect">
            <a:avLst/>
          </a:prstGeom>
          <a:noFill/>
          <a:ln>
            <a:noFill/>
          </a:ln>
        </p:spPr>
        <p:txBody>
          <a:bodyPr spcFirstLastPara="1" wrap="square" lIns="68575" tIns="34275" rIns="68575" bIns="34275" anchor="t" anchorCtr="0">
            <a:noAutofit/>
          </a:bodyPr>
          <a:lstStyle/>
          <a:p>
            <a:pPr marL="457200" lvl="0" indent="-368300" algn="just" rtl="0">
              <a:lnSpc>
                <a:spcPct val="80000"/>
              </a:lnSpc>
              <a:spcBef>
                <a:spcPts val="800"/>
              </a:spcBef>
              <a:spcAft>
                <a:spcPts val="0"/>
              </a:spcAft>
              <a:buSzPts val="2200"/>
              <a:buFont typeface="Georgia"/>
              <a:buChar char="●"/>
            </a:pPr>
            <a:r>
              <a:rPr lang="en" sz="2200" dirty="0">
                <a:latin typeface="Georgia"/>
                <a:ea typeface="Georgia"/>
                <a:cs typeface="Georgia"/>
                <a:sym typeface="Georgia"/>
              </a:rPr>
              <a:t>To choose the best function f, it makes sense to minimize a loss (or cost or discrepancy) between the response of the supervisor and the learning machine, given an input (x, y) </a:t>
            </a:r>
            <a:endParaRPr sz="2200" dirty="0">
              <a:latin typeface="Georgia"/>
              <a:ea typeface="Georgia"/>
              <a:cs typeface="Georgia"/>
              <a:sym typeface="Georgia"/>
            </a:endParaRPr>
          </a:p>
          <a:p>
            <a:pPr marL="0" lvl="0" indent="0" algn="ctr" rtl="0">
              <a:lnSpc>
                <a:spcPct val="80000"/>
              </a:lnSpc>
              <a:spcBef>
                <a:spcPts val="800"/>
              </a:spcBef>
              <a:spcAft>
                <a:spcPts val="0"/>
              </a:spcAft>
              <a:buNone/>
            </a:pPr>
            <a:r>
              <a:rPr lang="en" sz="2200" dirty="0">
                <a:latin typeface="Georgia"/>
                <a:ea typeface="Georgia"/>
                <a:cs typeface="Georgia"/>
                <a:sym typeface="Georgia"/>
              </a:rPr>
              <a:t>	</a:t>
            </a:r>
            <a:endParaRPr sz="2200" dirty="0">
              <a:latin typeface="Georgia"/>
              <a:ea typeface="Georgia"/>
              <a:cs typeface="Georgia"/>
              <a:sym typeface="Georgia"/>
            </a:endParaRPr>
          </a:p>
          <a:p>
            <a:pPr marL="457200" lvl="0" indent="0" algn="just" rtl="0">
              <a:lnSpc>
                <a:spcPct val="80000"/>
              </a:lnSpc>
              <a:spcBef>
                <a:spcPts val="800"/>
              </a:spcBef>
              <a:spcAft>
                <a:spcPts val="0"/>
              </a:spcAft>
              <a:buNone/>
            </a:pPr>
            <a:endParaRPr sz="2200" dirty="0">
              <a:latin typeface="Georgia"/>
              <a:ea typeface="Georgia"/>
              <a:cs typeface="Georgia"/>
              <a:sym typeface="Georgia"/>
            </a:endParaRPr>
          </a:p>
          <a:p>
            <a:pPr marL="457200" lvl="0" indent="-368300" algn="just" rtl="0">
              <a:lnSpc>
                <a:spcPct val="80000"/>
              </a:lnSpc>
              <a:spcBef>
                <a:spcPts val="800"/>
              </a:spcBef>
              <a:spcAft>
                <a:spcPts val="0"/>
              </a:spcAft>
              <a:buSzPts val="2200"/>
              <a:buFont typeface="Georgia"/>
              <a:buChar char="●"/>
            </a:pPr>
            <a:r>
              <a:rPr lang="en" sz="2200" dirty="0">
                <a:latin typeface="Georgia"/>
                <a:ea typeface="Georgia"/>
                <a:cs typeface="Georgia"/>
                <a:sym typeface="Georgia"/>
              </a:rPr>
              <a:t>We want to minimize the loss over all samples</a:t>
            </a:r>
            <a:endParaRPr sz="2200" dirty="0">
              <a:latin typeface="Georgia"/>
              <a:ea typeface="Georgia"/>
              <a:cs typeface="Georgia"/>
              <a:sym typeface="Georgia"/>
            </a:endParaRPr>
          </a:p>
          <a:p>
            <a:pPr marL="457200" lvl="0" indent="0" algn="just" rtl="0">
              <a:lnSpc>
                <a:spcPct val="80000"/>
              </a:lnSpc>
              <a:spcBef>
                <a:spcPts val="800"/>
              </a:spcBef>
              <a:spcAft>
                <a:spcPts val="0"/>
              </a:spcAft>
              <a:buNone/>
            </a:pPr>
            <a:endParaRPr sz="2200" dirty="0">
              <a:latin typeface="Georgia"/>
              <a:ea typeface="Georgia"/>
              <a:cs typeface="Georgia"/>
              <a:sym typeface="Georgia"/>
            </a:endParaRPr>
          </a:p>
          <a:p>
            <a:pPr marL="457200" lvl="0" indent="0" algn="just" rtl="0">
              <a:lnSpc>
                <a:spcPct val="80000"/>
              </a:lnSpc>
              <a:spcBef>
                <a:spcPts val="800"/>
              </a:spcBef>
              <a:spcAft>
                <a:spcPts val="0"/>
              </a:spcAft>
              <a:buNone/>
            </a:pPr>
            <a:endParaRPr sz="2200" dirty="0">
              <a:latin typeface="Georgia"/>
              <a:ea typeface="Georgia"/>
              <a:cs typeface="Georgia"/>
              <a:sym typeface="Georgia"/>
            </a:endParaRPr>
          </a:p>
          <a:p>
            <a:pPr marL="457200" lvl="0" indent="-368300" algn="just" rtl="0">
              <a:lnSpc>
                <a:spcPct val="80000"/>
              </a:lnSpc>
              <a:spcBef>
                <a:spcPts val="800"/>
              </a:spcBef>
              <a:spcAft>
                <a:spcPts val="0"/>
              </a:spcAft>
              <a:buSzPts val="2200"/>
              <a:buFont typeface="Georgia"/>
              <a:buChar char="●"/>
            </a:pPr>
            <a:r>
              <a:rPr lang="en" sz="2200" dirty="0">
                <a:latin typeface="Georgia"/>
                <a:ea typeface="Georgia"/>
                <a:cs typeface="Georgia"/>
                <a:sym typeface="Georgia"/>
              </a:rPr>
              <a:t>Loss functions are always non-negative.</a:t>
            </a:r>
            <a:endParaRPr sz="2200" dirty="0">
              <a:latin typeface="Georgia"/>
              <a:ea typeface="Georgia"/>
              <a:cs typeface="Georgia"/>
              <a:sym typeface="Georgia"/>
            </a:endParaRPr>
          </a:p>
          <a:p>
            <a:pPr marL="914400" lvl="1" indent="-368300" algn="just" rtl="0">
              <a:lnSpc>
                <a:spcPct val="80000"/>
              </a:lnSpc>
              <a:spcBef>
                <a:spcPts val="0"/>
              </a:spcBef>
              <a:spcAft>
                <a:spcPts val="0"/>
              </a:spcAft>
              <a:buSzPts val="2200"/>
              <a:buFont typeface="Georgia"/>
              <a:buChar char="○"/>
            </a:pPr>
            <a:r>
              <a:rPr lang="en" sz="2200" dirty="0">
                <a:latin typeface="Georgia"/>
                <a:ea typeface="Georgia"/>
                <a:cs typeface="Georgia"/>
                <a:sym typeface="Georgia"/>
              </a:rPr>
              <a:t>Hence, minimum possible loss means we are not making any mistakes.</a:t>
            </a:r>
            <a:endParaRPr sz="2200" dirty="0">
              <a:latin typeface="Georgia"/>
              <a:ea typeface="Georgia"/>
              <a:cs typeface="Georgia"/>
              <a:sym typeface="Georgia"/>
            </a:endParaRPr>
          </a:p>
          <a:p>
            <a:pPr marL="0" lvl="0" indent="0" algn="ctr" rtl="0">
              <a:lnSpc>
                <a:spcPct val="80000"/>
              </a:lnSpc>
              <a:spcBef>
                <a:spcPts val="800"/>
              </a:spcBef>
              <a:spcAft>
                <a:spcPts val="0"/>
              </a:spcAft>
              <a:buNone/>
            </a:pPr>
            <a:r>
              <a:rPr lang="en" sz="2400" dirty="0">
                <a:latin typeface="Georgia"/>
                <a:ea typeface="Georgia"/>
                <a:cs typeface="Georgia"/>
                <a:sym typeface="Georgia"/>
              </a:rPr>
              <a:t>	</a:t>
            </a:r>
            <a:endParaRPr sz="2400" dirty="0">
              <a:latin typeface="Georgia"/>
              <a:ea typeface="Georgia"/>
              <a:cs typeface="Georgia"/>
              <a:sym typeface="Georgia"/>
            </a:endParaRPr>
          </a:p>
        </p:txBody>
      </p:sp>
      <p:pic>
        <p:nvPicPr>
          <p:cNvPr id="233" name="Google Shape;233;p27"/>
          <p:cNvPicPr preferRelativeResize="0"/>
          <p:nvPr/>
        </p:nvPicPr>
        <p:blipFill>
          <a:blip r:embed="rId3">
            <a:alphaModFix/>
          </a:blip>
          <a:stretch>
            <a:fillRect/>
          </a:stretch>
        </p:blipFill>
        <p:spPr>
          <a:xfrm>
            <a:off x="3571875" y="1822300"/>
            <a:ext cx="2000250" cy="476250"/>
          </a:xfrm>
          <a:prstGeom prst="rect">
            <a:avLst/>
          </a:prstGeom>
          <a:noFill/>
          <a:ln>
            <a:noFill/>
          </a:ln>
        </p:spPr>
      </p:pic>
      <p:pic>
        <p:nvPicPr>
          <p:cNvPr id="234" name="Google Shape;234;p27"/>
          <p:cNvPicPr preferRelativeResize="0"/>
          <p:nvPr/>
        </p:nvPicPr>
        <p:blipFill>
          <a:blip r:embed="rId4">
            <a:alphaModFix/>
          </a:blip>
          <a:stretch>
            <a:fillRect/>
          </a:stretch>
        </p:blipFill>
        <p:spPr>
          <a:xfrm>
            <a:off x="1963650" y="2972788"/>
            <a:ext cx="5153025" cy="561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0"/>
          <p:cNvSpPr txBox="1">
            <a:spLocks noGrp="1"/>
          </p:cNvSpPr>
          <p:nvPr>
            <p:ph type="title"/>
          </p:nvPr>
        </p:nvSpPr>
        <p:spPr>
          <a:xfrm>
            <a:off x="475370" y="205750"/>
            <a:ext cx="80370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dirty="0">
                <a:solidFill>
                  <a:srgbClr val="000000"/>
                </a:solidFill>
                <a:latin typeface="Georgia"/>
                <a:ea typeface="Georgia"/>
                <a:cs typeface="Georgia"/>
                <a:sym typeface="Georgia"/>
              </a:rPr>
              <a:t>Empirical Risk Minimization Principle</a:t>
            </a:r>
            <a:endParaRPr sz="3000" dirty="0">
              <a:solidFill>
                <a:srgbClr val="000000"/>
              </a:solidFill>
              <a:latin typeface="Georgia"/>
              <a:ea typeface="Georgia"/>
              <a:cs typeface="Georgia"/>
              <a:sym typeface="Georgia"/>
            </a:endParaRPr>
          </a:p>
        </p:txBody>
      </p:sp>
      <p:sp>
        <p:nvSpPr>
          <p:cNvPr id="347" name="Google Shape;347;p40"/>
          <p:cNvSpPr txBox="1">
            <a:spLocks noGrp="1"/>
          </p:cNvSpPr>
          <p:nvPr>
            <p:ph type="body" idx="1"/>
          </p:nvPr>
        </p:nvSpPr>
        <p:spPr>
          <a:xfrm>
            <a:off x="0" y="803205"/>
            <a:ext cx="9144000" cy="4220100"/>
          </a:xfrm>
          <a:prstGeom prst="rect">
            <a:avLst/>
          </a:prstGeom>
          <a:noFill/>
          <a:ln>
            <a:noFill/>
          </a:ln>
        </p:spPr>
        <p:txBody>
          <a:bodyPr spcFirstLastPara="1" wrap="square" lIns="68575" tIns="34275" rIns="68575" bIns="34275" anchor="t" anchorCtr="0">
            <a:noAutofit/>
          </a:bodyPr>
          <a:lstStyle/>
          <a:p>
            <a:pPr marL="457200" lvl="0" indent="-381000" algn="just" rtl="0">
              <a:lnSpc>
                <a:spcPct val="80000"/>
              </a:lnSpc>
              <a:spcBef>
                <a:spcPts val="800"/>
              </a:spcBef>
              <a:spcAft>
                <a:spcPts val="0"/>
              </a:spcAft>
              <a:buSzPts val="2400"/>
              <a:buFont typeface="Georgia"/>
              <a:buAutoNum type="arabicPeriod"/>
            </a:pPr>
            <a:r>
              <a:rPr lang="en" sz="2400" b="1" dirty="0">
                <a:latin typeface="Georgia"/>
                <a:ea typeface="Georgia"/>
                <a:cs typeface="Georgia"/>
                <a:sym typeface="Georgia"/>
              </a:rPr>
              <a:t>How much data we have: </a:t>
            </a:r>
            <a:r>
              <a:rPr lang="en" sz="2400" dirty="0">
                <a:latin typeface="Georgia"/>
                <a:ea typeface="Georgia"/>
                <a:cs typeface="Georgia"/>
                <a:sym typeface="Georgia"/>
              </a:rPr>
              <a:t>For any given function </a:t>
            </a:r>
            <a:r>
              <a:rPr lang="en" sz="2400" i="1" dirty="0">
                <a:latin typeface="Georgia"/>
                <a:ea typeface="Georgia"/>
                <a:cs typeface="Georgia"/>
                <a:sym typeface="Georgia"/>
              </a:rPr>
              <a:t>f</a:t>
            </a:r>
            <a:r>
              <a:rPr lang="en" sz="2400" dirty="0">
                <a:latin typeface="Georgia"/>
                <a:ea typeface="Georgia"/>
                <a:cs typeface="Georgia"/>
                <a:sym typeface="Georgia"/>
              </a:rPr>
              <a:t>, as we get more and more data, we can expect that </a:t>
            </a:r>
            <a:r>
              <a:rPr lang="en" sz="2400" i="1" dirty="0">
                <a:latin typeface="Georgia"/>
                <a:ea typeface="Georgia"/>
                <a:cs typeface="Georgia"/>
                <a:sym typeface="Georgia"/>
              </a:rPr>
              <a:t>R(f)</a:t>
            </a:r>
            <a:r>
              <a:rPr lang="en" sz="2400" dirty="0">
                <a:latin typeface="Georgia"/>
                <a:ea typeface="Georgia"/>
                <a:cs typeface="Georgia"/>
                <a:sym typeface="Georgia"/>
              </a:rPr>
              <a:t> → </a:t>
            </a:r>
            <a:r>
              <a:rPr lang="en" sz="2400" i="1" dirty="0">
                <a:latin typeface="Georgia"/>
                <a:ea typeface="Georgia"/>
                <a:cs typeface="Georgia"/>
                <a:sym typeface="Georgia"/>
              </a:rPr>
              <a:t>R</a:t>
            </a:r>
            <a:r>
              <a:rPr lang="en" sz="2400" i="1" baseline="-25000" dirty="0">
                <a:latin typeface="Georgia"/>
                <a:ea typeface="Georgia"/>
                <a:cs typeface="Georgia"/>
                <a:sym typeface="Georgia"/>
              </a:rPr>
              <a:t>true</a:t>
            </a:r>
            <a:r>
              <a:rPr lang="en" sz="2400" i="1" dirty="0">
                <a:latin typeface="Georgia"/>
                <a:ea typeface="Georgia"/>
                <a:cs typeface="Georgia"/>
                <a:sym typeface="Georgia"/>
              </a:rPr>
              <a:t>(f)</a:t>
            </a:r>
          </a:p>
          <a:p>
            <a:pPr marL="457200" lvl="0" indent="-381000" algn="just" rtl="0">
              <a:lnSpc>
                <a:spcPct val="80000"/>
              </a:lnSpc>
              <a:spcBef>
                <a:spcPts val="800"/>
              </a:spcBef>
              <a:spcAft>
                <a:spcPts val="0"/>
              </a:spcAft>
              <a:buSzPts val="2400"/>
              <a:buFont typeface="Georgia"/>
              <a:buAutoNum type="arabicPeriod"/>
            </a:pPr>
            <a:endParaRPr sz="2400" dirty="0">
              <a:latin typeface="Georgia"/>
              <a:ea typeface="Georgia"/>
              <a:cs typeface="Georgia"/>
              <a:sym typeface="Georgia"/>
            </a:endParaRPr>
          </a:p>
          <a:p>
            <a:pPr marL="457200" lvl="0" indent="-381000" algn="just" rtl="0">
              <a:lnSpc>
                <a:spcPct val="80000"/>
              </a:lnSpc>
              <a:spcBef>
                <a:spcPts val="0"/>
              </a:spcBef>
              <a:spcAft>
                <a:spcPts val="0"/>
              </a:spcAft>
              <a:buSzPts val="2400"/>
              <a:buFont typeface="Georgia"/>
              <a:buAutoNum type="arabicPeriod"/>
            </a:pPr>
            <a:r>
              <a:rPr lang="en" sz="2400" b="1" dirty="0">
                <a:latin typeface="Georgia"/>
                <a:ea typeface="Georgia"/>
                <a:cs typeface="Georgia"/>
                <a:sym typeface="Georgia"/>
              </a:rPr>
              <a:t>The true distribution p</a:t>
            </a:r>
            <a:r>
              <a:rPr lang="en" sz="2400" dirty="0">
                <a:latin typeface="Georgia"/>
                <a:ea typeface="Georgia"/>
                <a:cs typeface="Georgia"/>
                <a:sym typeface="Georgia"/>
              </a:rPr>
              <a:t>: Depending on how “complex” the true distribution is, more or less data may be necessary to get a good approximation of it.</a:t>
            </a:r>
          </a:p>
          <a:p>
            <a:pPr marL="457200" lvl="0" indent="-381000" algn="just" rtl="0">
              <a:lnSpc>
                <a:spcPct val="80000"/>
              </a:lnSpc>
              <a:spcBef>
                <a:spcPts val="0"/>
              </a:spcBef>
              <a:spcAft>
                <a:spcPts val="0"/>
              </a:spcAft>
              <a:buSzPts val="2400"/>
              <a:buFont typeface="Georgia"/>
              <a:buAutoNum type="arabicPeriod"/>
            </a:pPr>
            <a:endParaRPr sz="2400" dirty="0">
              <a:latin typeface="Georgia"/>
              <a:ea typeface="Georgia"/>
              <a:cs typeface="Georgia"/>
              <a:sym typeface="Georgia"/>
            </a:endParaRPr>
          </a:p>
          <a:p>
            <a:pPr marL="457200" lvl="0" indent="-381000" algn="just" rtl="0">
              <a:lnSpc>
                <a:spcPct val="80000"/>
              </a:lnSpc>
              <a:spcBef>
                <a:spcPts val="0"/>
              </a:spcBef>
              <a:spcAft>
                <a:spcPts val="0"/>
              </a:spcAft>
              <a:buSzPts val="2400"/>
              <a:buFont typeface="Georgia"/>
              <a:buAutoNum type="arabicPeriod"/>
            </a:pPr>
            <a:r>
              <a:rPr lang="en" sz="2400" b="1" dirty="0">
                <a:latin typeface="Georgia"/>
                <a:ea typeface="Georgia"/>
                <a:cs typeface="Georgia"/>
                <a:sym typeface="Georgia"/>
              </a:rPr>
              <a:t>The loss function L</a:t>
            </a:r>
            <a:r>
              <a:rPr lang="en" sz="2400" dirty="0">
                <a:latin typeface="Georgia"/>
                <a:ea typeface="Georgia"/>
                <a:cs typeface="Georgia"/>
                <a:sym typeface="Georgia"/>
              </a:rPr>
              <a:t>: If the loss function is very “weird”– giving extremely high loss in certain unlikely situations, this can lead to trouble.</a:t>
            </a:r>
          </a:p>
          <a:p>
            <a:pPr marL="457200" lvl="0" indent="-381000" algn="just" rtl="0">
              <a:lnSpc>
                <a:spcPct val="80000"/>
              </a:lnSpc>
              <a:spcBef>
                <a:spcPts val="0"/>
              </a:spcBef>
              <a:spcAft>
                <a:spcPts val="0"/>
              </a:spcAft>
              <a:buSzPts val="2400"/>
              <a:buFont typeface="Georgia"/>
              <a:buAutoNum type="arabicPeriod"/>
            </a:pPr>
            <a:endParaRPr sz="2400" dirty="0">
              <a:latin typeface="Georgia"/>
              <a:ea typeface="Georgia"/>
              <a:cs typeface="Georgia"/>
              <a:sym typeface="Georgia"/>
            </a:endParaRPr>
          </a:p>
          <a:p>
            <a:pPr marL="457200" lvl="0" indent="-381000" algn="just" rtl="0">
              <a:lnSpc>
                <a:spcPct val="80000"/>
              </a:lnSpc>
              <a:spcBef>
                <a:spcPts val="0"/>
              </a:spcBef>
              <a:spcAft>
                <a:spcPts val="0"/>
              </a:spcAft>
              <a:buSzPts val="2400"/>
              <a:buFont typeface="Georgia"/>
              <a:buAutoNum type="arabicPeriod"/>
            </a:pPr>
            <a:r>
              <a:rPr lang="en" sz="2400" b="1" dirty="0">
                <a:latin typeface="Georgia"/>
                <a:ea typeface="Georgia"/>
                <a:cs typeface="Georgia"/>
                <a:sym typeface="Georgia"/>
              </a:rPr>
              <a:t>The class of functions F</a:t>
            </a:r>
            <a:r>
              <a:rPr lang="en" sz="2400" dirty="0">
                <a:latin typeface="Georgia"/>
                <a:ea typeface="Georgia"/>
                <a:cs typeface="Georgia"/>
                <a:sym typeface="Georgia"/>
              </a:rPr>
              <a:t>: Roughly speaking, if the size of F is “large”, and the functions in F are “complex”, this worsens the approximation, all else being equal.</a:t>
            </a:r>
            <a:endParaRPr sz="2400" b="1" dirty="0">
              <a:latin typeface="Georgia"/>
              <a:ea typeface="Georgia"/>
              <a:cs typeface="Georgia"/>
              <a:sym typeface="Georgia"/>
            </a:endParaRPr>
          </a:p>
          <a:p>
            <a:pPr marL="0" lvl="0" indent="0" algn="just" rtl="0">
              <a:lnSpc>
                <a:spcPct val="80000"/>
              </a:lnSpc>
              <a:spcBef>
                <a:spcPts val="800"/>
              </a:spcBef>
              <a:spcAft>
                <a:spcPts val="0"/>
              </a:spcAft>
              <a:buNone/>
            </a:pPr>
            <a:endParaRPr sz="2400" dirty="0">
              <a:latin typeface="Georgia"/>
              <a:ea typeface="Georgia"/>
              <a:cs typeface="Georgia"/>
              <a:sym typeface="Georgia"/>
            </a:endParaRPr>
          </a:p>
          <a:p>
            <a:pPr marL="0" lvl="0" indent="0" algn="just" rtl="0">
              <a:lnSpc>
                <a:spcPct val="80000"/>
              </a:lnSpc>
              <a:spcBef>
                <a:spcPts val="800"/>
              </a:spcBef>
              <a:spcAft>
                <a:spcPts val="0"/>
              </a:spcAft>
              <a:buNone/>
            </a:pPr>
            <a:endParaRPr sz="2400"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4"/>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Few Supervised Learning Algorithms</a:t>
            </a:r>
            <a:endParaRPr sz="3000">
              <a:solidFill>
                <a:srgbClr val="000000"/>
              </a:solidFill>
              <a:latin typeface="Georgia"/>
              <a:ea typeface="Georgia"/>
              <a:cs typeface="Georgia"/>
              <a:sym typeface="Georgia"/>
            </a:endParaRPr>
          </a:p>
        </p:txBody>
      </p:sp>
      <p:sp>
        <p:nvSpPr>
          <p:cNvPr id="268" name="Google Shape;268;p34"/>
          <p:cNvSpPr txBox="1">
            <a:spLocks noGrp="1"/>
          </p:cNvSpPr>
          <p:nvPr>
            <p:ph type="body" idx="1"/>
          </p:nvPr>
        </p:nvSpPr>
        <p:spPr>
          <a:xfrm>
            <a:off x="0" y="929325"/>
            <a:ext cx="9144000" cy="410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b="1" dirty="0">
                <a:latin typeface="Georgia"/>
                <a:ea typeface="Georgia"/>
                <a:cs typeface="Georgia"/>
                <a:sym typeface="Georgia"/>
              </a:rPr>
              <a:t>Classification:</a:t>
            </a:r>
            <a:endParaRPr b="1"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dirty="0">
                <a:latin typeface="Georgia"/>
                <a:ea typeface="Georgia"/>
                <a:cs typeface="Georgia"/>
                <a:sym typeface="Georgia"/>
              </a:rPr>
              <a:t>Decision Trees: A tree-based model that splits the input data into smaller subsets based on the values of different features, and makes a prediction based on the final subset.</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dirty="0">
                <a:latin typeface="Georgia"/>
                <a:ea typeface="Georgia"/>
                <a:cs typeface="Georgia"/>
                <a:sym typeface="Georgia"/>
              </a:rPr>
              <a:t>Support Vector Machines (SVM): A model that finds the optimal hyperplane that separates the input data into different classes.</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dirty="0">
                <a:latin typeface="Georgia"/>
                <a:ea typeface="Georgia"/>
                <a:cs typeface="Georgia"/>
                <a:sym typeface="Georgia"/>
              </a:rPr>
              <a:t>Neural Networks: A model that consists of multiple layers of interconnected neurons, and is capable of learning complex, non-linear mappings between the input and output data.</a:t>
            </a:r>
            <a:endParaRPr dirty="0">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Regression:</a:t>
            </a:r>
            <a:endParaRPr b="1"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dirty="0">
                <a:latin typeface="Georgia"/>
                <a:ea typeface="Georgia"/>
                <a:cs typeface="Georgia"/>
                <a:sym typeface="Georgia"/>
              </a:rPr>
              <a:t>Linear Regression: A linear model that seeks to fit a straight line to the input data that minimizes the difference between the predicted and actual output. </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dirty="0">
                <a:latin typeface="Georgia"/>
                <a:ea typeface="Georgia"/>
                <a:cs typeface="Georgia"/>
                <a:sym typeface="Georgia"/>
              </a:rPr>
              <a:t>Polynomial Regression: A non-linear model that fits a polynomial function to the input data, allowing for more complex relationships between the input and output variables.</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dirty="0">
                <a:latin typeface="Georgia"/>
                <a:ea typeface="Georgia"/>
                <a:cs typeface="Georgia"/>
                <a:sym typeface="Georgia"/>
              </a:rPr>
              <a:t>Support Vector Regression (SVR): A model that seeks to find the optimal hyperplane that separates the input data into different classes while minimizing the difference between the predicted and actual output values.</a:t>
            </a:r>
            <a:endParaRPr dirty="0">
              <a:latin typeface="Georgia"/>
              <a:ea typeface="Georgia"/>
              <a:cs typeface="Georgia"/>
              <a:sym typeface="Georgia"/>
            </a:endParaRPr>
          </a:p>
          <a:p>
            <a:pPr marL="914400" lvl="0" indent="0" algn="just" rtl="0">
              <a:lnSpc>
                <a:spcPct val="80000"/>
              </a:lnSpc>
              <a:spcBef>
                <a:spcPts val="800"/>
              </a:spcBef>
              <a:spcAft>
                <a:spcPts val="0"/>
              </a:spcAft>
              <a:buNone/>
            </a:pPr>
            <a:endParaRPr dirty="0">
              <a:latin typeface="Georgia"/>
              <a:ea typeface="Georgia"/>
              <a:cs typeface="Georgia"/>
              <a:sym typeface="Georgia"/>
            </a:endParaRPr>
          </a:p>
          <a:p>
            <a:pPr marL="914400" lvl="0" indent="0" algn="just" rtl="0">
              <a:lnSpc>
                <a:spcPct val="80000"/>
              </a:lnSpc>
              <a:spcBef>
                <a:spcPts val="800"/>
              </a:spcBef>
              <a:spcAft>
                <a:spcPts val="0"/>
              </a:spcAft>
              <a:buNone/>
            </a:pPr>
            <a:endParaRPr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8">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6"/>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Example of SL</a:t>
            </a:r>
            <a:endParaRPr sz="3000">
              <a:solidFill>
                <a:srgbClr val="000000"/>
              </a:solidFill>
              <a:latin typeface="Georgia"/>
              <a:ea typeface="Georgia"/>
              <a:cs typeface="Georgia"/>
              <a:sym typeface="Georgia"/>
            </a:endParaRPr>
          </a:p>
        </p:txBody>
      </p:sp>
      <p:sp>
        <p:nvSpPr>
          <p:cNvPr id="282" name="Google Shape;282;p36"/>
          <p:cNvSpPr txBox="1">
            <a:spLocks noGrp="1"/>
          </p:cNvSpPr>
          <p:nvPr>
            <p:ph type="body" idx="1"/>
          </p:nvPr>
        </p:nvSpPr>
        <p:spPr>
          <a:xfrm>
            <a:off x="435300" y="929325"/>
            <a:ext cx="8359200" cy="4106400"/>
          </a:xfrm>
          <a:prstGeom prst="rect">
            <a:avLst/>
          </a:prstGeom>
          <a:noFill/>
          <a:ln>
            <a:noFill/>
          </a:ln>
        </p:spPr>
        <p:txBody>
          <a:bodyPr spcFirstLastPara="1" wrap="square" lIns="68575" tIns="34275" rIns="68575" bIns="34275" anchor="t" anchorCtr="0">
            <a:noAutofit/>
          </a:bodyPr>
          <a:lstStyle/>
          <a:p>
            <a:pPr marL="457200" lvl="0" indent="-317500" algn="just" rtl="0">
              <a:lnSpc>
                <a:spcPct val="80000"/>
              </a:lnSpc>
              <a:spcBef>
                <a:spcPts val="800"/>
              </a:spcBef>
              <a:spcAft>
                <a:spcPts val="0"/>
              </a:spcAft>
              <a:buSzPts val="1400"/>
              <a:buFont typeface="Georgia"/>
              <a:buAutoNum type="arabicPeriod"/>
            </a:pPr>
            <a:r>
              <a:rPr lang="en" b="1" dirty="0">
                <a:latin typeface="Georgia"/>
                <a:ea typeface="Georgia"/>
                <a:cs typeface="Georgia"/>
                <a:sym typeface="Georgia"/>
              </a:rPr>
              <a:t>Email spam detection:</a:t>
            </a:r>
            <a:r>
              <a:rPr lang="en" dirty="0">
                <a:latin typeface="Georgia"/>
                <a:ea typeface="Georgia"/>
                <a:cs typeface="Georgia"/>
                <a:sym typeface="Georgia"/>
              </a:rPr>
              <a:t> A supervised learning algorithm can be trained on a dataset of labeled emails, where </a:t>
            </a:r>
            <a:r>
              <a:rPr lang="en" i="1" dirty="0">
                <a:latin typeface="Georgia"/>
                <a:ea typeface="Georgia"/>
                <a:cs typeface="Georgia"/>
                <a:sym typeface="Georgia"/>
              </a:rPr>
              <a:t>each email is labeled as either spam or not spam</a:t>
            </a:r>
            <a:r>
              <a:rPr lang="en" dirty="0">
                <a:latin typeface="Georgia"/>
                <a:ea typeface="Georgia"/>
                <a:cs typeface="Georgia"/>
                <a:sym typeface="Georgia"/>
              </a:rPr>
              <a:t>, and can then be used to classify new, unseen emails as spam or not spam.</a:t>
            </a:r>
            <a:endParaRPr dirty="0">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AutoNum type="arabicPeriod"/>
            </a:pPr>
            <a:r>
              <a:rPr lang="en" b="1" dirty="0">
                <a:latin typeface="Georgia"/>
                <a:ea typeface="Georgia"/>
                <a:cs typeface="Georgia"/>
                <a:sym typeface="Georgia"/>
              </a:rPr>
              <a:t>Medical diagnosis:</a:t>
            </a:r>
            <a:r>
              <a:rPr lang="en" dirty="0">
                <a:latin typeface="Georgia"/>
                <a:ea typeface="Georgia"/>
                <a:cs typeface="Georgia"/>
                <a:sym typeface="Georgia"/>
              </a:rPr>
              <a:t> A supervised learning algorithm can be trained on a dataset of labeled medical images or patient data, where </a:t>
            </a:r>
            <a:r>
              <a:rPr lang="en" i="1" dirty="0">
                <a:latin typeface="Georgia"/>
                <a:ea typeface="Georgia"/>
                <a:cs typeface="Georgia"/>
                <a:sym typeface="Georgia"/>
              </a:rPr>
              <a:t>each example is labeled as having a particular disease or not</a:t>
            </a:r>
            <a:r>
              <a:rPr lang="en" dirty="0">
                <a:latin typeface="Georgia"/>
                <a:ea typeface="Georgia"/>
                <a:cs typeface="Georgia"/>
                <a:sym typeface="Georgia"/>
              </a:rPr>
              <a:t>, and can then be used to predict the likelihood of a patient having a disease based on their symptoms or test results.</a:t>
            </a:r>
            <a:endParaRPr dirty="0">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AutoNum type="arabicPeriod"/>
            </a:pPr>
            <a:r>
              <a:rPr lang="en" b="1" dirty="0">
                <a:latin typeface="Georgia"/>
                <a:ea typeface="Georgia"/>
                <a:cs typeface="Georgia"/>
                <a:sym typeface="Georgia"/>
              </a:rPr>
              <a:t>Autonomous driving:</a:t>
            </a:r>
            <a:r>
              <a:rPr lang="en" dirty="0">
                <a:latin typeface="Georgia"/>
                <a:ea typeface="Georgia"/>
                <a:cs typeface="Georgia"/>
                <a:sym typeface="Georgia"/>
              </a:rPr>
              <a:t> A supervised learning algorithm can be trained on a dataset of labeled images and sensor data, where </a:t>
            </a:r>
            <a:r>
              <a:rPr lang="en" i="1" dirty="0">
                <a:latin typeface="Georgia"/>
                <a:ea typeface="Georgia"/>
                <a:cs typeface="Georgia"/>
                <a:sym typeface="Georgia"/>
              </a:rPr>
              <a:t>each example is labeled with the correct driving behavior, such as turning or braking</a:t>
            </a:r>
            <a:r>
              <a:rPr lang="en" dirty="0">
                <a:latin typeface="Georgia"/>
                <a:ea typeface="Georgia"/>
                <a:cs typeface="Georgia"/>
                <a:sym typeface="Georgia"/>
              </a:rPr>
              <a:t>, and can then be used to control a self-driving car in real-world scenarios.</a:t>
            </a:r>
          </a:p>
          <a:p>
            <a:pPr lvl="1" algn="just">
              <a:lnSpc>
                <a:spcPct val="80000"/>
              </a:lnSpc>
              <a:spcBef>
                <a:spcPts val="0"/>
              </a:spcBef>
              <a:buFont typeface="Georgia"/>
              <a:buAutoNum type="arabicPeriod"/>
            </a:pPr>
            <a:r>
              <a:rPr lang="en-IN" dirty="0">
                <a:solidFill>
                  <a:srgbClr val="000000"/>
                </a:solidFill>
                <a:latin typeface="Times" pitchFamily="2" charset="0"/>
              </a:rPr>
              <a:t>https://</a:t>
            </a:r>
            <a:r>
              <a:rPr lang="en-IN" dirty="0" err="1">
                <a:solidFill>
                  <a:srgbClr val="000000"/>
                </a:solidFill>
                <a:latin typeface="Times" pitchFamily="2" charset="0"/>
              </a:rPr>
              <a:t>x.com</a:t>
            </a:r>
            <a:r>
              <a:rPr lang="en-IN" dirty="0">
                <a:solidFill>
                  <a:srgbClr val="000000"/>
                </a:solidFill>
                <a:latin typeface="Times" pitchFamily="2" charset="0"/>
              </a:rPr>
              <a:t>/</a:t>
            </a:r>
            <a:r>
              <a:rPr lang="en-IN" dirty="0" err="1">
                <a:solidFill>
                  <a:srgbClr val="000000"/>
                </a:solidFill>
                <a:latin typeface="Times" pitchFamily="2" charset="0"/>
              </a:rPr>
              <a:t>vikataravi</a:t>
            </a:r>
            <a:r>
              <a:rPr lang="en-IN" dirty="0">
                <a:solidFill>
                  <a:srgbClr val="000000"/>
                </a:solidFill>
                <a:latin typeface="Times" pitchFamily="2" charset="0"/>
              </a:rPr>
              <a:t>/status/1752126547765678387?s=20</a:t>
            </a:r>
            <a:endParaRPr dirty="0">
              <a:latin typeface="Georgia"/>
              <a:ea typeface="Georgia"/>
              <a:cs typeface="Georgia"/>
              <a:sym typeface="Georgia"/>
            </a:endParaRPr>
          </a:p>
          <a:p>
            <a:pPr marL="914400" lvl="0" indent="0" algn="just" rtl="0">
              <a:lnSpc>
                <a:spcPct val="80000"/>
              </a:lnSpc>
              <a:spcBef>
                <a:spcPts val="800"/>
              </a:spcBef>
              <a:spcAft>
                <a:spcPts val="0"/>
              </a:spcAft>
              <a:buNone/>
            </a:pPr>
            <a:endParaRPr dirty="0">
              <a:latin typeface="Georgia"/>
              <a:ea typeface="Georgia"/>
              <a:cs typeface="Georgia"/>
              <a:sym typeface="Georgia"/>
            </a:endParaRPr>
          </a:p>
          <a:p>
            <a:pPr marL="914400" lvl="0" indent="0" algn="just" rtl="0">
              <a:lnSpc>
                <a:spcPct val="80000"/>
              </a:lnSpc>
              <a:spcBef>
                <a:spcPts val="800"/>
              </a:spcBef>
              <a:spcAft>
                <a:spcPts val="0"/>
              </a:spcAft>
              <a:buNone/>
            </a:pPr>
            <a:endParaRPr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5"/>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Advantages and Disadvantages of SL</a:t>
            </a:r>
            <a:endParaRPr sz="3000">
              <a:solidFill>
                <a:srgbClr val="000000"/>
              </a:solidFill>
              <a:latin typeface="Georgia"/>
              <a:ea typeface="Georgia"/>
              <a:cs typeface="Georgia"/>
              <a:sym typeface="Georgia"/>
            </a:endParaRPr>
          </a:p>
        </p:txBody>
      </p:sp>
      <p:sp>
        <p:nvSpPr>
          <p:cNvPr id="275" name="Google Shape;275;p35"/>
          <p:cNvSpPr txBox="1">
            <a:spLocks noGrp="1"/>
          </p:cNvSpPr>
          <p:nvPr>
            <p:ph type="body" idx="1"/>
          </p:nvPr>
        </p:nvSpPr>
        <p:spPr>
          <a:xfrm>
            <a:off x="435300" y="929325"/>
            <a:ext cx="8359200" cy="410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b="1" dirty="0">
                <a:latin typeface="Georgia"/>
                <a:ea typeface="Georgia"/>
                <a:cs typeface="Georgia"/>
                <a:sym typeface="Georgia"/>
              </a:rPr>
              <a:t>Advantages:</a:t>
            </a:r>
            <a:endParaRPr b="1"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Can be used to solve a wide range of tasks, from simple classification to complex image and speech recognition.</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Provides good predictions on new, unseen data points.</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Allows for easy evaluation and comparison of different models using metrics such as accuracy and precision.</a:t>
            </a:r>
            <a:endParaRPr dirty="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b="1" dirty="0">
                <a:latin typeface="Georgia"/>
                <a:ea typeface="Georgia"/>
                <a:cs typeface="Georgia"/>
                <a:sym typeface="Georgia"/>
              </a:rPr>
              <a:t>Disadvantages:</a:t>
            </a:r>
            <a:endParaRPr b="1"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Requires a large amount of labeled data for training, which can be time-consuming and expensive to obtain.</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May suffer from overfitting if the model is too complex and the dataset is too small.</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May not perform well on data points that are very different from the training data, or on data with noisy or missing features.</a:t>
            </a:r>
            <a:endParaRPr b="1" dirty="0">
              <a:latin typeface="Georgia"/>
              <a:ea typeface="Georgia"/>
              <a:cs typeface="Georgia"/>
              <a:sym typeface="Georgia"/>
            </a:endParaRPr>
          </a:p>
          <a:p>
            <a:pPr marL="914400" lvl="0" indent="0" algn="just" rtl="0">
              <a:lnSpc>
                <a:spcPct val="80000"/>
              </a:lnSpc>
              <a:spcBef>
                <a:spcPts val="800"/>
              </a:spcBef>
              <a:spcAft>
                <a:spcPts val="0"/>
              </a:spcAft>
              <a:buNone/>
            </a:pPr>
            <a:endParaRPr dirty="0">
              <a:latin typeface="Georgia"/>
              <a:ea typeface="Georgia"/>
              <a:cs typeface="Georgia"/>
              <a:sym typeface="Georgia"/>
            </a:endParaRPr>
          </a:p>
          <a:p>
            <a:pPr marL="914400" lvl="0" indent="0" algn="just" rtl="0">
              <a:lnSpc>
                <a:spcPct val="80000"/>
              </a:lnSpc>
              <a:spcBef>
                <a:spcPts val="800"/>
              </a:spcBef>
              <a:spcAft>
                <a:spcPts val="0"/>
              </a:spcAft>
              <a:buNone/>
            </a:pPr>
            <a:endParaRPr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7"/>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3300"/>
              <a:buFont typeface="Calibri"/>
              <a:buNone/>
            </a:pPr>
            <a:r>
              <a:rPr lang="en" sz="3000" dirty="0">
                <a:solidFill>
                  <a:schemeClr val="dk1"/>
                </a:solidFill>
                <a:latin typeface="Georgia"/>
                <a:ea typeface="Georgia"/>
                <a:cs typeface="Georgia"/>
                <a:sym typeface="Georgia"/>
              </a:rPr>
              <a:t>4.2 Quiz</a:t>
            </a:r>
            <a:endParaRPr dirty="0">
              <a:solidFill>
                <a:srgbClr val="3F3F3F"/>
              </a:solidFill>
            </a:endParaRPr>
          </a:p>
        </p:txBody>
      </p:sp>
      <p:pic>
        <p:nvPicPr>
          <p:cNvPr id="2050" name="Picture 2">
            <a:extLst>
              <a:ext uri="{FF2B5EF4-FFF2-40B4-BE49-F238E27FC236}">
                <a16:creationId xmlns:a16="http://schemas.microsoft.com/office/drawing/2014/main" id="{56C98AF6-99CB-37BC-4837-355B5D135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9360" y="777784"/>
            <a:ext cx="4365716" cy="4365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985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8"/>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Unsupervised Learning</a:t>
            </a:r>
            <a:endParaRPr sz="3000">
              <a:solidFill>
                <a:srgbClr val="000000"/>
              </a:solidFill>
              <a:latin typeface="Georgia"/>
              <a:ea typeface="Georgia"/>
              <a:cs typeface="Georgia"/>
              <a:sym typeface="Georgia"/>
            </a:endParaRPr>
          </a:p>
        </p:txBody>
      </p:sp>
      <p:sp>
        <p:nvSpPr>
          <p:cNvPr id="295" name="Google Shape;295;p38"/>
          <p:cNvSpPr txBox="1">
            <a:spLocks noGrp="1"/>
          </p:cNvSpPr>
          <p:nvPr>
            <p:ph type="body" idx="1"/>
          </p:nvPr>
        </p:nvSpPr>
        <p:spPr>
          <a:xfrm>
            <a:off x="724950" y="3004675"/>
            <a:ext cx="7998900" cy="236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a:latin typeface="Georgia"/>
                <a:ea typeface="Georgia"/>
                <a:cs typeface="Georgia"/>
                <a:sym typeface="Georgia"/>
              </a:rPr>
              <a:t>An algorithm is trained on a dataset which is not labeled</a:t>
            </a:r>
            <a:endParaRPr>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sz="2100" b="1">
                <a:latin typeface="Georgia"/>
                <a:ea typeface="Georgia"/>
                <a:cs typeface="Georgia"/>
                <a:sym typeface="Georgia"/>
              </a:rPr>
              <a:t>D</a:t>
            </a:r>
            <a:r>
              <a:rPr lang="en" sz="2100">
                <a:latin typeface="Georgia"/>
                <a:ea typeface="Georgia"/>
                <a:cs typeface="Georgia"/>
                <a:sym typeface="Georgia"/>
              </a:rPr>
              <a:t> = {(x</a:t>
            </a:r>
            <a:r>
              <a:rPr lang="en" sz="2100" baseline="-25000">
                <a:latin typeface="Georgia"/>
                <a:ea typeface="Georgia"/>
                <a:cs typeface="Georgia"/>
                <a:sym typeface="Georgia"/>
              </a:rPr>
              <a:t>1</a:t>
            </a:r>
            <a:r>
              <a:rPr lang="en" sz="2100">
                <a:latin typeface="Georgia"/>
                <a:ea typeface="Georgia"/>
                <a:cs typeface="Georgia"/>
                <a:sym typeface="Georgia"/>
              </a:rPr>
              <a:t>), (x</a:t>
            </a:r>
            <a:r>
              <a:rPr lang="en" sz="2100" baseline="-25000">
                <a:latin typeface="Georgia"/>
                <a:ea typeface="Georgia"/>
                <a:cs typeface="Georgia"/>
                <a:sym typeface="Georgia"/>
              </a:rPr>
              <a:t>2</a:t>
            </a:r>
            <a:r>
              <a:rPr lang="en" sz="2100">
                <a:latin typeface="Georgia"/>
                <a:ea typeface="Georgia"/>
                <a:cs typeface="Georgia"/>
                <a:sym typeface="Georgia"/>
              </a:rPr>
              <a:t>), …, (x</a:t>
            </a:r>
            <a:r>
              <a:rPr lang="en" sz="2100" baseline="-25000">
                <a:latin typeface="Georgia"/>
                <a:ea typeface="Georgia"/>
                <a:cs typeface="Georgia"/>
                <a:sym typeface="Georgia"/>
              </a:rPr>
              <a:t>n</a:t>
            </a:r>
            <a:r>
              <a:rPr lang="en" sz="2100">
                <a:latin typeface="Georgia"/>
                <a:ea typeface="Georgia"/>
                <a:cs typeface="Georgia"/>
                <a:sym typeface="Georgia"/>
              </a:rPr>
              <a:t>)} </a:t>
            </a:r>
            <a:endParaRPr sz="210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a:latin typeface="Georgia"/>
                <a:ea typeface="Georgia"/>
                <a:cs typeface="Georgia"/>
                <a:sym typeface="Georgia"/>
              </a:rPr>
              <a:t>The goal is to find patterns or structure in the data without explicit guidance or supervision.</a:t>
            </a:r>
            <a:endParaRPr>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b="1">
                <a:latin typeface="Georgia"/>
                <a:ea typeface="Georgia"/>
                <a:cs typeface="Georgia"/>
                <a:sym typeface="Georgia"/>
              </a:rPr>
              <a:t>f : X -&gt; Z</a:t>
            </a:r>
            <a:endParaRPr b="1">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a:latin typeface="Georgia"/>
                <a:ea typeface="Georgia"/>
                <a:cs typeface="Georgia"/>
                <a:sym typeface="Georgia"/>
              </a:rPr>
              <a:t>Z is the learned representation or structure of the input data. </a:t>
            </a:r>
            <a:endParaRPr>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a:latin typeface="Georgia"/>
                <a:ea typeface="Georgia"/>
                <a:cs typeface="Georgia"/>
                <a:sym typeface="Georgia"/>
              </a:rPr>
              <a:t>A form of exploratory data analysis, where the goal is to discover hidden patterns or relationships in the data.</a:t>
            </a:r>
            <a:endParaRPr>
              <a:latin typeface="Georgia"/>
              <a:ea typeface="Georgia"/>
              <a:cs typeface="Georgia"/>
              <a:sym typeface="Georgia"/>
            </a:endParaRPr>
          </a:p>
        </p:txBody>
      </p:sp>
      <p:pic>
        <p:nvPicPr>
          <p:cNvPr id="296" name="Google Shape;296;p38"/>
          <p:cNvPicPr preferRelativeResize="0"/>
          <p:nvPr/>
        </p:nvPicPr>
        <p:blipFill>
          <a:blip r:embed="rId3">
            <a:alphaModFix/>
          </a:blip>
          <a:stretch>
            <a:fillRect/>
          </a:stretch>
        </p:blipFill>
        <p:spPr>
          <a:xfrm>
            <a:off x="1619250" y="956075"/>
            <a:ext cx="5905500" cy="2162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4"/>
          <p:cNvSpPr txBox="1">
            <a:spLocks noGrp="1"/>
          </p:cNvSpPr>
          <p:nvPr>
            <p:ph type="title"/>
          </p:nvPr>
        </p:nvSpPr>
        <p:spPr>
          <a:xfrm>
            <a:off x="475375" y="205750"/>
            <a:ext cx="86685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r>
              <a:rPr lang="en" sz="3000" dirty="0">
                <a:solidFill>
                  <a:srgbClr val="000000"/>
                </a:solidFill>
                <a:latin typeface="Georgia"/>
                <a:ea typeface="Georgia"/>
                <a:cs typeface="Georgia"/>
                <a:sym typeface="Georgia"/>
              </a:rPr>
              <a:t>An interesting Use Case: Fraudulent Driving</a:t>
            </a: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3300"/>
              <a:buFont typeface="Calibri"/>
              <a:buNone/>
            </a:pPr>
            <a:endParaRPr sz="3000" dirty="0">
              <a:solidFill>
                <a:srgbClr val="000000"/>
              </a:solidFill>
              <a:latin typeface="Georgia"/>
              <a:ea typeface="Georgia"/>
              <a:cs typeface="Georgia"/>
              <a:sym typeface="Georgia"/>
            </a:endParaRPr>
          </a:p>
        </p:txBody>
      </p:sp>
      <p:sp>
        <p:nvSpPr>
          <p:cNvPr id="202" name="Google Shape;202;p24"/>
          <p:cNvSpPr txBox="1"/>
          <p:nvPr/>
        </p:nvSpPr>
        <p:spPr>
          <a:xfrm>
            <a:off x="335725" y="825975"/>
            <a:ext cx="8154900" cy="41652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endParaRPr sz="2200">
              <a:solidFill>
                <a:schemeClr val="dk1"/>
              </a:solidFill>
              <a:latin typeface="Georgia"/>
              <a:ea typeface="Georgia"/>
              <a:cs typeface="Georgia"/>
              <a:sym typeface="Georgia"/>
            </a:endParaRPr>
          </a:p>
        </p:txBody>
      </p:sp>
      <p:pic>
        <p:nvPicPr>
          <p:cNvPr id="203" name="Google Shape;203;p24"/>
          <p:cNvPicPr preferRelativeResize="0"/>
          <p:nvPr/>
        </p:nvPicPr>
        <p:blipFill>
          <a:blip r:embed="rId3">
            <a:alphaModFix/>
          </a:blip>
          <a:stretch>
            <a:fillRect/>
          </a:stretch>
        </p:blipFill>
        <p:spPr>
          <a:xfrm>
            <a:off x="1788625" y="992450"/>
            <a:ext cx="5566775" cy="3862175"/>
          </a:xfrm>
          <a:prstGeom prst="rect">
            <a:avLst/>
          </a:prstGeom>
          <a:noFill/>
          <a:ln>
            <a:noFill/>
          </a:ln>
        </p:spPr>
      </p:pic>
      <p:sp>
        <p:nvSpPr>
          <p:cNvPr id="204" name="Google Shape;204;p24"/>
          <p:cNvSpPr txBox="1"/>
          <p:nvPr/>
        </p:nvSpPr>
        <p:spPr>
          <a:xfrm>
            <a:off x="2541625" y="4774200"/>
            <a:ext cx="3743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Georgia"/>
                <a:ea typeface="Georgia"/>
                <a:cs typeface="Georgia"/>
                <a:sym typeface="Georgia"/>
              </a:rPr>
              <a:t>A Taxi Driving Fraud Detection System</a:t>
            </a:r>
            <a:endParaRPr sz="1200"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9"/>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Few Unsupervised Learning Algorithms</a:t>
            </a:r>
            <a:endParaRPr sz="3000">
              <a:solidFill>
                <a:srgbClr val="000000"/>
              </a:solidFill>
              <a:latin typeface="Georgia"/>
              <a:ea typeface="Georgia"/>
              <a:cs typeface="Georgia"/>
              <a:sym typeface="Georgia"/>
            </a:endParaRPr>
          </a:p>
        </p:txBody>
      </p:sp>
      <p:sp>
        <p:nvSpPr>
          <p:cNvPr id="303" name="Google Shape;303;p39"/>
          <p:cNvSpPr txBox="1">
            <a:spLocks noGrp="1"/>
          </p:cNvSpPr>
          <p:nvPr>
            <p:ph type="body" idx="1"/>
          </p:nvPr>
        </p:nvSpPr>
        <p:spPr>
          <a:xfrm>
            <a:off x="586300" y="929325"/>
            <a:ext cx="7998900" cy="410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b="1">
                <a:latin typeface="Georgia"/>
                <a:ea typeface="Georgia"/>
                <a:cs typeface="Georgia"/>
                <a:sym typeface="Georgia"/>
              </a:rPr>
              <a:t>Clustering: </a:t>
            </a:r>
            <a:r>
              <a:rPr lang="en">
                <a:latin typeface="Georgia"/>
                <a:ea typeface="Georgia"/>
                <a:cs typeface="Georgia"/>
                <a:sym typeface="Georgia"/>
              </a:rPr>
              <a:t>Grouping similar data points together based on their similarity or distance in the feature space.</a:t>
            </a:r>
            <a:endParaRPr>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b="1">
                <a:latin typeface="Georgia"/>
                <a:ea typeface="Georgia"/>
                <a:cs typeface="Georgia"/>
                <a:sym typeface="Georgia"/>
              </a:rPr>
              <a:t>K-means clustering:</a:t>
            </a:r>
            <a:r>
              <a:rPr lang="en">
                <a:latin typeface="Georgia"/>
                <a:ea typeface="Georgia"/>
                <a:cs typeface="Georgia"/>
                <a:sym typeface="Georgia"/>
              </a:rPr>
              <a:t> A popular algorithm for clustering data points based on their similarity.</a:t>
            </a:r>
            <a:endParaRPr>
              <a:latin typeface="Georgia"/>
              <a:ea typeface="Georgia"/>
              <a:cs typeface="Georgia"/>
              <a:sym typeface="Georgia"/>
            </a:endParaRPr>
          </a:p>
          <a:p>
            <a:pPr marL="457200" lvl="0" indent="0" algn="just" rtl="0">
              <a:lnSpc>
                <a:spcPct val="80000"/>
              </a:lnSpc>
              <a:spcBef>
                <a:spcPts val="800"/>
              </a:spcBef>
              <a:spcAft>
                <a:spcPts val="0"/>
              </a:spcAft>
              <a:buNone/>
            </a:pPr>
            <a:endParaRPr>
              <a:latin typeface="Georgia"/>
              <a:ea typeface="Georgia"/>
              <a:cs typeface="Georgia"/>
              <a:sym typeface="Georgia"/>
            </a:endParaRPr>
          </a:p>
          <a:p>
            <a:pPr marL="457200" lvl="0" indent="-361950" algn="just" rtl="0">
              <a:lnSpc>
                <a:spcPct val="80000"/>
              </a:lnSpc>
              <a:spcBef>
                <a:spcPts val="400"/>
              </a:spcBef>
              <a:spcAft>
                <a:spcPts val="0"/>
              </a:spcAft>
              <a:buSzPts val="2100"/>
              <a:buFont typeface="Georgia"/>
              <a:buChar char="●"/>
            </a:pPr>
            <a:r>
              <a:rPr lang="en" b="1">
                <a:latin typeface="Georgia"/>
                <a:ea typeface="Georgia"/>
                <a:cs typeface="Georgia"/>
                <a:sym typeface="Georgia"/>
              </a:rPr>
              <a:t>Dimensionality reduction:</a:t>
            </a:r>
            <a:r>
              <a:rPr lang="en">
                <a:latin typeface="Georgia"/>
                <a:ea typeface="Georgia"/>
                <a:cs typeface="Georgia"/>
                <a:sym typeface="Georgia"/>
              </a:rPr>
              <a:t> Reducing the number of features in the data while preserving the most important information.</a:t>
            </a:r>
            <a:endParaRPr>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b="1">
                <a:latin typeface="Georgia"/>
                <a:ea typeface="Georgia"/>
                <a:cs typeface="Georgia"/>
                <a:sym typeface="Georgia"/>
              </a:rPr>
              <a:t>Principal Component Analysis (PCA):</a:t>
            </a:r>
            <a:r>
              <a:rPr lang="en">
                <a:latin typeface="Georgia"/>
                <a:ea typeface="Georgia"/>
                <a:cs typeface="Georgia"/>
                <a:sym typeface="Georgia"/>
              </a:rPr>
              <a:t> An algorithm for reducing the dimensionality of data by projecting it onto a lower-dimensional space.</a:t>
            </a:r>
            <a:endParaRPr>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b="1">
                <a:latin typeface="Georgia"/>
                <a:ea typeface="Georgia"/>
                <a:cs typeface="Georgia"/>
                <a:sym typeface="Georgia"/>
              </a:rPr>
              <a:t>Autoencoder:</a:t>
            </a:r>
            <a:r>
              <a:rPr lang="en">
                <a:latin typeface="Georgia"/>
                <a:ea typeface="Georgia"/>
                <a:cs typeface="Georgia"/>
                <a:sym typeface="Georgia"/>
              </a:rPr>
              <a:t> A neural network architecture that can be trained to learn a compressed representation of the data.</a:t>
            </a:r>
            <a:endParaRPr>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3335EAFE-CF7E-6540-2EA7-EB7AA89F26FD}"/>
            </a:ext>
          </a:extLst>
        </p:cNvPr>
        <p:cNvGrpSpPr/>
        <p:nvPr/>
      </p:nvGrpSpPr>
      <p:grpSpPr>
        <a:xfrm>
          <a:off x="0" y="0"/>
          <a:ext cx="0" cy="0"/>
          <a:chOff x="0" y="0"/>
          <a:chExt cx="0" cy="0"/>
        </a:xfrm>
      </p:grpSpPr>
      <p:sp>
        <p:nvSpPr>
          <p:cNvPr id="201" name="Google Shape;201;p24">
            <a:extLst>
              <a:ext uri="{FF2B5EF4-FFF2-40B4-BE49-F238E27FC236}">
                <a16:creationId xmlns:a16="http://schemas.microsoft.com/office/drawing/2014/main" id="{72362F03-F1B5-E381-4D96-D169B30DB63D}"/>
              </a:ext>
            </a:extLst>
          </p:cNvPr>
          <p:cNvSpPr txBox="1">
            <a:spLocks noGrp="1"/>
          </p:cNvSpPr>
          <p:nvPr>
            <p:ph type="title"/>
          </p:nvPr>
        </p:nvSpPr>
        <p:spPr>
          <a:xfrm>
            <a:off x="475375" y="205750"/>
            <a:ext cx="86685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r>
              <a:rPr lang="en-US" sz="3000" dirty="0">
                <a:solidFill>
                  <a:srgbClr val="000000"/>
                </a:solidFill>
                <a:latin typeface="Georgia"/>
                <a:ea typeface="Georgia"/>
                <a:cs typeface="Georgia"/>
                <a:sym typeface="Georgia"/>
              </a:rPr>
              <a:t>K-Means</a:t>
            </a: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3300"/>
              <a:buFont typeface="Calibri"/>
              <a:buNone/>
            </a:pPr>
            <a:endParaRPr sz="3000" dirty="0">
              <a:solidFill>
                <a:srgbClr val="000000"/>
              </a:solidFill>
              <a:latin typeface="Georgia"/>
              <a:ea typeface="Georgia"/>
              <a:cs typeface="Georgia"/>
              <a:sym typeface="Georgia"/>
            </a:endParaRPr>
          </a:p>
        </p:txBody>
      </p:sp>
      <p:sp>
        <p:nvSpPr>
          <p:cNvPr id="202" name="Google Shape;202;p24">
            <a:extLst>
              <a:ext uri="{FF2B5EF4-FFF2-40B4-BE49-F238E27FC236}">
                <a16:creationId xmlns:a16="http://schemas.microsoft.com/office/drawing/2014/main" id="{625EF4EB-042F-328E-9536-D80A9F335481}"/>
              </a:ext>
            </a:extLst>
          </p:cNvPr>
          <p:cNvSpPr txBox="1"/>
          <p:nvPr/>
        </p:nvSpPr>
        <p:spPr>
          <a:xfrm>
            <a:off x="335725" y="978300"/>
            <a:ext cx="8154900" cy="41652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endParaRPr sz="2200">
              <a:solidFill>
                <a:schemeClr val="dk1"/>
              </a:solidFill>
              <a:latin typeface="Georgia"/>
              <a:ea typeface="Georgia"/>
              <a:cs typeface="Georgia"/>
              <a:sym typeface="Georgia"/>
            </a:endParaRPr>
          </a:p>
        </p:txBody>
      </p:sp>
      <p:pic>
        <p:nvPicPr>
          <p:cNvPr id="1026" name="Picture 2" descr="Understanding how K-Means Clustering Works (A detailed guide) | by Saarthak  Gupta | Level Up Coding">
            <a:extLst>
              <a:ext uri="{FF2B5EF4-FFF2-40B4-BE49-F238E27FC236}">
                <a16:creationId xmlns:a16="http://schemas.microsoft.com/office/drawing/2014/main" id="{6D465D18-0451-28E4-8268-BBD12D24C9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5900"/>
            <a:ext cx="9144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19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F15CA2A3-7AC9-55DD-A629-08440BD7B6B4}"/>
            </a:ext>
          </a:extLst>
        </p:cNvPr>
        <p:cNvGrpSpPr/>
        <p:nvPr/>
      </p:nvGrpSpPr>
      <p:grpSpPr>
        <a:xfrm>
          <a:off x="0" y="0"/>
          <a:ext cx="0" cy="0"/>
          <a:chOff x="0" y="0"/>
          <a:chExt cx="0" cy="0"/>
        </a:xfrm>
      </p:grpSpPr>
      <p:sp>
        <p:nvSpPr>
          <p:cNvPr id="201" name="Google Shape;201;p24">
            <a:extLst>
              <a:ext uri="{FF2B5EF4-FFF2-40B4-BE49-F238E27FC236}">
                <a16:creationId xmlns:a16="http://schemas.microsoft.com/office/drawing/2014/main" id="{D8D1C086-3C4A-1DA7-3C36-B661A30C76A9}"/>
              </a:ext>
            </a:extLst>
          </p:cNvPr>
          <p:cNvSpPr txBox="1">
            <a:spLocks noGrp="1"/>
          </p:cNvSpPr>
          <p:nvPr>
            <p:ph type="title"/>
          </p:nvPr>
        </p:nvSpPr>
        <p:spPr>
          <a:xfrm>
            <a:off x="475375" y="205750"/>
            <a:ext cx="86685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r>
              <a:rPr lang="en-US" sz="3000" dirty="0">
                <a:solidFill>
                  <a:srgbClr val="000000"/>
                </a:solidFill>
                <a:latin typeface="Georgia"/>
                <a:ea typeface="Georgia"/>
                <a:cs typeface="Georgia"/>
                <a:sym typeface="Georgia"/>
              </a:rPr>
              <a:t>PCA</a:t>
            </a: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3300"/>
              <a:buFont typeface="Calibri"/>
              <a:buNone/>
            </a:pPr>
            <a:endParaRPr sz="3000" dirty="0">
              <a:solidFill>
                <a:srgbClr val="000000"/>
              </a:solidFill>
              <a:latin typeface="Georgia"/>
              <a:ea typeface="Georgia"/>
              <a:cs typeface="Georgia"/>
              <a:sym typeface="Georgia"/>
            </a:endParaRPr>
          </a:p>
        </p:txBody>
      </p:sp>
      <p:sp>
        <p:nvSpPr>
          <p:cNvPr id="202" name="Google Shape;202;p24">
            <a:extLst>
              <a:ext uri="{FF2B5EF4-FFF2-40B4-BE49-F238E27FC236}">
                <a16:creationId xmlns:a16="http://schemas.microsoft.com/office/drawing/2014/main" id="{7429C3FF-5EC5-33A1-D997-55A683EB64D9}"/>
              </a:ext>
            </a:extLst>
          </p:cNvPr>
          <p:cNvSpPr txBox="1"/>
          <p:nvPr/>
        </p:nvSpPr>
        <p:spPr>
          <a:xfrm>
            <a:off x="335725" y="978300"/>
            <a:ext cx="8154900" cy="41652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endParaRPr sz="2200">
              <a:solidFill>
                <a:schemeClr val="dk1"/>
              </a:solidFill>
              <a:latin typeface="Georgia"/>
              <a:ea typeface="Georgia"/>
              <a:cs typeface="Georgia"/>
              <a:sym typeface="Georgia"/>
            </a:endParaRPr>
          </a:p>
        </p:txBody>
      </p:sp>
      <p:pic>
        <p:nvPicPr>
          <p:cNvPr id="3074" name="Picture 2" descr="Unveiling the Power of PCA: Turbocharge Your Data Science with  Dimensionality Reduction! | by Tushar Babbar | AlliedOffsets | Medium">
            <a:extLst>
              <a:ext uri="{FF2B5EF4-FFF2-40B4-BE49-F238E27FC236}">
                <a16:creationId xmlns:a16="http://schemas.microsoft.com/office/drawing/2014/main" id="{B087BCE5-1462-606D-DAA4-F11669D68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70450"/>
            <a:ext cx="9144000" cy="405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42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8"/>
          <p:cNvSpPr txBox="1">
            <a:spLocks noGrp="1"/>
          </p:cNvSpPr>
          <p:nvPr>
            <p:ph type="title"/>
          </p:nvPr>
        </p:nvSpPr>
        <p:spPr>
          <a:xfrm>
            <a:off x="475375" y="205750"/>
            <a:ext cx="86685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r>
              <a:rPr lang="en" sz="3000" dirty="0">
                <a:solidFill>
                  <a:schemeClr val="dk1"/>
                </a:solidFill>
                <a:latin typeface="Georgia"/>
                <a:ea typeface="Georgia"/>
                <a:cs typeface="Georgia"/>
                <a:sym typeface="Georgia"/>
              </a:rPr>
              <a:t>Natural grouping : Clustering is subjective </a:t>
            </a: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3300"/>
              <a:buFont typeface="Calibri"/>
              <a:buNone/>
            </a:pPr>
            <a:endParaRPr sz="3000" dirty="0">
              <a:solidFill>
                <a:srgbClr val="000000"/>
              </a:solidFill>
              <a:latin typeface="Georgia"/>
              <a:ea typeface="Georgia"/>
              <a:cs typeface="Georgia"/>
              <a:sym typeface="Georgia"/>
            </a:endParaRPr>
          </a:p>
        </p:txBody>
      </p:sp>
      <p:sp>
        <p:nvSpPr>
          <p:cNvPr id="229" name="Google Shape;229;p28"/>
          <p:cNvSpPr txBox="1"/>
          <p:nvPr/>
        </p:nvSpPr>
        <p:spPr>
          <a:xfrm>
            <a:off x="335725" y="825975"/>
            <a:ext cx="8154900" cy="41652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endParaRPr sz="2200">
              <a:solidFill>
                <a:schemeClr val="dk1"/>
              </a:solidFill>
              <a:latin typeface="Georgia"/>
              <a:ea typeface="Georgia"/>
              <a:cs typeface="Georgia"/>
              <a:sym typeface="Georgia"/>
            </a:endParaRPr>
          </a:p>
        </p:txBody>
      </p:sp>
      <p:pic>
        <p:nvPicPr>
          <p:cNvPr id="230" name="Google Shape;230;p28"/>
          <p:cNvPicPr preferRelativeResize="0"/>
          <p:nvPr/>
        </p:nvPicPr>
        <p:blipFill>
          <a:blip r:embed="rId3">
            <a:alphaModFix/>
          </a:blip>
          <a:stretch>
            <a:fillRect/>
          </a:stretch>
        </p:blipFill>
        <p:spPr>
          <a:xfrm>
            <a:off x="171450" y="1322625"/>
            <a:ext cx="4400550" cy="2895600"/>
          </a:xfrm>
          <a:prstGeom prst="rect">
            <a:avLst/>
          </a:prstGeom>
          <a:noFill/>
          <a:ln>
            <a:noFill/>
          </a:ln>
        </p:spPr>
      </p:pic>
      <p:pic>
        <p:nvPicPr>
          <p:cNvPr id="231" name="Google Shape;231;p28"/>
          <p:cNvPicPr preferRelativeResize="0"/>
          <p:nvPr/>
        </p:nvPicPr>
        <p:blipFill>
          <a:blip r:embed="rId4">
            <a:alphaModFix/>
          </a:blip>
          <a:stretch>
            <a:fillRect/>
          </a:stretch>
        </p:blipFill>
        <p:spPr>
          <a:xfrm>
            <a:off x="4829163" y="1322625"/>
            <a:ext cx="4314825" cy="304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9"/>
          <p:cNvSpPr txBox="1">
            <a:spLocks noGrp="1"/>
          </p:cNvSpPr>
          <p:nvPr>
            <p:ph type="title"/>
          </p:nvPr>
        </p:nvSpPr>
        <p:spPr>
          <a:xfrm>
            <a:off x="475375" y="205750"/>
            <a:ext cx="86685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r>
              <a:rPr lang="en" sz="3000" dirty="0">
                <a:solidFill>
                  <a:schemeClr val="dk1"/>
                </a:solidFill>
                <a:latin typeface="Georgia"/>
                <a:ea typeface="Georgia"/>
                <a:cs typeface="Georgia"/>
                <a:sym typeface="Georgia"/>
              </a:rPr>
              <a:t>What is Similarity? </a:t>
            </a: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1100"/>
              <a:buFont typeface="Arial"/>
              <a:buNone/>
            </a:pPr>
            <a:endParaRPr sz="3000" dirty="0">
              <a:solidFill>
                <a:srgbClr val="000000"/>
              </a:solidFill>
              <a:latin typeface="Georgia"/>
              <a:ea typeface="Georgia"/>
              <a:cs typeface="Georgia"/>
              <a:sym typeface="Georgia"/>
            </a:endParaRPr>
          </a:p>
          <a:p>
            <a:pPr marL="0" lvl="0" indent="0" algn="l" rtl="0">
              <a:lnSpc>
                <a:spcPct val="90000"/>
              </a:lnSpc>
              <a:spcBef>
                <a:spcPts val="0"/>
              </a:spcBef>
              <a:spcAft>
                <a:spcPts val="0"/>
              </a:spcAft>
              <a:buClr>
                <a:schemeClr val="dk1"/>
              </a:buClr>
              <a:buSzPts val="3300"/>
              <a:buFont typeface="Calibri"/>
              <a:buNone/>
            </a:pPr>
            <a:endParaRPr sz="3000" dirty="0">
              <a:solidFill>
                <a:srgbClr val="000000"/>
              </a:solidFill>
              <a:latin typeface="Georgia"/>
              <a:ea typeface="Georgia"/>
              <a:cs typeface="Georgia"/>
              <a:sym typeface="Georgia"/>
            </a:endParaRPr>
          </a:p>
        </p:txBody>
      </p:sp>
      <p:sp>
        <p:nvSpPr>
          <p:cNvPr id="237" name="Google Shape;237;p29"/>
          <p:cNvSpPr txBox="1"/>
          <p:nvPr/>
        </p:nvSpPr>
        <p:spPr>
          <a:xfrm>
            <a:off x="335725" y="825975"/>
            <a:ext cx="8154900" cy="41652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endParaRPr sz="2200">
              <a:solidFill>
                <a:schemeClr val="dk1"/>
              </a:solidFill>
              <a:latin typeface="Georgia"/>
              <a:ea typeface="Georgia"/>
              <a:cs typeface="Georgia"/>
              <a:sym typeface="Georgia"/>
            </a:endParaRPr>
          </a:p>
        </p:txBody>
      </p:sp>
      <p:pic>
        <p:nvPicPr>
          <p:cNvPr id="238" name="Google Shape;238;p29"/>
          <p:cNvPicPr preferRelativeResize="0"/>
          <p:nvPr/>
        </p:nvPicPr>
        <p:blipFill>
          <a:blip r:embed="rId3">
            <a:alphaModFix/>
          </a:blip>
          <a:stretch>
            <a:fillRect/>
          </a:stretch>
        </p:blipFill>
        <p:spPr>
          <a:xfrm>
            <a:off x="1168650" y="967474"/>
            <a:ext cx="3011075" cy="4099474"/>
          </a:xfrm>
          <a:prstGeom prst="rect">
            <a:avLst/>
          </a:prstGeom>
          <a:noFill/>
          <a:ln>
            <a:noFill/>
          </a:ln>
        </p:spPr>
      </p:pic>
      <p:pic>
        <p:nvPicPr>
          <p:cNvPr id="239" name="Google Shape;239;p29"/>
          <p:cNvPicPr preferRelativeResize="0"/>
          <p:nvPr/>
        </p:nvPicPr>
        <p:blipFill>
          <a:blip r:embed="rId4">
            <a:alphaModFix/>
          </a:blip>
          <a:stretch>
            <a:fillRect/>
          </a:stretch>
        </p:blipFill>
        <p:spPr>
          <a:xfrm>
            <a:off x="4282726" y="978375"/>
            <a:ext cx="3008376" cy="40965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1"/>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Examples of Unsupervised Learning in IS</a:t>
            </a:r>
            <a:endParaRPr sz="3000">
              <a:solidFill>
                <a:srgbClr val="000000"/>
              </a:solidFill>
              <a:latin typeface="Georgia"/>
              <a:ea typeface="Georgia"/>
              <a:cs typeface="Georgia"/>
              <a:sym typeface="Georgia"/>
            </a:endParaRPr>
          </a:p>
        </p:txBody>
      </p:sp>
      <p:sp>
        <p:nvSpPr>
          <p:cNvPr id="317" name="Google Shape;317;p41"/>
          <p:cNvSpPr txBox="1">
            <a:spLocks noGrp="1"/>
          </p:cNvSpPr>
          <p:nvPr>
            <p:ph type="body" idx="1"/>
          </p:nvPr>
        </p:nvSpPr>
        <p:spPr>
          <a:xfrm>
            <a:off x="586300" y="929325"/>
            <a:ext cx="7998900" cy="410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AutoNum type="arabicPeriod"/>
            </a:pPr>
            <a:r>
              <a:rPr lang="en">
                <a:latin typeface="Georgia"/>
                <a:ea typeface="Georgia"/>
                <a:cs typeface="Georgia"/>
                <a:sym typeface="Georgia"/>
              </a:rPr>
              <a:t>In a customer segmentation task, K-means clustering can be used to group customers into different segments based on their purchasing behavior, demographics, or other features. The algorithm would automatically group customers with similar characteristics together, without the need for explicit labels or annotations.</a:t>
            </a:r>
            <a:endParaRPr>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AutoNum type="arabicPeriod"/>
            </a:pPr>
            <a:r>
              <a:rPr lang="en">
                <a:latin typeface="Georgia"/>
                <a:ea typeface="Georgia"/>
                <a:cs typeface="Georgia"/>
                <a:sym typeface="Georgia"/>
              </a:rPr>
              <a:t>Autoencoders can be used for tasks such as image denoising, feature extraction, or data compression. For example, in image denoising, an autoencoder can be trained to remove noise from images by learning a compressed representation of the image that captures the underlying structure of the image.</a:t>
            </a:r>
            <a:endParaRPr>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0"/>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Advantages and disadvantages</a:t>
            </a:r>
            <a:endParaRPr sz="3000">
              <a:solidFill>
                <a:srgbClr val="000000"/>
              </a:solidFill>
              <a:latin typeface="Georgia"/>
              <a:ea typeface="Georgia"/>
              <a:cs typeface="Georgia"/>
              <a:sym typeface="Georgia"/>
            </a:endParaRPr>
          </a:p>
        </p:txBody>
      </p:sp>
      <p:sp>
        <p:nvSpPr>
          <p:cNvPr id="310" name="Google Shape;310;p40"/>
          <p:cNvSpPr txBox="1">
            <a:spLocks noGrp="1"/>
          </p:cNvSpPr>
          <p:nvPr>
            <p:ph type="body" idx="1"/>
          </p:nvPr>
        </p:nvSpPr>
        <p:spPr>
          <a:xfrm>
            <a:off x="586300" y="929325"/>
            <a:ext cx="7998900" cy="410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b="1" dirty="0">
                <a:latin typeface="Georgia"/>
                <a:ea typeface="Georgia"/>
                <a:cs typeface="Georgia"/>
                <a:sym typeface="Georgia"/>
              </a:rPr>
              <a:t>Advantages:</a:t>
            </a:r>
            <a:endParaRPr b="1"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Can be used to find hidden patterns and relationships in data that may not be apparent using other methods.</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Can be applied to a wide range of data types and formats, including text, images, and numerical data.</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Can be used to preprocess data for further analysis or classification.</a:t>
            </a:r>
            <a:endParaRPr dirty="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b="1" dirty="0">
                <a:latin typeface="Georgia"/>
                <a:ea typeface="Georgia"/>
                <a:cs typeface="Georgia"/>
                <a:sym typeface="Georgia"/>
              </a:rPr>
              <a:t>Disadvantages:</a:t>
            </a:r>
            <a:endParaRPr b="1"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Results may be difficult to interpret or validate, since there is no explicit guidance or supervision.</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Performance can be sensitive to the choice of algorithm and parameters.</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Can be computationally expensive for large datasets or high-dimensional data.</a:t>
            </a:r>
            <a:endParaRPr b="1"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2"/>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3300"/>
              <a:buFont typeface="Calibri"/>
              <a:buNone/>
            </a:pPr>
            <a:r>
              <a:rPr lang="en" sz="3000" dirty="0">
                <a:solidFill>
                  <a:schemeClr val="dk1"/>
                </a:solidFill>
                <a:latin typeface="Georgia"/>
                <a:ea typeface="Georgia"/>
                <a:cs typeface="Georgia"/>
                <a:sym typeface="Georgia"/>
              </a:rPr>
              <a:t>4.3 Quiz</a:t>
            </a:r>
            <a:endParaRPr dirty="0"/>
          </a:p>
        </p:txBody>
      </p:sp>
      <p:pic>
        <p:nvPicPr>
          <p:cNvPr id="3074" name="Picture 2">
            <a:extLst>
              <a:ext uri="{FF2B5EF4-FFF2-40B4-BE49-F238E27FC236}">
                <a16:creationId xmlns:a16="http://schemas.microsoft.com/office/drawing/2014/main" id="{852F8C24-CA43-E936-290C-DD2551883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268" y="830036"/>
            <a:ext cx="4313464" cy="43134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Reinforcement Learning</a:t>
            </a:r>
            <a:endParaRPr sz="3000">
              <a:solidFill>
                <a:srgbClr val="000000"/>
              </a:solidFill>
              <a:latin typeface="Georgia"/>
              <a:ea typeface="Georgia"/>
              <a:cs typeface="Georgia"/>
              <a:sym typeface="Georgia"/>
            </a:endParaRPr>
          </a:p>
        </p:txBody>
      </p:sp>
      <p:sp>
        <p:nvSpPr>
          <p:cNvPr id="330" name="Google Shape;330;p43"/>
          <p:cNvSpPr txBox="1">
            <a:spLocks noGrp="1"/>
          </p:cNvSpPr>
          <p:nvPr>
            <p:ph type="body" idx="1"/>
          </p:nvPr>
        </p:nvSpPr>
        <p:spPr>
          <a:xfrm>
            <a:off x="0" y="3004675"/>
            <a:ext cx="9144000" cy="236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dirty="0">
                <a:latin typeface="Georgia"/>
                <a:ea typeface="Georgia"/>
                <a:cs typeface="Georgia"/>
                <a:sym typeface="Georgia"/>
              </a:rPr>
              <a:t>Involves an agent interacting with an environment, learning to make decisions that maximize a reward signal.</a:t>
            </a:r>
            <a:endParaRPr sz="2100" dirty="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The goal is to to learn a policy that maps states to actions, in order to maximize a reward signal over time.</a:t>
            </a:r>
            <a:endParaRPr dirty="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b="1" dirty="0">
                <a:latin typeface="Georgia"/>
                <a:ea typeface="Georgia"/>
                <a:cs typeface="Georgia"/>
                <a:sym typeface="Georgia"/>
              </a:rPr>
              <a:t>Examples:</a:t>
            </a:r>
            <a:endParaRPr b="1"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In game AI, to train agents to play games such as Go, Chess, and Poker. </a:t>
            </a:r>
            <a:endParaRPr dirty="0">
              <a:latin typeface="Georgia"/>
              <a:ea typeface="Georgia"/>
              <a:cs typeface="Georgia"/>
              <a:sym typeface="Georgia"/>
            </a:endParaRPr>
          </a:p>
          <a:p>
            <a:pPr marL="914400" lvl="1" indent="-361950" algn="just" rtl="0">
              <a:lnSpc>
                <a:spcPct val="80000"/>
              </a:lnSpc>
              <a:spcBef>
                <a:spcPts val="0"/>
              </a:spcBef>
              <a:spcAft>
                <a:spcPts val="0"/>
              </a:spcAft>
              <a:buSzPts val="2100"/>
              <a:buFont typeface="Georgia"/>
              <a:buChar char="○"/>
            </a:pPr>
            <a:r>
              <a:rPr lang="en" dirty="0">
                <a:latin typeface="Georgia"/>
                <a:ea typeface="Georgia"/>
                <a:cs typeface="Georgia"/>
                <a:sym typeface="Georgia"/>
              </a:rPr>
              <a:t>In recommendation systems, to personalize recommendations for users, taking into account their past behavior and preferences.</a:t>
            </a:r>
            <a:endParaRPr b="1" dirty="0">
              <a:latin typeface="Georgia"/>
              <a:ea typeface="Georgia"/>
              <a:cs typeface="Georgia"/>
              <a:sym typeface="Georgia"/>
            </a:endParaRPr>
          </a:p>
        </p:txBody>
      </p:sp>
      <p:pic>
        <p:nvPicPr>
          <p:cNvPr id="331" name="Google Shape;331;p43"/>
          <p:cNvPicPr preferRelativeResize="0"/>
          <p:nvPr/>
        </p:nvPicPr>
        <p:blipFill>
          <a:blip r:embed="rId3">
            <a:alphaModFix/>
          </a:blip>
          <a:stretch>
            <a:fillRect/>
          </a:stretch>
        </p:blipFill>
        <p:spPr>
          <a:xfrm>
            <a:off x="2785463" y="975250"/>
            <a:ext cx="3877881" cy="20294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4"/>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Few RL Algorithms</a:t>
            </a:r>
            <a:endParaRPr sz="3000">
              <a:solidFill>
                <a:srgbClr val="000000"/>
              </a:solidFill>
              <a:latin typeface="Georgia"/>
              <a:ea typeface="Georgia"/>
              <a:cs typeface="Georgia"/>
              <a:sym typeface="Georgia"/>
            </a:endParaRPr>
          </a:p>
        </p:txBody>
      </p:sp>
      <p:sp>
        <p:nvSpPr>
          <p:cNvPr id="338" name="Google Shape;338;p44"/>
          <p:cNvSpPr txBox="1">
            <a:spLocks noGrp="1"/>
          </p:cNvSpPr>
          <p:nvPr>
            <p:ph type="body" idx="1"/>
          </p:nvPr>
        </p:nvSpPr>
        <p:spPr>
          <a:xfrm>
            <a:off x="586300" y="929325"/>
            <a:ext cx="7998900" cy="4106400"/>
          </a:xfrm>
          <a:prstGeom prst="rect">
            <a:avLst/>
          </a:prstGeom>
          <a:noFill/>
          <a:ln>
            <a:noFill/>
          </a:ln>
        </p:spPr>
        <p:txBody>
          <a:bodyPr spcFirstLastPara="1" wrap="square" lIns="68575" tIns="34275" rIns="68575" bIns="34275" anchor="t" anchorCtr="0">
            <a:noAutofit/>
          </a:bodyPr>
          <a:lstStyle/>
          <a:p>
            <a:pPr marL="457200" lvl="0" indent="-361950" algn="just" rtl="0">
              <a:lnSpc>
                <a:spcPct val="80000"/>
              </a:lnSpc>
              <a:spcBef>
                <a:spcPts val="800"/>
              </a:spcBef>
              <a:spcAft>
                <a:spcPts val="0"/>
              </a:spcAft>
              <a:buSzPts val="2100"/>
              <a:buFont typeface="Georgia"/>
              <a:buChar char="●"/>
            </a:pPr>
            <a:r>
              <a:rPr lang="en" b="1" dirty="0">
                <a:latin typeface="Georgia"/>
                <a:ea typeface="Georgia"/>
                <a:cs typeface="Georgia"/>
                <a:sym typeface="Georgia"/>
              </a:rPr>
              <a:t>Q-Learning:</a:t>
            </a:r>
            <a:r>
              <a:rPr lang="en" dirty="0">
                <a:latin typeface="Georgia"/>
                <a:ea typeface="Georgia"/>
                <a:cs typeface="Georgia"/>
                <a:sym typeface="Georgia"/>
              </a:rPr>
              <a:t> An off-policy algorithm that learns the optimal Q-value function for a given policy, and then uses this function to choose the best action at each step.</a:t>
            </a:r>
            <a:endParaRPr dirty="0">
              <a:latin typeface="Georgia"/>
              <a:ea typeface="Georgia"/>
              <a:cs typeface="Georgia"/>
              <a:sym typeface="Georgia"/>
            </a:endParaRPr>
          </a:p>
          <a:p>
            <a:pPr marL="457200" lvl="0" indent="-361950" algn="just" rtl="0">
              <a:lnSpc>
                <a:spcPct val="80000"/>
              </a:lnSpc>
              <a:spcBef>
                <a:spcPts val="0"/>
              </a:spcBef>
              <a:spcAft>
                <a:spcPts val="0"/>
              </a:spcAft>
              <a:buSzPts val="2100"/>
              <a:buFont typeface="Georgia"/>
              <a:buChar char="●"/>
            </a:pPr>
            <a:r>
              <a:rPr lang="en" b="1" dirty="0">
                <a:latin typeface="Georgia"/>
                <a:ea typeface="Georgia"/>
                <a:cs typeface="Georgia"/>
                <a:sym typeface="Georgia"/>
              </a:rPr>
              <a:t>SARSA:</a:t>
            </a:r>
            <a:r>
              <a:rPr lang="en" dirty="0">
                <a:latin typeface="Georgia"/>
                <a:ea typeface="Georgia"/>
                <a:cs typeface="Georgia"/>
                <a:sym typeface="Georgia"/>
              </a:rPr>
              <a:t> An on-policy algorithm that learns the Q-value function for the current policy, and updates the policy based on the Q-values.</a:t>
            </a:r>
            <a:endParaRPr dirty="0">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Deep Q-Networks (DQN):</a:t>
            </a:r>
            <a:r>
              <a:rPr lang="en" dirty="0">
                <a:latin typeface="Georgia"/>
                <a:ea typeface="Georgia"/>
                <a:cs typeface="Georgia"/>
                <a:sym typeface="Georgia"/>
              </a:rPr>
              <a:t> A deep reinforcement learning algorithm that uses a deep neural network to estimate the Q-value function, and applies experience replay to improve stability and sample efficiency.</a:t>
            </a:r>
            <a:endParaRPr dirty="0">
              <a:latin typeface="Georgia"/>
              <a:ea typeface="Georgia"/>
              <a:cs typeface="Georgia"/>
              <a:sym typeface="Georg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5"/>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Advantages and disadvantages</a:t>
            </a:r>
            <a:endParaRPr sz="3000">
              <a:solidFill>
                <a:srgbClr val="000000"/>
              </a:solidFill>
              <a:latin typeface="Georgia"/>
              <a:ea typeface="Georgia"/>
              <a:cs typeface="Georgia"/>
              <a:sym typeface="Georgia"/>
            </a:endParaRPr>
          </a:p>
        </p:txBody>
      </p:sp>
      <p:sp>
        <p:nvSpPr>
          <p:cNvPr id="345" name="Google Shape;345;p45"/>
          <p:cNvSpPr txBox="1">
            <a:spLocks noGrp="1"/>
          </p:cNvSpPr>
          <p:nvPr>
            <p:ph type="body" idx="1"/>
          </p:nvPr>
        </p:nvSpPr>
        <p:spPr>
          <a:xfrm>
            <a:off x="586300" y="929325"/>
            <a:ext cx="7998900" cy="4106400"/>
          </a:xfrm>
          <a:prstGeom prst="rect">
            <a:avLst/>
          </a:prstGeom>
          <a:noFill/>
          <a:ln>
            <a:noFill/>
          </a:ln>
        </p:spPr>
        <p:txBody>
          <a:bodyPr spcFirstLastPara="1" wrap="square" lIns="68575" tIns="34275" rIns="68575" bIns="34275" anchor="t" anchorCtr="0">
            <a:noAutofit/>
          </a:bodyPr>
          <a:lstStyle/>
          <a:p>
            <a:pPr marL="457200" lvl="0" indent="-317500" algn="just" rtl="0">
              <a:lnSpc>
                <a:spcPct val="80000"/>
              </a:lnSpc>
              <a:spcBef>
                <a:spcPts val="800"/>
              </a:spcBef>
              <a:spcAft>
                <a:spcPts val="0"/>
              </a:spcAft>
              <a:buSzPts val="1400"/>
              <a:buFont typeface="Georgia"/>
              <a:buChar char="●"/>
            </a:pPr>
            <a:r>
              <a:rPr lang="en" b="1" dirty="0">
                <a:latin typeface="Georgia"/>
                <a:ea typeface="Georgia"/>
                <a:cs typeface="Georgia"/>
                <a:sym typeface="Georgia"/>
              </a:rPr>
              <a:t>Advantages:</a:t>
            </a:r>
            <a:endParaRPr b="1"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Ability to learn from experience:</a:t>
            </a:r>
            <a:r>
              <a:rPr lang="en" dirty="0">
                <a:latin typeface="Georgia"/>
                <a:ea typeface="Georgia"/>
                <a:cs typeface="Georgia"/>
                <a:sym typeface="Georgia"/>
              </a:rPr>
              <a:t> RL allows agents to learn from their interactions with the environment, making it well-suited to applications where the optimal solution is not known in advance.</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Flexibility:</a:t>
            </a:r>
            <a:r>
              <a:rPr lang="en" dirty="0">
                <a:latin typeface="Georgia"/>
                <a:ea typeface="Georgia"/>
                <a:cs typeface="Georgia"/>
                <a:sym typeface="Georgia"/>
              </a:rPr>
              <a:t> RL can handle complex, dynamic, and uncertain environments, making it a powerful tool for applications such as robotics and game AI.</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Generalization:</a:t>
            </a:r>
            <a:r>
              <a:rPr lang="en" dirty="0">
                <a:latin typeface="Georgia"/>
                <a:ea typeface="Georgia"/>
                <a:cs typeface="Georgia"/>
                <a:sym typeface="Georgia"/>
              </a:rPr>
              <a:t> RL can learn to generalize from experience, enabling agents to perform well in new situations that were not encountered during training.</a:t>
            </a:r>
            <a:endParaRPr dirty="0">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Disadvantages:</a:t>
            </a:r>
            <a:endParaRPr b="1"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High sample complexity: </a:t>
            </a:r>
            <a:r>
              <a:rPr lang="en" dirty="0">
                <a:latin typeface="Georgia"/>
                <a:ea typeface="Georgia"/>
                <a:cs typeface="Georgia"/>
                <a:sym typeface="Georgia"/>
              </a:rPr>
              <a:t>RL can require a large number of interactions with the environment to learn an optimal policy, which can be time-consuming and computationally expensive.</a:t>
            </a:r>
            <a:endParaRPr dirty="0">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Char char="○"/>
            </a:pPr>
            <a:r>
              <a:rPr lang="en" b="1" dirty="0">
                <a:latin typeface="Georgia"/>
                <a:ea typeface="Georgia"/>
                <a:cs typeface="Georgia"/>
                <a:sym typeface="Georgia"/>
              </a:rPr>
              <a:t>Risky behavior: </a:t>
            </a:r>
            <a:r>
              <a:rPr lang="en" dirty="0">
                <a:latin typeface="Georgia"/>
                <a:ea typeface="Georgia"/>
                <a:cs typeface="Georgia"/>
                <a:sym typeface="Georgia"/>
              </a:rPr>
              <a:t>RL agents can learn to take risky actions to maximize rewards, which can be undesirable in applications such as healthcare and finance.</a:t>
            </a:r>
            <a:endParaRPr b="1"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6"/>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solidFill>
                  <a:srgbClr val="3F3F3F"/>
                </a:solidFill>
                <a:latin typeface="Georgia"/>
                <a:ea typeface="Georgia"/>
                <a:cs typeface="Georgia"/>
                <a:sym typeface="Georgia"/>
              </a:rPr>
              <a:t>4.4 Quiz</a:t>
            </a:r>
            <a:endParaRPr dirty="0">
              <a:solidFill>
                <a:srgbClr val="3F3F3F"/>
              </a:solidFill>
              <a:latin typeface="Georgia"/>
              <a:ea typeface="Georgia"/>
              <a:cs typeface="Georgia"/>
              <a:sym typeface="Georgia"/>
            </a:endParaRPr>
          </a:p>
        </p:txBody>
      </p:sp>
      <p:pic>
        <p:nvPicPr>
          <p:cNvPr id="4098" name="Picture 2">
            <a:extLst>
              <a:ext uri="{FF2B5EF4-FFF2-40B4-BE49-F238E27FC236}">
                <a16:creationId xmlns:a16="http://schemas.microsoft.com/office/drawing/2014/main" id="{1270D0A4-F5A4-6984-53A3-EF6010821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8182" y="801188"/>
            <a:ext cx="4487636" cy="44876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8"/>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Factors affecting ML type</a:t>
            </a:r>
            <a:endParaRPr sz="3000">
              <a:solidFill>
                <a:srgbClr val="000000"/>
              </a:solidFill>
              <a:latin typeface="Georgia"/>
              <a:ea typeface="Georgia"/>
              <a:cs typeface="Georgia"/>
              <a:sym typeface="Georgia"/>
            </a:endParaRPr>
          </a:p>
        </p:txBody>
      </p:sp>
      <p:sp>
        <p:nvSpPr>
          <p:cNvPr id="365" name="Google Shape;365;p48"/>
          <p:cNvSpPr txBox="1">
            <a:spLocks noGrp="1"/>
          </p:cNvSpPr>
          <p:nvPr>
            <p:ph type="body" idx="1"/>
          </p:nvPr>
        </p:nvSpPr>
        <p:spPr>
          <a:xfrm>
            <a:off x="0" y="929325"/>
            <a:ext cx="9144000" cy="4106400"/>
          </a:xfrm>
          <a:prstGeom prst="rect">
            <a:avLst/>
          </a:prstGeom>
          <a:noFill/>
          <a:ln>
            <a:noFill/>
          </a:ln>
        </p:spPr>
        <p:txBody>
          <a:bodyPr spcFirstLastPara="1" wrap="square" lIns="68575" tIns="34275" rIns="68575" bIns="34275" anchor="t" anchorCtr="0">
            <a:noAutofit/>
          </a:bodyPr>
          <a:lstStyle/>
          <a:p>
            <a:pPr marL="457200" lvl="0" indent="-317500" algn="just" rtl="0">
              <a:lnSpc>
                <a:spcPct val="80000"/>
              </a:lnSpc>
              <a:spcBef>
                <a:spcPts val="800"/>
              </a:spcBef>
              <a:spcAft>
                <a:spcPts val="0"/>
              </a:spcAft>
              <a:buSzPts val="1400"/>
              <a:buFont typeface="Georgia"/>
              <a:buAutoNum type="arabicPeriod"/>
            </a:pPr>
            <a:r>
              <a:rPr lang="en" b="1">
                <a:latin typeface="Georgia"/>
                <a:ea typeface="Georgia"/>
                <a:cs typeface="Georgia"/>
                <a:sym typeface="Georgia"/>
              </a:rPr>
              <a:t>Task requirements: </a:t>
            </a:r>
            <a:r>
              <a:rPr lang="en">
                <a:latin typeface="Georgia"/>
                <a:ea typeface="Georgia"/>
                <a:cs typeface="Georgia"/>
                <a:sym typeface="Georgia"/>
              </a:rPr>
              <a:t>The nature of the task, such as whether it involves classification, regression, clustering, or prediction. </a:t>
            </a:r>
            <a:endParaRPr>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AutoNum type="arabicPeriod"/>
            </a:pPr>
            <a:r>
              <a:rPr lang="en" b="1">
                <a:latin typeface="Georgia"/>
                <a:ea typeface="Georgia"/>
                <a:cs typeface="Georgia"/>
                <a:sym typeface="Georgia"/>
              </a:rPr>
              <a:t>Data availability: </a:t>
            </a:r>
            <a:endParaRPr>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AutoNum type="alphaLcPeriod"/>
            </a:pPr>
            <a:r>
              <a:rPr lang="en">
                <a:latin typeface="Georgia"/>
                <a:ea typeface="Georgia"/>
                <a:cs typeface="Georgia"/>
                <a:sym typeface="Georgia"/>
              </a:rPr>
              <a:t>Supervised learning requires labeled data, which may not be available or may be costly to obtain. </a:t>
            </a:r>
            <a:endParaRPr>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AutoNum type="alphaLcPeriod"/>
            </a:pPr>
            <a:r>
              <a:rPr lang="en">
                <a:latin typeface="Georgia"/>
                <a:ea typeface="Georgia"/>
                <a:cs typeface="Georgia"/>
                <a:sym typeface="Georgia"/>
              </a:rPr>
              <a:t>Unsupervised learning can work with unlabeled data, but may require more data to achieve good results. </a:t>
            </a:r>
            <a:endParaRPr>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AutoNum type="alphaLcPeriod"/>
            </a:pPr>
            <a:r>
              <a:rPr lang="en">
                <a:latin typeface="Georgia"/>
                <a:ea typeface="Georgia"/>
                <a:cs typeface="Georgia"/>
                <a:sym typeface="Georgia"/>
              </a:rPr>
              <a:t>Reinforcement learning requires an environment to interact with, which may be difficult or expensive to simulate.</a:t>
            </a:r>
            <a:endParaRPr>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AutoNum type="arabicPeriod"/>
            </a:pPr>
            <a:r>
              <a:rPr lang="en" b="1">
                <a:latin typeface="Georgia"/>
                <a:ea typeface="Georgia"/>
                <a:cs typeface="Georgia"/>
                <a:sym typeface="Georgia"/>
              </a:rPr>
              <a:t>Computational resources:</a:t>
            </a:r>
            <a:r>
              <a:rPr lang="en">
                <a:latin typeface="Georgia"/>
                <a:ea typeface="Georgia"/>
                <a:cs typeface="Georgia"/>
                <a:sym typeface="Georgia"/>
              </a:rPr>
              <a:t> The computational resources required for different machine learning types can vary significantly. </a:t>
            </a:r>
            <a:endParaRPr>
              <a:latin typeface="Georgia"/>
              <a:ea typeface="Georgia"/>
              <a:cs typeface="Georgia"/>
              <a:sym typeface="Georgia"/>
            </a:endParaRPr>
          </a:p>
          <a:p>
            <a:pPr marL="914400" lvl="1" indent="-317500" algn="just" rtl="0">
              <a:lnSpc>
                <a:spcPct val="80000"/>
              </a:lnSpc>
              <a:spcBef>
                <a:spcPts val="0"/>
              </a:spcBef>
              <a:spcAft>
                <a:spcPts val="0"/>
              </a:spcAft>
              <a:buSzPts val="1400"/>
              <a:buFont typeface="Georgia"/>
              <a:buAutoNum type="alphaLcPeriod"/>
            </a:pPr>
            <a:r>
              <a:rPr lang="en">
                <a:latin typeface="Georgia"/>
                <a:ea typeface="Georgia"/>
                <a:cs typeface="Georgia"/>
                <a:sym typeface="Georgia"/>
              </a:rPr>
              <a:t>For example, deep neural networks can be computationally intensive, while k-means clustering may be less demanding.</a:t>
            </a:r>
            <a:endParaRPr>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AutoNum type="arabicPeriod"/>
            </a:pPr>
            <a:r>
              <a:rPr lang="en" b="1">
                <a:latin typeface="Georgia"/>
                <a:ea typeface="Georgia"/>
                <a:cs typeface="Georgia"/>
                <a:sym typeface="Georgia"/>
              </a:rPr>
              <a:t>Interpretability:</a:t>
            </a:r>
            <a:r>
              <a:rPr lang="en">
                <a:latin typeface="Georgia"/>
                <a:ea typeface="Georgia"/>
                <a:cs typeface="Georgia"/>
                <a:sym typeface="Georgia"/>
              </a:rPr>
              <a:t> If interpretability is important, simpler and more transparent supervised models may be preferred.</a:t>
            </a:r>
            <a:endParaRPr>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AutoNum type="arabicPeriod"/>
            </a:pPr>
            <a:r>
              <a:rPr lang="en" b="1">
                <a:latin typeface="Georgia"/>
                <a:ea typeface="Georgia"/>
                <a:cs typeface="Georgia"/>
                <a:sym typeface="Georgia"/>
              </a:rPr>
              <a:t>Performance requirements:</a:t>
            </a:r>
            <a:r>
              <a:rPr lang="en">
                <a:latin typeface="Georgia"/>
                <a:ea typeface="Georgia"/>
                <a:cs typeface="Georgia"/>
                <a:sym typeface="Georgia"/>
              </a:rPr>
              <a:t> Different ML algorithms may have different performance characteristics, e.g. speed, accuracy, scalability.</a:t>
            </a:r>
            <a:endParaRPr>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9"/>
          <p:cNvSpPr txBox="1">
            <a:spLocks noGrp="1"/>
          </p:cNvSpPr>
          <p:nvPr>
            <p:ph type="title"/>
          </p:nvPr>
        </p:nvSpPr>
        <p:spPr>
          <a:xfrm>
            <a:off x="475370" y="205750"/>
            <a:ext cx="81096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alibri"/>
              <a:buNone/>
            </a:pPr>
            <a:r>
              <a:rPr lang="en" sz="3000">
                <a:solidFill>
                  <a:srgbClr val="000000"/>
                </a:solidFill>
                <a:latin typeface="Georgia"/>
                <a:ea typeface="Georgia"/>
                <a:cs typeface="Georgia"/>
                <a:sym typeface="Georgia"/>
              </a:rPr>
              <a:t>Putting it all together!</a:t>
            </a:r>
            <a:endParaRPr sz="3000">
              <a:solidFill>
                <a:srgbClr val="000000"/>
              </a:solidFill>
              <a:latin typeface="Georgia"/>
              <a:ea typeface="Georgia"/>
              <a:cs typeface="Georgia"/>
              <a:sym typeface="Georgia"/>
            </a:endParaRPr>
          </a:p>
        </p:txBody>
      </p:sp>
      <p:sp>
        <p:nvSpPr>
          <p:cNvPr id="372" name="Google Shape;372;p49"/>
          <p:cNvSpPr txBox="1">
            <a:spLocks noGrp="1"/>
          </p:cNvSpPr>
          <p:nvPr>
            <p:ph type="body" idx="1"/>
          </p:nvPr>
        </p:nvSpPr>
        <p:spPr>
          <a:xfrm>
            <a:off x="0" y="929325"/>
            <a:ext cx="9144000" cy="4106400"/>
          </a:xfrm>
          <a:prstGeom prst="rect">
            <a:avLst/>
          </a:prstGeom>
          <a:noFill/>
          <a:ln>
            <a:noFill/>
          </a:ln>
        </p:spPr>
        <p:txBody>
          <a:bodyPr spcFirstLastPara="1" wrap="square" lIns="68575" tIns="34275" rIns="68575" bIns="34275" anchor="t" anchorCtr="0">
            <a:noAutofit/>
          </a:bodyPr>
          <a:lstStyle/>
          <a:p>
            <a:pPr marL="0" lvl="0" indent="0" algn="just" rtl="0">
              <a:lnSpc>
                <a:spcPct val="80000"/>
              </a:lnSpc>
              <a:spcBef>
                <a:spcPts val="800"/>
              </a:spcBef>
              <a:spcAft>
                <a:spcPts val="0"/>
              </a:spcAft>
              <a:buClr>
                <a:schemeClr val="dk1"/>
              </a:buClr>
              <a:buSzPts val="1100"/>
              <a:buFont typeface="Arial"/>
              <a:buNone/>
            </a:pPr>
            <a:r>
              <a:rPr lang="en">
                <a:latin typeface="Georgia"/>
                <a:ea typeface="Georgia"/>
                <a:cs typeface="Georgia"/>
                <a:sym typeface="Georgia"/>
              </a:rPr>
              <a:t>Let's consider the problem of developing an intelligent virtual assistant for a healthcare provider. The assistant should be able to identify symptoms and suggest appropriate treatment options for patients.</a:t>
            </a:r>
            <a:endParaRPr>
              <a:latin typeface="Georgia"/>
              <a:ea typeface="Georgia"/>
              <a:cs typeface="Georgia"/>
              <a:sym typeface="Georgia"/>
            </a:endParaRPr>
          </a:p>
          <a:p>
            <a:pPr marL="0" lvl="0" indent="0" algn="just" rtl="0">
              <a:lnSpc>
                <a:spcPct val="80000"/>
              </a:lnSpc>
              <a:spcBef>
                <a:spcPts val="800"/>
              </a:spcBef>
              <a:spcAft>
                <a:spcPts val="0"/>
              </a:spcAft>
              <a:buClr>
                <a:schemeClr val="dk1"/>
              </a:buClr>
              <a:buSzPts val="1100"/>
              <a:buFont typeface="Arial"/>
              <a:buNone/>
            </a:pPr>
            <a:r>
              <a:rPr lang="en" b="1">
                <a:latin typeface="Georgia"/>
                <a:ea typeface="Georgia"/>
                <a:cs typeface="Georgia"/>
                <a:sym typeface="Georgia"/>
              </a:rPr>
              <a:t>Where do you think all three types of ML algorithms can be used?</a:t>
            </a:r>
            <a:endParaRPr b="1">
              <a:latin typeface="Georgia"/>
              <a:ea typeface="Georgia"/>
              <a:cs typeface="Georgia"/>
              <a:sym typeface="Georgia"/>
            </a:endParaRPr>
          </a:p>
          <a:p>
            <a:pPr marL="457200" lvl="0" indent="-317500" algn="just" rtl="0">
              <a:lnSpc>
                <a:spcPct val="80000"/>
              </a:lnSpc>
              <a:spcBef>
                <a:spcPts val="800"/>
              </a:spcBef>
              <a:spcAft>
                <a:spcPts val="0"/>
              </a:spcAft>
              <a:buSzPts val="1400"/>
              <a:buFont typeface="Georgia"/>
              <a:buChar char="●"/>
            </a:pPr>
            <a:r>
              <a:rPr lang="en">
                <a:latin typeface="Georgia"/>
                <a:ea typeface="Georgia"/>
                <a:cs typeface="Georgia"/>
                <a:sym typeface="Georgia"/>
              </a:rPr>
              <a:t>Supervised Learning could be used to train the system on labeled data of symptoms and treatments. The system could learn to predict the appropriate treatment based on the patient's symptoms and medical history.</a:t>
            </a:r>
            <a:endParaRPr>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Char char="●"/>
            </a:pPr>
            <a:r>
              <a:rPr lang="en">
                <a:latin typeface="Georgia"/>
                <a:ea typeface="Georgia"/>
                <a:cs typeface="Georgia"/>
                <a:sym typeface="Georgia"/>
              </a:rPr>
              <a:t>Unsupervised Learning could be used to identify patterns and relationships in patient data, such as identifying clusters of patients with similar symptoms or medical conditions.</a:t>
            </a:r>
            <a:endParaRPr>
              <a:latin typeface="Georgia"/>
              <a:ea typeface="Georgia"/>
              <a:cs typeface="Georgia"/>
              <a:sym typeface="Georgia"/>
            </a:endParaRPr>
          </a:p>
          <a:p>
            <a:pPr marL="457200" lvl="0" indent="-317500" algn="just" rtl="0">
              <a:lnSpc>
                <a:spcPct val="80000"/>
              </a:lnSpc>
              <a:spcBef>
                <a:spcPts val="0"/>
              </a:spcBef>
              <a:spcAft>
                <a:spcPts val="0"/>
              </a:spcAft>
              <a:buSzPts val="1400"/>
              <a:buFont typeface="Georgia"/>
              <a:buChar char="●"/>
            </a:pPr>
            <a:r>
              <a:rPr lang="en">
                <a:latin typeface="Georgia"/>
                <a:ea typeface="Georgia"/>
                <a:cs typeface="Georgia"/>
                <a:sym typeface="Georgia"/>
              </a:rPr>
              <a:t>Reinforcement Learning could be used to train the system to interact with patients in a natural and empathetic manner, using feedback from patients and medical professionals to improve its responses over time.</a:t>
            </a:r>
            <a:endParaRPr>
              <a:latin typeface="Georgia"/>
              <a:ea typeface="Georgia"/>
              <a:cs typeface="Georgia"/>
              <a:sym typeface="Georgia"/>
            </a:endParaRPr>
          </a:p>
          <a:p>
            <a:pPr marL="0" lvl="0" indent="0" algn="just" rtl="0">
              <a:lnSpc>
                <a:spcPct val="80000"/>
              </a:lnSpc>
              <a:spcBef>
                <a:spcPts val="800"/>
              </a:spcBef>
              <a:spcAft>
                <a:spcPts val="0"/>
              </a:spcAft>
              <a:buNone/>
            </a:pPr>
            <a:endParaRPr>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pic>
        <p:nvPicPr>
          <p:cNvPr id="377" name="Google Shape;377;p50"/>
          <p:cNvPicPr preferRelativeResize="0"/>
          <p:nvPr/>
        </p:nvPicPr>
        <p:blipFill>
          <a:blip r:embed="rId3">
            <a:alphaModFix/>
          </a:blip>
          <a:stretch>
            <a:fillRect/>
          </a:stretch>
        </p:blipFill>
        <p:spPr>
          <a:xfrm>
            <a:off x="2555187" y="1020025"/>
            <a:ext cx="4033625" cy="40336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3074</TotalTime>
  <Words>2747</Words>
  <Application>Microsoft Macintosh PowerPoint</Application>
  <PresentationFormat>On-screen Show (16:9)</PresentationFormat>
  <Paragraphs>265</Paragraphs>
  <Slides>39</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Noto Sans Symbols</vt:lpstr>
      <vt:lpstr>Arial</vt:lpstr>
      <vt:lpstr>Quattrocento Sans</vt:lpstr>
      <vt:lpstr>Georgia</vt:lpstr>
      <vt:lpstr>Calibri</vt:lpstr>
      <vt:lpstr>Times</vt:lpstr>
      <vt:lpstr>Office Theme</vt:lpstr>
      <vt:lpstr>Lecture 4: Basic Machine Learning Concepts</vt:lpstr>
      <vt:lpstr>PowerPoint Presentation</vt:lpstr>
      <vt:lpstr>PowerPoint Presentation</vt:lpstr>
      <vt:lpstr>PowerPoint Presentation</vt:lpstr>
      <vt:lpstr>PowerPoint Presentation</vt:lpstr>
      <vt:lpstr>PowerPoint Presentation</vt:lpstr>
      <vt:lpstr>PowerPoint Presentation</vt:lpstr>
      <vt:lpstr>Supervised vs Unsupervised vs RL</vt:lpstr>
      <vt:lpstr>PowerPoint Presentation</vt:lpstr>
      <vt:lpstr>PowerPoint Presentation</vt:lpstr>
      <vt:lpstr>PowerPoint Presentation</vt:lpstr>
      <vt:lpstr>4.1 Quiz</vt:lpstr>
      <vt:lpstr>Supervised Learning</vt:lpstr>
      <vt:lpstr>Supervised Learning</vt:lpstr>
      <vt:lpstr>Learning Process</vt:lpstr>
      <vt:lpstr>How to choose h?</vt:lpstr>
      <vt:lpstr>Loss Functions</vt:lpstr>
      <vt:lpstr>Empirical Risk Minimization Principle</vt:lpstr>
      <vt:lpstr>Few Supervised Learning Algorithms</vt:lpstr>
      <vt:lpstr>Example of SL</vt:lpstr>
      <vt:lpstr>Advantages and Disadvantages of SL</vt:lpstr>
      <vt:lpstr>4.2 Quiz</vt:lpstr>
      <vt:lpstr>Unsupervised Learning</vt:lpstr>
      <vt:lpstr>  An interesting Use Case: Fraudulent Driving  </vt:lpstr>
      <vt:lpstr>Few Unsupervised Learning Algorithms</vt:lpstr>
      <vt:lpstr>  K-Means  </vt:lpstr>
      <vt:lpstr>  PCA  </vt:lpstr>
      <vt:lpstr>  Natural grouping : Clustering is subjective   </vt:lpstr>
      <vt:lpstr>  What is Similarity?   </vt:lpstr>
      <vt:lpstr>Examples of Unsupervised Learning in IS</vt:lpstr>
      <vt:lpstr>Advantages and disadvantages</vt:lpstr>
      <vt:lpstr>4.3 Quiz</vt:lpstr>
      <vt:lpstr>Reinforcement Learning</vt:lpstr>
      <vt:lpstr>Few RL Algorithms</vt:lpstr>
      <vt:lpstr>Advantages and disadvantages</vt:lpstr>
      <vt:lpstr>4.4 Quiz</vt:lpstr>
      <vt:lpstr>Factors affecting ML type</vt:lpstr>
      <vt:lpstr>Putting it all together!</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Basic Machine Learning Concepts</dc:title>
  <dc:subject/>
  <dc:creator/>
  <cp:keywords/>
  <dc:description/>
  <cp:lastModifiedBy>Jainendra Shukla</cp:lastModifiedBy>
  <cp:revision>55</cp:revision>
  <dcterms:modified xsi:type="dcterms:W3CDTF">2025-02-04T09:22:06Z</dcterms:modified>
  <cp:category/>
</cp:coreProperties>
</file>