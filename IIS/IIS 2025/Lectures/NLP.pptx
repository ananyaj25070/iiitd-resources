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378" r:id="rId13"/>
    <p:sldId id="290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37"/>
      <p:bold r:id="rId38"/>
      <p:italic r:id="rId39"/>
      <p:boldItalic r:id="rId40"/>
    </p:embeddedFont>
    <p:embeddedFont>
      <p:font typeface="Quattrocento Sans" panose="020B0502050000020003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ijWv+dLSDAoGuhggIR+yG6P3MS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2"/>
  </p:normalViewPr>
  <p:slideViewPr>
    <p:cSldViewPr snapToGrid="0">
      <p:cViewPr varScale="1">
        <p:scale>
          <a:sx n="145" d="100"/>
          <a:sy n="145" d="100"/>
        </p:scale>
        <p:origin x="7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" name="Google Shape;43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</a:pPr>
            <a:r>
              <a:rPr lang="en-IN" b="0" i="0" dirty="0">
                <a:solidFill>
                  <a:srgbClr val="374151"/>
                </a:solidFill>
                <a:effectLst/>
                <a:latin typeface="Söhne"/>
              </a:rPr>
              <a:t>Building upon the integration of affective computing, social robotics, and ubiquitous computing, our research pushes the boundaries of HCI by encompassing the intricate study of human </a:t>
            </a:r>
            <a:r>
              <a:rPr lang="en-IN" b="0" i="0" dirty="0" err="1">
                <a:solidFill>
                  <a:srgbClr val="374151"/>
                </a:solidFill>
                <a:effectLst/>
                <a:latin typeface="Söhne"/>
              </a:rPr>
              <a:t>behavior</a:t>
            </a:r>
            <a:r>
              <a:rPr lang="en-IN" b="0" i="0" dirty="0">
                <a:solidFill>
                  <a:srgbClr val="374151"/>
                </a:solidFill>
                <a:effectLst/>
                <a:latin typeface="Söhne"/>
              </a:rPr>
              <a:t>, enabling us to create adaptive and emotionally responsive interactions.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</a:pPr>
            <a:r>
              <a:rPr lang="en-IN" b="0" i="0" dirty="0">
                <a:solidFill>
                  <a:srgbClr val="374151"/>
                </a:solidFill>
                <a:effectLst/>
                <a:latin typeface="Söhne"/>
              </a:rPr>
              <a:t>We establish a seamless connection between understanding human </a:t>
            </a:r>
            <a:r>
              <a:rPr lang="en-IN" b="0" i="0" dirty="0" err="1">
                <a:solidFill>
                  <a:srgbClr val="374151"/>
                </a:solidFill>
                <a:effectLst/>
                <a:latin typeface="Söhne"/>
              </a:rPr>
              <a:t>behavior</a:t>
            </a:r>
            <a:r>
              <a:rPr lang="en-IN" b="0" i="0" dirty="0">
                <a:solidFill>
                  <a:srgbClr val="374151"/>
                </a:solidFill>
                <a:effectLst/>
                <a:latin typeface="Söhne"/>
              </a:rPr>
              <a:t>, leveraging insights for adaptive interaction design, and rigorously evaluating interaction efficacy.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</a:pPr>
            <a:r>
              <a:rPr lang="en-IN" b="0" i="0" dirty="0">
                <a:solidFill>
                  <a:srgbClr val="374151"/>
                </a:solidFill>
                <a:effectLst/>
                <a:latin typeface="Söhne"/>
              </a:rPr>
              <a:t>In the realm of Human </a:t>
            </a:r>
            <a:r>
              <a:rPr lang="en-IN" b="0" i="0" dirty="0" err="1">
                <a:solidFill>
                  <a:srgbClr val="374151"/>
                </a:solidFill>
                <a:effectLst/>
                <a:latin typeface="Söhne"/>
              </a:rPr>
              <a:t>Behavior</a:t>
            </a:r>
            <a:r>
              <a:rPr lang="en-IN" b="0" i="0" dirty="0">
                <a:solidFill>
                  <a:srgbClr val="374151"/>
                </a:solidFill>
                <a:effectLst/>
                <a:latin typeface="Söhne"/>
              </a:rPr>
              <a:t> Analysis, our research focuses on understanding the intricate ways humans express emotions and engage in social interactions.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</a:pPr>
            <a:r>
              <a:rPr lang="en-IN" b="0" i="0" dirty="0">
                <a:solidFill>
                  <a:srgbClr val="374151"/>
                </a:solidFill>
                <a:effectLst/>
                <a:latin typeface="Söhne"/>
              </a:rPr>
              <a:t>Leveraging this knowledge, we apply the findings to inform the development of adaptive and novel interaction design methods specifically tailored for Virtual Reality (VR), Social Robots, and Haptic Interfaces.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</a:pPr>
            <a:r>
              <a:rPr lang="en-IN" b="0" i="0" dirty="0">
                <a:solidFill>
                  <a:srgbClr val="374151"/>
                </a:solidFill>
                <a:effectLst/>
                <a:latin typeface="Söhne"/>
              </a:rPr>
              <a:t>Building upon these advancements, we rigorously evaluate the implications of these interactions, considering aspects such as user experience, emotional impact, and ethical considerations.</a:t>
            </a:r>
          </a:p>
        </p:txBody>
      </p:sp>
    </p:spTree>
    <p:extLst>
      <p:ext uri="{BB962C8B-B14F-4D97-AF65-F5344CB8AC3E}">
        <p14:creationId xmlns:p14="http://schemas.microsoft.com/office/powerpoint/2010/main" val="19829445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>
          <a:extLst>
            <a:ext uri="{FF2B5EF4-FFF2-40B4-BE49-F238E27FC236}">
              <a16:creationId xmlns:a16="http://schemas.microsoft.com/office/drawing/2014/main" id="{FB3616F5-345B-E34F-E29A-259AF4140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4:notes">
            <a:extLst>
              <a:ext uri="{FF2B5EF4-FFF2-40B4-BE49-F238E27FC236}">
                <a16:creationId xmlns:a16="http://schemas.microsoft.com/office/drawing/2014/main" id="{616BAAE7-5C6E-7D8E-56F7-9010C20BC9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14:notes">
            <a:extLst>
              <a:ext uri="{FF2B5EF4-FFF2-40B4-BE49-F238E27FC236}">
                <a16:creationId xmlns:a16="http://schemas.microsoft.com/office/drawing/2014/main" id="{5B043C6B-245E-4E47-CD16-50323C4410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25135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7" name="Google Shape;27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1" name="Google Shape;321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3" name="Google Shape;333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1" name="Google Shape;351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7" name="Google Shape;357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3" name="Google Shape;363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0" name="Google Shape;370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3EADA7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6" descr="IIITD_pptslide_jpeg-03.jpg"/>
          <p:cNvPicPr preferRelativeResize="0"/>
          <p:nvPr/>
        </p:nvPicPr>
        <p:blipFill rotWithShape="1">
          <a:blip r:embed="rId2">
            <a:alphaModFix/>
          </a:blip>
          <a:srcRect l="72917" t="69259"/>
          <a:stretch/>
        </p:blipFill>
        <p:spPr>
          <a:xfrm>
            <a:off x="7286625" y="3562350"/>
            <a:ext cx="1857374" cy="158115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6"/>
          <p:cNvSpPr txBox="1">
            <a:spLocks noGrp="1"/>
          </p:cNvSpPr>
          <p:nvPr>
            <p:ph type="ctrTitle"/>
          </p:nvPr>
        </p:nvSpPr>
        <p:spPr>
          <a:xfrm>
            <a:off x="1143000" y="797753"/>
            <a:ext cx="7315200" cy="1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Quattrocento Sans"/>
              <a:buNone/>
              <a:defRPr sz="4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6"/>
          <p:cNvSpPr txBox="1">
            <a:spLocks noGrp="1"/>
          </p:cNvSpPr>
          <p:nvPr>
            <p:ph type="subTitle" idx="1"/>
          </p:nvPr>
        </p:nvSpPr>
        <p:spPr>
          <a:xfrm>
            <a:off x="4114800" y="2430433"/>
            <a:ext cx="4343400" cy="15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9F7F6"/>
              </a:buClr>
              <a:buSzPts val="1800"/>
              <a:buNone/>
              <a:defRPr sz="1800">
                <a:solidFill>
                  <a:srgbClr val="E9F7F6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15" name="Google Shape;15;p36"/>
          <p:cNvSpPr txBox="1">
            <a:spLocks noGrp="1"/>
          </p:cNvSpPr>
          <p:nvPr>
            <p:ph type="dt" idx="10"/>
          </p:nvPr>
        </p:nvSpPr>
        <p:spPr>
          <a:xfrm>
            <a:off x="411480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6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" name="Google Shape;17;p36"/>
          <p:cNvCxnSpPr/>
          <p:nvPr/>
        </p:nvCxnSpPr>
        <p:spPr>
          <a:xfrm>
            <a:off x="685800" y="2317221"/>
            <a:ext cx="7772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" name="Google Shape;18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3401088"/>
            <a:ext cx="2260623" cy="1244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7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7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7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>
            <a:endParaRPr/>
          </a:p>
        </p:txBody>
      </p:sp>
      <p:sp>
        <p:nvSpPr>
          <p:cNvPr id="23" name="Google Shape;23;p3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7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" name="Google Shape;26;p37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7" name="Google Shape;27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38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38"/>
          <p:cNvSpPr txBox="1">
            <a:spLocks noGrp="1"/>
          </p:cNvSpPr>
          <p:nvPr>
            <p:ph type="body" idx="1"/>
          </p:nvPr>
        </p:nvSpPr>
        <p:spPr>
          <a:xfrm>
            <a:off x="633845" y="1035886"/>
            <a:ext cx="38670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1" name="Google Shape;31;p38"/>
          <p:cNvSpPr txBox="1">
            <a:spLocks noGrp="1"/>
          </p:cNvSpPr>
          <p:nvPr>
            <p:ph type="body" idx="2"/>
          </p:nvPr>
        </p:nvSpPr>
        <p:spPr>
          <a:xfrm>
            <a:off x="633845" y="1655160"/>
            <a:ext cx="3867000" cy="29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>
            <a:endParaRPr/>
          </a:p>
        </p:txBody>
      </p:sp>
      <p:sp>
        <p:nvSpPr>
          <p:cNvPr id="32" name="Google Shape;32;p38"/>
          <p:cNvSpPr txBox="1">
            <a:spLocks noGrp="1"/>
          </p:cNvSpPr>
          <p:nvPr>
            <p:ph type="body" idx="3"/>
          </p:nvPr>
        </p:nvSpPr>
        <p:spPr>
          <a:xfrm>
            <a:off x="4629150" y="1035887"/>
            <a:ext cx="38862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3" name="Google Shape;33;p38"/>
          <p:cNvSpPr txBox="1">
            <a:spLocks noGrp="1"/>
          </p:cNvSpPr>
          <p:nvPr>
            <p:ph type="body" idx="4"/>
          </p:nvPr>
        </p:nvSpPr>
        <p:spPr>
          <a:xfrm>
            <a:off x="4629150" y="1655160"/>
            <a:ext cx="3886200" cy="29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>
            <a:endParaRPr/>
          </a:p>
        </p:txBody>
      </p:sp>
      <p:sp>
        <p:nvSpPr>
          <p:cNvPr id="34" name="Google Shape;34;p3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8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38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38" name="Google Shape;38;p38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9" name="Google Shape;39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39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39"/>
          <p:cNvSpPr txBox="1">
            <a:spLocks noGrp="1"/>
          </p:cNvSpPr>
          <p:nvPr>
            <p:ph type="title"/>
          </p:nvPr>
        </p:nvSpPr>
        <p:spPr>
          <a:xfrm>
            <a:off x="623888" y="1284317"/>
            <a:ext cx="7886700" cy="21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4500"/>
              <a:buFont typeface="Quattrocento Sans"/>
              <a:buNone/>
              <a:defRPr sz="45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9"/>
          <p:cNvSpPr txBox="1">
            <a:spLocks noGrp="1"/>
          </p:cNvSpPr>
          <p:nvPr>
            <p:ph type="body" idx="1"/>
          </p:nvPr>
        </p:nvSpPr>
        <p:spPr>
          <a:xfrm>
            <a:off x="623888" y="3414475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3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9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40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0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3886200" cy="3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>
            <a:endParaRPr/>
          </a:p>
        </p:txBody>
      </p:sp>
      <p:sp>
        <p:nvSpPr>
          <p:cNvPr id="50" name="Google Shape;50;p40"/>
          <p:cNvSpPr txBox="1">
            <a:spLocks noGrp="1"/>
          </p:cNvSpPr>
          <p:nvPr>
            <p:ph type="body" idx="2"/>
          </p:nvPr>
        </p:nvSpPr>
        <p:spPr>
          <a:xfrm>
            <a:off x="4629150" y="1035887"/>
            <a:ext cx="3886200" cy="3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>
            <a:endParaRPr/>
          </a:p>
        </p:txBody>
      </p:sp>
      <p:sp>
        <p:nvSpPr>
          <p:cNvPr id="51" name="Google Shape;51;p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0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40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55" name="Google Shape;55;p40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6" name="Google Shape;56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41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4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1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41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63" name="Google Shape;63;p41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4" name="Google Shape;64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2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43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43"/>
          <p:cNvSpPr txBox="1">
            <a:spLocks noGrp="1"/>
          </p:cNvSpPr>
          <p:nvPr>
            <p:ph type="title"/>
          </p:nvPr>
        </p:nvSpPr>
        <p:spPr>
          <a:xfrm>
            <a:off x="630936" y="342900"/>
            <a:ext cx="29487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2400"/>
              <a:buFont typeface="Quattrocento Sans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3"/>
          <p:cNvSpPr txBox="1">
            <a:spLocks noGrp="1"/>
          </p:cNvSpPr>
          <p:nvPr>
            <p:ph type="body" idx="1"/>
          </p:nvPr>
        </p:nvSpPr>
        <p:spPr>
          <a:xfrm>
            <a:off x="3886200" y="742950"/>
            <a:ext cx="46293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⚫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⚫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⚫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⚫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⚫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⚫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⚫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⚫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⚫"/>
              <a:defRPr sz="1500"/>
            </a:lvl9pPr>
          </a:lstStyle>
          <a:p>
            <a:endParaRPr/>
          </a:p>
        </p:txBody>
      </p:sp>
      <p:sp>
        <p:nvSpPr>
          <p:cNvPr id="73" name="Google Shape;73;p43"/>
          <p:cNvSpPr txBox="1">
            <a:spLocks noGrp="1"/>
          </p:cNvSpPr>
          <p:nvPr>
            <p:ph type="body" idx="2"/>
          </p:nvPr>
        </p:nvSpPr>
        <p:spPr>
          <a:xfrm>
            <a:off x="630936" y="1543049"/>
            <a:ext cx="29487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74" name="Google Shape;74;p4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3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43"/>
          <p:cNvCxnSpPr/>
          <p:nvPr/>
        </p:nvCxnSpPr>
        <p:spPr>
          <a:xfrm>
            <a:off x="645450" y="1545772"/>
            <a:ext cx="29487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8" name="Google Shape;78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44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44"/>
          <p:cNvSpPr txBox="1">
            <a:spLocks noGrp="1"/>
          </p:cNvSpPr>
          <p:nvPr>
            <p:ph type="title"/>
          </p:nvPr>
        </p:nvSpPr>
        <p:spPr>
          <a:xfrm>
            <a:off x="630936" y="342900"/>
            <a:ext cx="29487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2400"/>
              <a:buFont typeface="Quattrocento Sans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4"/>
          <p:cNvSpPr>
            <a:spLocks noGrp="1"/>
          </p:cNvSpPr>
          <p:nvPr>
            <p:ph type="pic" idx="2"/>
          </p:nvPr>
        </p:nvSpPr>
        <p:spPr>
          <a:xfrm>
            <a:off x="3886200" y="742950"/>
            <a:ext cx="4629300" cy="36576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44"/>
          <p:cNvSpPr txBox="1">
            <a:spLocks noGrp="1"/>
          </p:cNvSpPr>
          <p:nvPr>
            <p:ph type="body" idx="1"/>
          </p:nvPr>
        </p:nvSpPr>
        <p:spPr>
          <a:xfrm>
            <a:off x="630936" y="1543050"/>
            <a:ext cx="29487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84" name="Google Shape;84;p4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4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44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7" name="Google Shape;87;p44"/>
          <p:cNvCxnSpPr/>
          <p:nvPr/>
        </p:nvCxnSpPr>
        <p:spPr>
          <a:xfrm>
            <a:off x="645450" y="1545772"/>
            <a:ext cx="29487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88" name="Google Shape;88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45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5"/>
          <p:cNvSpPr txBox="1">
            <a:spLocks noGrp="1"/>
          </p:cNvSpPr>
          <p:nvPr>
            <p:ph type="body" idx="1"/>
          </p:nvPr>
        </p:nvSpPr>
        <p:spPr>
          <a:xfrm rot="5400000">
            <a:off x="2777496" y="-1107763"/>
            <a:ext cx="3599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>
            <a:endParaRPr/>
          </a:p>
        </p:txBody>
      </p:sp>
      <p:sp>
        <p:nvSpPr>
          <p:cNvPr id="92" name="Google Shape;92;p4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4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5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45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96" name="Google Shape;96;p45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97" name="Google Shape;97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6"/>
          <p:cNvSpPr txBox="1">
            <a:spLocks noGrp="1"/>
          </p:cNvSpPr>
          <p:nvPr>
            <p:ph type="title"/>
          </p:nvPr>
        </p:nvSpPr>
        <p:spPr>
          <a:xfrm rot="5400000">
            <a:off x="5350050" y="1463972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46"/>
          <p:cNvSpPr txBox="1">
            <a:spLocks noGrp="1"/>
          </p:cNvSpPr>
          <p:nvPr>
            <p:ph type="body" idx="1"/>
          </p:nvPr>
        </p:nvSpPr>
        <p:spPr>
          <a:xfrm rot="5400000">
            <a:off x="1349475" y="-450628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>
            <a:endParaRPr/>
          </a:p>
        </p:txBody>
      </p:sp>
      <p:sp>
        <p:nvSpPr>
          <p:cNvPr id="101" name="Google Shape;101;p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4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46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04" name="Google Shape;104;p46"/>
          <p:cNvCxnSpPr/>
          <p:nvPr/>
        </p:nvCxnSpPr>
        <p:spPr>
          <a:xfrm>
            <a:off x="6543675" y="277589"/>
            <a:ext cx="0" cy="435480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47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7"/>
          <p:cNvSpPr txBox="1">
            <a:spLocks noGrp="1"/>
          </p:cNvSpPr>
          <p:nvPr>
            <p:ph type="body" idx="1"/>
          </p:nvPr>
        </p:nvSpPr>
        <p:spPr>
          <a:xfrm>
            <a:off x="685799" y="1035886"/>
            <a:ext cx="3834300" cy="3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>
            <a:endParaRPr/>
          </a:p>
        </p:txBody>
      </p:sp>
      <p:sp>
        <p:nvSpPr>
          <p:cNvPr id="108" name="Google Shape;108;p47"/>
          <p:cNvSpPr txBox="1">
            <a:spLocks noGrp="1"/>
          </p:cNvSpPr>
          <p:nvPr>
            <p:ph type="body" idx="2"/>
          </p:nvPr>
        </p:nvSpPr>
        <p:spPr>
          <a:xfrm>
            <a:off x="4683577" y="1035886"/>
            <a:ext cx="3828900" cy="3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>
            <a:endParaRPr/>
          </a:p>
        </p:txBody>
      </p:sp>
      <p:sp>
        <p:nvSpPr>
          <p:cNvPr id="109" name="Google Shape;109;p4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47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47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113" name="Google Shape;113;p47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14" name="Google Shape;114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arison">
  <p:cSld name="1_Comparison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48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8"/>
          <p:cNvSpPr txBox="1">
            <a:spLocks noGrp="1"/>
          </p:cNvSpPr>
          <p:nvPr>
            <p:ph type="body" idx="1"/>
          </p:nvPr>
        </p:nvSpPr>
        <p:spPr>
          <a:xfrm>
            <a:off x="685799" y="946718"/>
            <a:ext cx="38151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18" name="Google Shape;118;p48"/>
          <p:cNvSpPr txBox="1">
            <a:spLocks noGrp="1"/>
          </p:cNvSpPr>
          <p:nvPr>
            <p:ph type="body" idx="2"/>
          </p:nvPr>
        </p:nvSpPr>
        <p:spPr>
          <a:xfrm>
            <a:off x="685799" y="1616168"/>
            <a:ext cx="3815100" cy="30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>
            <a:endParaRPr/>
          </a:p>
        </p:txBody>
      </p:sp>
      <p:sp>
        <p:nvSpPr>
          <p:cNvPr id="119" name="Google Shape;119;p48"/>
          <p:cNvSpPr txBox="1">
            <a:spLocks noGrp="1"/>
          </p:cNvSpPr>
          <p:nvPr>
            <p:ph type="body" idx="3"/>
          </p:nvPr>
        </p:nvSpPr>
        <p:spPr>
          <a:xfrm>
            <a:off x="4672693" y="946716"/>
            <a:ext cx="38289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20" name="Google Shape;120;p48"/>
          <p:cNvSpPr txBox="1">
            <a:spLocks noGrp="1"/>
          </p:cNvSpPr>
          <p:nvPr>
            <p:ph type="body" idx="4"/>
          </p:nvPr>
        </p:nvSpPr>
        <p:spPr>
          <a:xfrm>
            <a:off x="4672693" y="1616168"/>
            <a:ext cx="3828900" cy="30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>
            <a:endParaRPr/>
          </a:p>
        </p:txBody>
      </p:sp>
      <p:sp>
        <p:nvSpPr>
          <p:cNvPr id="121" name="Google Shape;121;p4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4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48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48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125" name="Google Shape;125;p48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6" name="Google Shape;126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49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49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49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133" name="Google Shape;133;p49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4" name="Google Shape;134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 with Caption">
  <p:cSld name="1_Content with Caption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50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0"/>
          <p:cNvSpPr txBox="1">
            <a:spLocks noGrp="1"/>
          </p:cNvSpPr>
          <p:nvPr>
            <p:ph type="body" idx="1"/>
          </p:nvPr>
        </p:nvSpPr>
        <p:spPr>
          <a:xfrm>
            <a:off x="3886200" y="742950"/>
            <a:ext cx="46293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⚫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⚫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⚫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⚫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⚫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⚫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⚫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⚫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⚫"/>
              <a:defRPr sz="1500"/>
            </a:lvl9pPr>
          </a:lstStyle>
          <a:p>
            <a:endParaRPr/>
          </a:p>
        </p:txBody>
      </p:sp>
      <p:sp>
        <p:nvSpPr>
          <p:cNvPr id="138" name="Google Shape;138;p50"/>
          <p:cNvSpPr txBox="1">
            <a:spLocks noGrp="1"/>
          </p:cNvSpPr>
          <p:nvPr>
            <p:ph type="body" idx="2"/>
          </p:nvPr>
        </p:nvSpPr>
        <p:spPr>
          <a:xfrm>
            <a:off x="630936" y="1643745"/>
            <a:ext cx="2948700" cy="27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39" name="Google Shape;139;p5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5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50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50"/>
          <p:cNvSpPr txBox="1">
            <a:spLocks noGrp="1"/>
          </p:cNvSpPr>
          <p:nvPr>
            <p:ph type="title"/>
          </p:nvPr>
        </p:nvSpPr>
        <p:spPr>
          <a:xfrm>
            <a:off x="630936" y="342900"/>
            <a:ext cx="2948700" cy="11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2400"/>
              <a:buFont typeface="Quattrocento Sans"/>
              <a:buNone/>
              <a:defRPr sz="2400" b="0">
                <a:solidFill>
                  <a:srgbClr val="3EADA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143" name="Google Shape;143;p50"/>
          <p:cNvCxnSpPr/>
          <p:nvPr/>
        </p:nvCxnSpPr>
        <p:spPr>
          <a:xfrm>
            <a:off x="645450" y="1545772"/>
            <a:ext cx="29487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44" name="Google Shape;144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icture with Caption">
  <p:cSld name="1_Picture with Caption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51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51"/>
          <p:cNvSpPr>
            <a:spLocks noGrp="1"/>
          </p:cNvSpPr>
          <p:nvPr>
            <p:ph type="pic" idx="2"/>
          </p:nvPr>
        </p:nvSpPr>
        <p:spPr>
          <a:xfrm>
            <a:off x="3886200" y="742950"/>
            <a:ext cx="4629300" cy="3657600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5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51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51"/>
          <p:cNvSpPr txBox="1">
            <a:spLocks noGrp="1"/>
          </p:cNvSpPr>
          <p:nvPr>
            <p:ph type="body" idx="1"/>
          </p:nvPr>
        </p:nvSpPr>
        <p:spPr>
          <a:xfrm>
            <a:off x="630936" y="1643745"/>
            <a:ext cx="2948700" cy="27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52" name="Google Shape;152;p51"/>
          <p:cNvSpPr txBox="1">
            <a:spLocks noGrp="1"/>
          </p:cNvSpPr>
          <p:nvPr>
            <p:ph type="title"/>
          </p:nvPr>
        </p:nvSpPr>
        <p:spPr>
          <a:xfrm>
            <a:off x="630936" y="342900"/>
            <a:ext cx="2948700" cy="11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2400"/>
              <a:buFont typeface="Quattrocento Sans"/>
              <a:buNone/>
              <a:defRPr sz="2400" b="0">
                <a:solidFill>
                  <a:srgbClr val="3EADA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153" name="Google Shape;153;p51"/>
          <p:cNvCxnSpPr/>
          <p:nvPr/>
        </p:nvCxnSpPr>
        <p:spPr>
          <a:xfrm>
            <a:off x="645450" y="1545772"/>
            <a:ext cx="29487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54" name="Google Shape;154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Vertical Text">
  <p:cSld name="1_Title and Vertical Tex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52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52"/>
          <p:cNvSpPr txBox="1">
            <a:spLocks noGrp="1"/>
          </p:cNvSpPr>
          <p:nvPr>
            <p:ph type="body" idx="1"/>
          </p:nvPr>
        </p:nvSpPr>
        <p:spPr>
          <a:xfrm rot="5400000">
            <a:off x="2786946" y="-1122314"/>
            <a:ext cx="3575400" cy="78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>
            <a:endParaRPr/>
          </a:p>
        </p:txBody>
      </p:sp>
      <p:sp>
        <p:nvSpPr>
          <p:cNvPr id="158" name="Google Shape;158;p5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52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52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162" name="Google Shape;162;p52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63" name="Google Shape;163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1" type="twoObj">
  <p:cSld name="TWO_OBJECTS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5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>
            <a:endParaRPr/>
          </a:p>
        </p:txBody>
      </p:sp>
      <p:sp>
        <p:nvSpPr>
          <p:cNvPr id="167" name="Google Shape;167;p53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>
            <a:endParaRPr/>
          </a:p>
        </p:txBody>
      </p:sp>
      <p:sp>
        <p:nvSpPr>
          <p:cNvPr id="168" name="Google Shape;168;p5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5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3300"/>
              <a:buFont typeface="Quattrocento Sans"/>
              <a:buNone/>
              <a:defRPr sz="3300" b="0" i="0" u="none" strike="noStrike" cap="none">
                <a:solidFill>
                  <a:srgbClr val="3EADA7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5"/>
          <p:cNvSpPr txBox="1">
            <a:spLocks noGrp="1"/>
          </p:cNvSpPr>
          <p:nvPr>
            <p:ph type="body" idx="1"/>
          </p:nvPr>
        </p:nvSpPr>
        <p:spPr>
          <a:xfrm>
            <a:off x="633845" y="1371600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⚫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⚫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⚫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⚫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⚫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⚫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⚫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⚫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3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5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ytimes.com/2023/03/08/opinion/noam-chomsky-chatgpt-ai.html?smtyp=cur&amp;smid=tw-nytimes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"/>
          <p:cNvSpPr txBox="1">
            <a:spLocks noGrp="1"/>
          </p:cNvSpPr>
          <p:nvPr>
            <p:ph type="ctrTitle"/>
          </p:nvPr>
        </p:nvSpPr>
        <p:spPr>
          <a:xfrm>
            <a:off x="628650" y="797750"/>
            <a:ext cx="8458200" cy="1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</a:pPr>
            <a:r>
              <a:rPr lang="en" sz="3600">
                <a:latin typeface="Georgia"/>
                <a:ea typeface="Georgia"/>
                <a:cs typeface="Georgia"/>
                <a:sym typeface="Georgia"/>
              </a:rPr>
              <a:t>Natural </a:t>
            </a:r>
            <a:r>
              <a:rPr lang="en" sz="3600" dirty="0">
                <a:latin typeface="Georgia"/>
                <a:ea typeface="Georgia"/>
                <a:cs typeface="Georgia"/>
                <a:sym typeface="Georgia"/>
              </a:rPr>
              <a:t>Language Processing - Concepts and Techniques</a:t>
            </a:r>
            <a:endParaRPr sz="3600" dirty="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"/>
          <p:cNvSpPr txBox="1">
            <a:spLocks noGrp="1"/>
          </p:cNvSpPr>
          <p:nvPr>
            <p:ph type="body" idx="1"/>
          </p:nvPr>
        </p:nvSpPr>
        <p:spPr>
          <a:xfrm>
            <a:off x="275375" y="959675"/>
            <a:ext cx="8466000" cy="3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dirty="0">
                <a:latin typeface="Georgia"/>
                <a:ea typeface="Georgia"/>
                <a:cs typeface="Georgia"/>
                <a:sym typeface="Georgia"/>
              </a:rPr>
              <a:t>Natural Language Processing (NLP) is a subfield of Artificial Intelligence (AI) that focuses on enabling computers to understand, interpret, and generate human language.</a:t>
            </a:r>
            <a:endParaRPr dirty="0"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dirty="0">
                <a:latin typeface="Georgia"/>
                <a:ea typeface="Georgia"/>
                <a:cs typeface="Georgia"/>
                <a:sym typeface="Georgia"/>
              </a:rPr>
              <a:t>Uses techniques from linguistics, computer science, and machine learning to process and analyze large amounts of natural language text data.</a:t>
            </a:r>
            <a:endParaRPr dirty="0"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dirty="0">
                <a:latin typeface="Georgia"/>
                <a:ea typeface="Georgia"/>
                <a:cs typeface="Georgia"/>
                <a:sym typeface="Georgia"/>
              </a:rPr>
              <a:t>Critical component of many intelligent systems, including chatbots, virtual assistants, sentiment analysis tools, and machine translation systems.</a:t>
            </a:r>
            <a:endParaRPr dirty="0">
              <a:latin typeface="Georgia"/>
              <a:ea typeface="Georgia"/>
              <a:cs typeface="Georgia"/>
              <a:sym typeface="Georgia"/>
            </a:endParaRPr>
          </a:p>
          <a:p>
            <a:pPr marL="914400" marR="0" lvl="1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 dirty="0">
                <a:latin typeface="Georgia"/>
                <a:ea typeface="Georgia"/>
                <a:cs typeface="Georgia"/>
                <a:sym typeface="Georgia"/>
              </a:rPr>
              <a:t>Allows these systems to understand and respond to human language inputs, making them more user-friendly and accessible. </a:t>
            </a:r>
            <a:endParaRPr dirty="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4" name="Google Shape;194;p4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AutoNum type="romanUcPeriod"/>
            </a:pPr>
            <a:r>
              <a:rPr lang="en" sz="3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Introduction</a:t>
            </a:r>
            <a:endParaRPr sz="3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"/>
          <p:cNvSpPr txBox="1">
            <a:spLocks noGrp="1"/>
          </p:cNvSpPr>
          <p:nvPr>
            <p:ph type="body" idx="1"/>
          </p:nvPr>
        </p:nvSpPr>
        <p:spPr>
          <a:xfrm>
            <a:off x="275375" y="959675"/>
            <a:ext cx="8466000" cy="3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Chatbot: To extract the intent of a user's message (e.g., "I want to order a pizza") and generate an appropriate response (e.g., "Sure, what toppings would you like?").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Sentiment analysis: To identify key words and phrases in customer reviews (e.g., "delicious", "terrible") and assign a sentiment score based on their overall positivity or negativity.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Machine translation: To identify the syntax and semantics of a sentence in one language and generate an equivalent sentence in another language.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Speech recognition: To transcribe spoken words into text and analyze the meaning behind them (e.g., identifying the intent of a command like "Play some music").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Common Applications</a:t>
            </a:r>
            <a:endParaRPr sz="3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"/>
          <p:cNvSpPr txBox="1">
            <a:spLocks noGrp="1"/>
          </p:cNvSpPr>
          <p:nvPr>
            <p:ph type="body" idx="1"/>
          </p:nvPr>
        </p:nvSpPr>
        <p:spPr>
          <a:xfrm>
            <a:off x="275375" y="959675"/>
            <a:ext cx="8466000" cy="3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To demonstrate how NLP techniques can be used to analyze natural language text data and classify it into different categories, such as positive or negative sentiment.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914400" marR="0" lvl="1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Sentiment analysis of movie reviews using the Natural Language Toolkit (NLTK) library.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Downloads the movie reviews dataset from NLTK,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Preprocesses the reviews by removing stop words and stemming the remaining words,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Converts the reviews into a bag-of-words representation,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Trains a Naive Bayes classifier on the training set,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Tests the classifier on the testing set, and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Predicts the sentiment of a new review. 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6" name="Google Shape;206;p6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Toy Example</a:t>
            </a:r>
            <a:endParaRPr sz="3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Quiz 1</a:t>
            </a:r>
            <a:endParaRPr sz="3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093C78A-AE5F-B6F8-AAEC-F55358F34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751" y="954157"/>
            <a:ext cx="4082498" cy="4082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"/>
          <p:cNvSpPr txBox="1">
            <a:spLocks noGrp="1"/>
          </p:cNvSpPr>
          <p:nvPr>
            <p:ph type="body" idx="1"/>
          </p:nvPr>
        </p:nvSpPr>
        <p:spPr>
          <a:xfrm>
            <a:off x="275375" y="959675"/>
            <a:ext cx="8466000" cy="3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b="1" dirty="0">
                <a:latin typeface="Georgia"/>
                <a:ea typeface="Georgia"/>
                <a:cs typeface="Georgia"/>
                <a:sym typeface="Georgia"/>
              </a:rPr>
              <a:t>Phonetics</a:t>
            </a:r>
            <a:r>
              <a:rPr lang="en" dirty="0">
                <a:latin typeface="Georgia"/>
                <a:ea typeface="Georgia"/>
                <a:cs typeface="Georgia"/>
                <a:sym typeface="Georgia"/>
              </a:rPr>
              <a:t> is the study of the physical properties of speech sounds, such as their articulation and acoustic characteristics.</a:t>
            </a:r>
            <a:endParaRPr dirty="0"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None/>
            </a:pPr>
            <a:endParaRPr b="1" dirty="0"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b="1" dirty="0">
                <a:latin typeface="Georgia"/>
                <a:ea typeface="Georgia"/>
                <a:cs typeface="Georgia"/>
                <a:sym typeface="Georgia"/>
              </a:rPr>
              <a:t>Morphology</a:t>
            </a:r>
            <a:r>
              <a:rPr lang="en" dirty="0">
                <a:latin typeface="Georgia"/>
                <a:ea typeface="Georgia"/>
                <a:cs typeface="Georgia"/>
                <a:sym typeface="Georgia"/>
              </a:rPr>
              <a:t> is the study of the structure of words and how they are formed from smaller units called morphemes.</a:t>
            </a:r>
            <a:endParaRPr dirty="0"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None/>
            </a:pPr>
            <a:endParaRPr b="1" dirty="0"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b="1" dirty="0">
                <a:latin typeface="Georgia"/>
                <a:ea typeface="Georgia"/>
                <a:cs typeface="Georgia"/>
                <a:sym typeface="Georgia"/>
              </a:rPr>
              <a:t>Syntax</a:t>
            </a:r>
            <a:r>
              <a:rPr lang="en" dirty="0">
                <a:latin typeface="Georgia"/>
                <a:ea typeface="Georgia"/>
                <a:cs typeface="Georgia"/>
                <a:sym typeface="Georgia"/>
              </a:rPr>
              <a:t> is the study of the structure of sentences and how words are combined to form them.</a:t>
            </a:r>
            <a:endParaRPr dirty="0">
              <a:latin typeface="Georgia"/>
              <a:ea typeface="Georgia"/>
              <a:cs typeface="Georgia"/>
              <a:sym typeface="Georgia"/>
            </a:endParaRPr>
          </a:p>
          <a:p>
            <a:pPr marL="914400" marR="0" lvl="1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 dirty="0">
                <a:latin typeface="Georgia"/>
                <a:ea typeface="Georgia"/>
                <a:cs typeface="Georgia"/>
                <a:sym typeface="Georgia"/>
              </a:rPr>
              <a:t>Syntax includes rules for word order, sentence structure, and grammatical relationships between words.</a:t>
            </a:r>
            <a:endParaRPr dirty="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8" name="Google Shape;218;p8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II. Basics of Linguistics for NLP</a:t>
            </a:r>
            <a:endParaRPr sz="3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 txBox="1">
            <a:spLocks noGrp="1"/>
          </p:cNvSpPr>
          <p:nvPr>
            <p:ph type="body" idx="1"/>
          </p:nvPr>
        </p:nvSpPr>
        <p:spPr>
          <a:xfrm>
            <a:off x="275375" y="959675"/>
            <a:ext cx="8466000" cy="3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b="1" dirty="0">
                <a:latin typeface="Georgia"/>
                <a:ea typeface="Georgia"/>
                <a:cs typeface="Georgia"/>
                <a:sym typeface="Georgia"/>
              </a:rPr>
              <a:t>Semantics</a:t>
            </a:r>
            <a:r>
              <a:rPr lang="en" dirty="0">
                <a:latin typeface="Georgia"/>
                <a:ea typeface="Georgia"/>
                <a:cs typeface="Georgia"/>
                <a:sym typeface="Georgia"/>
              </a:rPr>
              <a:t> is the study of meaning in language, including the meanings of words, phrases, and sentences.</a:t>
            </a:r>
            <a:endParaRPr dirty="0">
              <a:latin typeface="Georgia"/>
              <a:ea typeface="Georgia"/>
              <a:cs typeface="Georgia"/>
              <a:sym typeface="Georgia"/>
            </a:endParaRPr>
          </a:p>
          <a:p>
            <a:pPr marL="914400" marR="0" lvl="1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 dirty="0">
                <a:latin typeface="Georgia"/>
                <a:ea typeface="Georgia"/>
                <a:cs typeface="Georgia"/>
                <a:sym typeface="Georgia"/>
              </a:rPr>
              <a:t>Semantics deals with how context and other factors influence the interpretation of meaning.</a:t>
            </a:r>
            <a:endParaRPr dirty="0"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None/>
            </a:pPr>
            <a:endParaRPr b="1" dirty="0"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b="1" dirty="0">
                <a:latin typeface="Georgia"/>
                <a:ea typeface="Georgia"/>
                <a:cs typeface="Georgia"/>
                <a:sym typeface="Georgia"/>
              </a:rPr>
              <a:t>Pragmatics</a:t>
            </a:r>
            <a:r>
              <a:rPr lang="en" dirty="0">
                <a:latin typeface="Georgia"/>
                <a:ea typeface="Georgia"/>
                <a:cs typeface="Georgia"/>
                <a:sym typeface="Georgia"/>
              </a:rPr>
              <a:t> is the study of how language is used in context to convey meaning beyond the literal words.</a:t>
            </a:r>
            <a:endParaRPr dirty="0">
              <a:latin typeface="Georgia"/>
              <a:ea typeface="Georgia"/>
              <a:cs typeface="Georgia"/>
              <a:sym typeface="Georgia"/>
            </a:endParaRPr>
          </a:p>
          <a:p>
            <a:pPr marL="914400" marR="0" lvl="1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 dirty="0">
                <a:latin typeface="Georgia"/>
                <a:ea typeface="Georgia"/>
                <a:cs typeface="Georgia"/>
                <a:sym typeface="Georgia"/>
              </a:rPr>
              <a:t>Pragmatics includes the study of implicature, presupposition, and speech acts such as requests and apologies.</a:t>
            </a:r>
            <a:endParaRPr dirty="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4" name="Google Shape;224;p9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II. Basics of Linguistics for NLP</a:t>
            </a:r>
            <a:endParaRPr sz="3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Quiz 2</a:t>
            </a:r>
            <a:endParaRPr sz="3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0" name="Google Shape;230;p10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D12D357-A9AE-71BF-4E3F-5B38C3DDB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485" y="1035887"/>
            <a:ext cx="4207979" cy="4207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"/>
          <p:cNvSpPr txBox="1">
            <a:spLocks noGrp="1"/>
          </p:cNvSpPr>
          <p:nvPr>
            <p:ph type="body" idx="1"/>
          </p:nvPr>
        </p:nvSpPr>
        <p:spPr>
          <a:xfrm>
            <a:off x="275375" y="959675"/>
            <a:ext cx="8466000" cy="3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b="1" dirty="0">
                <a:latin typeface="Georgia"/>
                <a:ea typeface="Georgia"/>
                <a:cs typeface="Georgia"/>
                <a:sym typeface="Georgia"/>
              </a:rPr>
              <a:t>Tokenization</a:t>
            </a:r>
            <a:r>
              <a:rPr lang="en" dirty="0">
                <a:latin typeface="Georgia"/>
                <a:ea typeface="Georgia"/>
                <a:cs typeface="Georgia"/>
                <a:sym typeface="Georgia"/>
              </a:rPr>
              <a:t> is a fundamental task in NLP, as it is required for most downstream NLP tasks such as text classification and sentiment analysis</a:t>
            </a:r>
            <a:endParaRPr dirty="0">
              <a:latin typeface="Georgia"/>
              <a:ea typeface="Georgia"/>
              <a:cs typeface="Georgia"/>
              <a:sym typeface="Georgia"/>
            </a:endParaRPr>
          </a:p>
          <a:p>
            <a:pPr marL="914400" marR="0" lvl="1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 dirty="0">
                <a:latin typeface="Georgia"/>
                <a:ea typeface="Georgia"/>
                <a:cs typeface="Georgia"/>
                <a:sym typeface="Georgia"/>
              </a:rPr>
              <a:t>Breaking text into words, phrases, or other meaningful units (tokens)</a:t>
            </a:r>
            <a:endParaRPr dirty="0"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b="1" dirty="0">
                <a:latin typeface="Georgia"/>
                <a:ea typeface="Georgia"/>
                <a:cs typeface="Georgia"/>
                <a:sym typeface="Georgia"/>
              </a:rPr>
              <a:t>Part-of-Speech (POS) Tagging</a:t>
            </a:r>
            <a:r>
              <a:rPr lang="en" dirty="0">
                <a:latin typeface="Georgia"/>
                <a:ea typeface="Georgia"/>
                <a:cs typeface="Georgia"/>
                <a:sym typeface="Georgia"/>
              </a:rPr>
              <a:t> is  assigning a grammatical category (such as noun, verb, adjective) to each word in a sentence. </a:t>
            </a:r>
            <a:endParaRPr dirty="0"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b="1" dirty="0">
                <a:latin typeface="Georgia"/>
                <a:ea typeface="Georgia"/>
                <a:cs typeface="Georgia"/>
                <a:sym typeface="Georgia"/>
              </a:rPr>
              <a:t>Named Entity Recognition</a:t>
            </a:r>
            <a:r>
              <a:rPr lang="en" dirty="0">
                <a:latin typeface="Georgia"/>
                <a:ea typeface="Georgia"/>
                <a:cs typeface="Georgia"/>
                <a:sym typeface="Georgia"/>
              </a:rPr>
              <a:t> is identifying and classifying entities in text, such as people, organizations, and locations</a:t>
            </a:r>
            <a:endParaRPr dirty="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7" name="Google Shape;237;p11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III. NLP Techniques</a:t>
            </a:r>
            <a:endParaRPr sz="3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"/>
          <p:cNvSpPr txBox="1">
            <a:spLocks noGrp="1"/>
          </p:cNvSpPr>
          <p:nvPr>
            <p:ph type="body" idx="1"/>
          </p:nvPr>
        </p:nvSpPr>
        <p:spPr>
          <a:xfrm>
            <a:off x="275375" y="959675"/>
            <a:ext cx="8466000" cy="3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b="1" dirty="0">
                <a:latin typeface="Georgia"/>
                <a:ea typeface="Georgia"/>
                <a:cs typeface="Georgia"/>
                <a:sym typeface="Georgia"/>
              </a:rPr>
              <a:t>Parsing</a:t>
            </a:r>
            <a:r>
              <a:rPr lang="en" dirty="0">
                <a:latin typeface="Georgia"/>
                <a:ea typeface="Georgia"/>
                <a:cs typeface="Georgia"/>
                <a:sym typeface="Georgia"/>
              </a:rPr>
              <a:t> is analyzing the grammatical structure of a sentence, typically by creating a parse tree or dependency graph</a:t>
            </a:r>
            <a:endParaRPr dirty="0">
              <a:latin typeface="Georgia"/>
              <a:ea typeface="Georgia"/>
              <a:cs typeface="Georgia"/>
              <a:sym typeface="Georgia"/>
            </a:endParaRPr>
          </a:p>
          <a:p>
            <a:pPr marL="914400" marR="0" lvl="1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 dirty="0">
                <a:latin typeface="Georgia"/>
                <a:ea typeface="Georgia"/>
                <a:cs typeface="Georgia"/>
                <a:sym typeface="Georgia"/>
              </a:rPr>
              <a:t>Example: "The cat in the hat sat on the mat" parsed as "S → NP VP", "NP → DT NN", "VP → V PP", "PP → IN NP", etc.</a:t>
            </a:r>
            <a:endParaRPr dirty="0"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b="1" dirty="0">
                <a:latin typeface="Georgia"/>
                <a:ea typeface="Georgia"/>
                <a:cs typeface="Georgia"/>
                <a:sym typeface="Georgia"/>
              </a:rPr>
              <a:t>Sentiment Analysis</a:t>
            </a:r>
            <a:r>
              <a:rPr lang="en" dirty="0">
                <a:latin typeface="Georgia"/>
                <a:ea typeface="Georgia"/>
                <a:cs typeface="Georgia"/>
                <a:sym typeface="Georgia"/>
              </a:rPr>
              <a:t> is determining the emotional tone of a text, typically as positive, negative, or neutral</a:t>
            </a:r>
            <a:endParaRPr dirty="0">
              <a:latin typeface="Georgia"/>
              <a:ea typeface="Georgia"/>
              <a:cs typeface="Georgia"/>
              <a:sym typeface="Georgia"/>
            </a:endParaRPr>
          </a:p>
          <a:p>
            <a:pPr marL="914400" marR="0" lvl="1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 dirty="0">
                <a:latin typeface="Georgia"/>
                <a:ea typeface="Georgia"/>
                <a:cs typeface="Georgia"/>
                <a:sym typeface="Georgia"/>
              </a:rPr>
              <a:t>Example: "I loved the movie, it was amazing!" sentiment analyzed as positive</a:t>
            </a:r>
            <a:endParaRPr dirty="0"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b="1" dirty="0">
                <a:latin typeface="Georgia"/>
                <a:ea typeface="Georgia"/>
                <a:cs typeface="Georgia"/>
                <a:sym typeface="Georgia"/>
              </a:rPr>
              <a:t>Topic Modeling</a:t>
            </a:r>
            <a:r>
              <a:rPr lang="en" dirty="0">
                <a:latin typeface="Georgia"/>
                <a:ea typeface="Georgia"/>
                <a:cs typeface="Georgia"/>
                <a:sym typeface="Georgia"/>
              </a:rPr>
              <a:t> is identifying the underlying themes or topics in a collection of documents</a:t>
            </a:r>
            <a:endParaRPr dirty="0">
              <a:latin typeface="Georgia"/>
              <a:ea typeface="Georgia"/>
              <a:cs typeface="Georgia"/>
              <a:sym typeface="Georgia"/>
            </a:endParaRPr>
          </a:p>
          <a:p>
            <a:pPr marL="914400" marR="0" lvl="1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 dirty="0">
                <a:latin typeface="Georgia"/>
                <a:ea typeface="Georgia"/>
                <a:cs typeface="Georgia"/>
                <a:sym typeface="Georgia"/>
              </a:rPr>
              <a:t>Example: Topics in a collection of news articles might include politics, sports, entertainment, etc.</a:t>
            </a:r>
            <a:endParaRPr dirty="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3" name="Google Shape;243;p12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NLP Techniques</a:t>
            </a:r>
            <a:endParaRPr sz="3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"/>
          <p:cNvSpPr txBox="1">
            <a:spLocks noGrp="1"/>
          </p:cNvSpPr>
          <p:nvPr>
            <p:ph type="body" idx="1"/>
          </p:nvPr>
        </p:nvSpPr>
        <p:spPr>
          <a:xfrm>
            <a:off x="275375" y="959675"/>
            <a:ext cx="8466000" cy="3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dirty="0">
                <a:latin typeface="Georgia"/>
                <a:ea typeface="Georgia"/>
                <a:cs typeface="Georgia"/>
                <a:sym typeface="Georgia"/>
              </a:rPr>
              <a:t>A. NLTK</a:t>
            </a:r>
            <a:endParaRPr dirty="0"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dirty="0">
                <a:latin typeface="Georgia"/>
                <a:ea typeface="Georgia"/>
                <a:cs typeface="Georgia"/>
                <a:sym typeface="Georgia"/>
              </a:rPr>
              <a:t>B. Spacy</a:t>
            </a:r>
            <a:endParaRPr dirty="0"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dirty="0">
                <a:latin typeface="Georgia"/>
                <a:ea typeface="Georgia"/>
                <a:cs typeface="Georgia"/>
                <a:sym typeface="Georgia"/>
              </a:rPr>
              <a:t>C. </a:t>
            </a:r>
            <a:r>
              <a:rPr lang="en" dirty="0" err="1">
                <a:latin typeface="Georgia"/>
                <a:ea typeface="Georgia"/>
                <a:cs typeface="Georgia"/>
                <a:sym typeface="Georgia"/>
              </a:rPr>
              <a:t>Gensim</a:t>
            </a:r>
            <a:endParaRPr dirty="0"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dirty="0">
                <a:latin typeface="Georgia"/>
                <a:ea typeface="Georgia"/>
                <a:cs typeface="Georgia"/>
                <a:sym typeface="Georgia"/>
              </a:rPr>
              <a:t>D. Stanford </a:t>
            </a:r>
            <a:r>
              <a:rPr lang="en" dirty="0" err="1">
                <a:latin typeface="Georgia"/>
                <a:ea typeface="Georgia"/>
                <a:cs typeface="Georgia"/>
                <a:sym typeface="Georgia"/>
              </a:rPr>
              <a:t>CoreNLP</a:t>
            </a:r>
            <a:endParaRPr dirty="0"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dirty="0">
                <a:latin typeface="Georgia"/>
                <a:ea typeface="Georgia"/>
                <a:cs typeface="Georgia"/>
                <a:sym typeface="Georgia"/>
              </a:rPr>
              <a:t>E. </a:t>
            </a:r>
            <a:r>
              <a:rPr lang="en" dirty="0" err="1">
                <a:latin typeface="Georgia"/>
                <a:ea typeface="Georgia"/>
                <a:cs typeface="Georgia"/>
                <a:sym typeface="Georgia"/>
              </a:rPr>
              <a:t>OpenNLP</a:t>
            </a:r>
            <a:endParaRPr dirty="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6" name="Google Shape;256;p14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IV. NLP Libraries and Frameworks</a:t>
            </a:r>
            <a:endParaRPr sz="3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8EA3DDD-9425-7A8C-4337-EDC96EB08445}"/>
              </a:ext>
            </a:extLst>
          </p:cNvPr>
          <p:cNvSpPr/>
          <p:nvPr/>
        </p:nvSpPr>
        <p:spPr>
          <a:xfrm>
            <a:off x="230588" y="922351"/>
            <a:ext cx="8651019" cy="4110826"/>
          </a:xfrm>
          <a:prstGeom prst="roundRect">
            <a:avLst/>
          </a:prstGeom>
          <a:solidFill>
            <a:srgbClr val="EEEEEE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Google Shape;218;p22">
            <a:extLst>
              <a:ext uri="{FF2B5EF4-FFF2-40B4-BE49-F238E27FC236}">
                <a16:creationId xmlns:a16="http://schemas.microsoft.com/office/drawing/2014/main" id="{F243156A-8863-691C-FB5C-11D4047071E1}"/>
              </a:ext>
            </a:extLst>
          </p:cNvPr>
          <p:cNvSpPr txBox="1">
            <a:spLocks/>
          </p:cNvSpPr>
          <p:nvPr/>
        </p:nvSpPr>
        <p:spPr>
          <a:xfrm>
            <a:off x="230588" y="897127"/>
            <a:ext cx="8651019" cy="411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⚫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⚫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⚫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⚫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⚫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⚫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⚫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⚫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buNone/>
            </a:pPr>
            <a:r>
              <a:rPr lang="en-US" sz="36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Uncovering Acoustic and Linguistic </a:t>
            </a:r>
            <a:r>
              <a:rPr lang="en-US" sz="3600" dirty="0" err="1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Behaviour</a:t>
            </a:r>
            <a:r>
              <a:rPr lang="en-US" sz="36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 for Autism Identification 	among Hindi-Speaking Children</a:t>
            </a:r>
          </a:p>
          <a:p>
            <a:pPr marL="0" indent="0" algn="ctr">
              <a:buNone/>
            </a:pPr>
            <a:r>
              <a:rPr lang="en-US" sz="1600" i="1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(ICASSP, 2023 + IEEE Transactions on AI, 2024)</a:t>
            </a:r>
          </a:p>
          <a:p>
            <a:pPr marL="0" indent="0" algn="ctr">
              <a:buNone/>
            </a:pPr>
            <a:r>
              <a:rPr lang="en-IN" sz="36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	</a:t>
            </a:r>
            <a:r>
              <a:rPr lang="en-IN" sz="16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					</a:t>
            </a:r>
          </a:p>
          <a:p>
            <a:pPr marL="0" indent="0" algn="r">
              <a:buNone/>
            </a:pPr>
            <a:endParaRPr lang="en-IN" sz="1200" b="1" i="1" dirty="0">
              <a:solidFill>
                <a:schemeClr val="tx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indent="0" algn="r">
              <a:buNone/>
            </a:pPr>
            <a:endParaRPr lang="en-IN" sz="1200" b="1" i="1" dirty="0">
              <a:solidFill>
                <a:schemeClr val="tx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indent="0" algn="r">
              <a:buNone/>
            </a:pPr>
            <a:endParaRPr lang="en-IN" sz="1200" b="1" i="1" dirty="0">
              <a:solidFill>
                <a:schemeClr val="tx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indent="0" algn="r">
              <a:buNone/>
            </a:pPr>
            <a:endParaRPr lang="en-IN" sz="1200" b="1" i="1" dirty="0">
              <a:solidFill>
                <a:schemeClr val="tx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indent="0">
              <a:buNone/>
            </a:pPr>
            <a:r>
              <a:rPr lang="en-IN" sz="1200" b="1" i="1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						                	   </a:t>
            </a:r>
          </a:p>
        </p:txBody>
      </p:sp>
      <p:sp>
        <p:nvSpPr>
          <p:cNvPr id="435" name="Google Shape;435;p24"/>
          <p:cNvSpPr/>
          <p:nvPr/>
        </p:nvSpPr>
        <p:spPr>
          <a:xfrm>
            <a:off x="4245628" y="2415498"/>
            <a:ext cx="33432" cy="33158"/>
          </a:xfrm>
          <a:custGeom>
            <a:avLst/>
            <a:gdLst/>
            <a:ahLst/>
            <a:cxnLst/>
            <a:rect l="l" t="t" r="r" b="b"/>
            <a:pathLst>
              <a:path w="1466" h="1454" extrusionOk="0">
                <a:moveTo>
                  <a:pt x="715" y="334"/>
                </a:moveTo>
                <a:cubicBezTo>
                  <a:pt x="941" y="358"/>
                  <a:pt x="1108" y="513"/>
                  <a:pt x="1108" y="727"/>
                </a:cubicBezTo>
                <a:cubicBezTo>
                  <a:pt x="1108" y="929"/>
                  <a:pt x="929" y="1108"/>
                  <a:pt x="715" y="1108"/>
                </a:cubicBezTo>
                <a:cubicBezTo>
                  <a:pt x="513" y="1108"/>
                  <a:pt x="334" y="929"/>
                  <a:pt x="334" y="727"/>
                </a:cubicBezTo>
                <a:cubicBezTo>
                  <a:pt x="334" y="513"/>
                  <a:pt x="513" y="334"/>
                  <a:pt x="715" y="334"/>
                </a:cubicBezTo>
                <a:close/>
                <a:moveTo>
                  <a:pt x="739" y="1"/>
                </a:moveTo>
                <a:cubicBezTo>
                  <a:pt x="334" y="13"/>
                  <a:pt x="1" y="334"/>
                  <a:pt x="1" y="727"/>
                </a:cubicBezTo>
                <a:cubicBezTo>
                  <a:pt x="1" y="1132"/>
                  <a:pt x="334" y="1453"/>
                  <a:pt x="739" y="1453"/>
                </a:cubicBezTo>
                <a:cubicBezTo>
                  <a:pt x="1132" y="1453"/>
                  <a:pt x="1465" y="1132"/>
                  <a:pt x="1465" y="727"/>
                </a:cubicBezTo>
                <a:cubicBezTo>
                  <a:pt x="1465" y="322"/>
                  <a:pt x="1132" y="1"/>
                  <a:pt x="73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02CAB5-2B16-848D-5375-8088CB86E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968" y="2896311"/>
            <a:ext cx="1555524" cy="144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85622A9-4150-B651-C1D4-6686C72039C6}"/>
              </a:ext>
            </a:extLst>
          </p:cNvPr>
          <p:cNvSpPr/>
          <p:nvPr/>
        </p:nvSpPr>
        <p:spPr>
          <a:xfrm>
            <a:off x="5279666" y="4380055"/>
            <a:ext cx="27881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200" b="1" dirty="0">
                <a:latin typeface="Georgia" panose="02040502050405020303" pitchFamily="18" charset="0"/>
              </a:rPr>
              <a:t>Prof. (</a:t>
            </a:r>
            <a:r>
              <a:rPr lang="en-IN" sz="1200" b="1" dirty="0" err="1">
                <a:latin typeface="Georgia" panose="02040502050405020303" pitchFamily="18" charset="0"/>
              </a:rPr>
              <a:t>Dr.</a:t>
            </a:r>
            <a:r>
              <a:rPr lang="en-IN" sz="1200" b="1" dirty="0">
                <a:latin typeface="Georgia" panose="02040502050405020303" pitchFamily="18" charset="0"/>
              </a:rPr>
              <a:t>) </a:t>
            </a:r>
            <a:r>
              <a:rPr lang="en-IN" sz="1200" b="1" dirty="0" err="1">
                <a:latin typeface="Georgia" panose="02040502050405020303" pitchFamily="18" charset="0"/>
              </a:rPr>
              <a:t>Sheffali</a:t>
            </a:r>
            <a:r>
              <a:rPr lang="en-IN" sz="1200" b="1" dirty="0">
                <a:latin typeface="Georgia" panose="02040502050405020303" pitchFamily="18" charset="0"/>
              </a:rPr>
              <a:t> Gulati</a:t>
            </a:r>
            <a:br>
              <a:rPr lang="en-IN" sz="1200" b="1" dirty="0">
                <a:latin typeface="Georgia" panose="02040502050405020303" pitchFamily="18" charset="0"/>
              </a:rPr>
            </a:br>
            <a:r>
              <a:rPr lang="en-IN" sz="1200" b="1" dirty="0">
                <a:latin typeface="Georgia" panose="02040502050405020303" pitchFamily="18" charset="0"/>
              </a:rPr>
              <a:t> AIIMS, New Delhi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F72C4A-1F74-598A-1B1C-B4BB4A7EA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2159" y="2952539"/>
            <a:ext cx="1440000" cy="14400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5E2E440-B87B-5AC6-1DEE-D2F4DFD9BEEE}"/>
              </a:ext>
            </a:extLst>
          </p:cNvPr>
          <p:cNvSpPr/>
          <p:nvPr/>
        </p:nvSpPr>
        <p:spPr>
          <a:xfrm>
            <a:off x="1544659" y="4371387"/>
            <a:ext cx="3815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200" b="1" dirty="0" err="1">
                <a:latin typeface="Georgia" panose="02040502050405020303" pitchFamily="18" charset="0"/>
              </a:rPr>
              <a:t>Dr.</a:t>
            </a:r>
            <a:r>
              <a:rPr lang="en-IN" sz="1200" b="1" dirty="0">
                <a:latin typeface="Georgia" panose="02040502050405020303" pitchFamily="18" charset="0"/>
              </a:rPr>
              <a:t> Ashwini B. </a:t>
            </a:r>
          </a:p>
          <a:p>
            <a:pPr algn="ctr"/>
            <a:r>
              <a:rPr lang="en-IN" sz="1200" b="1" dirty="0">
                <a:latin typeface="Georgia" panose="02040502050405020303" pitchFamily="18" charset="0"/>
              </a:rPr>
              <a:t>Staff Scientist at CNH, Washington DC, USA</a:t>
            </a:r>
          </a:p>
          <a:p>
            <a:pPr algn="ctr"/>
            <a:r>
              <a:rPr lang="en-IN" sz="1200" b="1" dirty="0">
                <a:latin typeface="Georgia" panose="02040502050405020303" pitchFamily="18" charset="0"/>
              </a:rPr>
              <a:t>Assistant Professor at IIT, Ropar</a:t>
            </a:r>
          </a:p>
        </p:txBody>
      </p:sp>
    </p:spTree>
    <p:extLst>
      <p:ext uri="{BB962C8B-B14F-4D97-AF65-F5344CB8AC3E}">
        <p14:creationId xmlns:p14="http://schemas.microsoft.com/office/powerpoint/2010/main" val="1577860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>
          <a:extLst>
            <a:ext uri="{FF2B5EF4-FFF2-40B4-BE49-F238E27FC236}">
              <a16:creationId xmlns:a16="http://schemas.microsoft.com/office/drawing/2014/main" id="{58CBC5D2-DB14-547E-2947-B3B91B4D7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">
            <a:extLst>
              <a:ext uri="{FF2B5EF4-FFF2-40B4-BE49-F238E27FC236}">
                <a16:creationId xmlns:a16="http://schemas.microsoft.com/office/drawing/2014/main" id="{CE466217-E36F-A5DE-F610-3FCF6A3AB7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5375" y="959675"/>
            <a:ext cx="8466000" cy="3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-IN" dirty="0">
                <a:latin typeface="Georgia"/>
                <a:ea typeface="Georgia"/>
                <a:cs typeface="Georgia"/>
                <a:sym typeface="Georgia"/>
              </a:rPr>
              <a:t>Semantic and pragmatic features are strong indicators for ASD and complement syntactic (sentence structure) and lexical (word choice) features.</a:t>
            </a:r>
          </a:p>
          <a:p>
            <a:pPr lvl="1" algn="just">
              <a:spcBef>
                <a:spcPts val="0"/>
              </a:spcBef>
              <a:buFont typeface="Georgia"/>
              <a:buChar char="●"/>
            </a:pPr>
            <a:r>
              <a:rPr lang="en-IN" sz="1200" dirty="0">
                <a:latin typeface="Georgia"/>
                <a:cs typeface="Arial"/>
                <a:sym typeface="Georgia"/>
              </a:rPr>
              <a:t>A. B, V. Narayan and J. Shukla, "SPASHT: Semantic and Pragmatic Speech Features for Automatic Assessment of Autism," ICASSP 2023 - 2023 IEEE International Conference on Acoustics, Speech and Signal Processing (ICASSP), Rhodes Island, Greece, 2023, pp. 1-5,</a:t>
            </a:r>
          </a:p>
          <a:p>
            <a:pPr lvl="1" algn="just">
              <a:spcBef>
                <a:spcPts val="0"/>
              </a:spcBef>
              <a:buFont typeface="Georgia"/>
              <a:buChar char="●"/>
            </a:pPr>
            <a:endParaRPr lang="en-IN" dirty="0">
              <a:latin typeface="Georgia"/>
              <a:ea typeface="Georgia"/>
              <a:cs typeface="Georgia"/>
              <a:sym typeface="Georgia"/>
            </a:endParaRPr>
          </a:p>
          <a:p>
            <a:pPr algn="just">
              <a:spcBef>
                <a:spcPts val="0"/>
              </a:spcBef>
              <a:buFont typeface="Georgia"/>
              <a:buChar char="●"/>
            </a:pPr>
            <a:r>
              <a:rPr lang="en-IN" dirty="0">
                <a:latin typeface="Georgia"/>
                <a:ea typeface="Georgia"/>
                <a:cs typeface="Georgia"/>
                <a:sym typeface="Georgia"/>
              </a:rPr>
              <a:t>Reliable speech attributes can predict ASD across different languages and the importance of specific features varies across languages. </a:t>
            </a:r>
          </a:p>
          <a:p>
            <a:pPr lvl="1" algn="just">
              <a:spcBef>
                <a:spcPts val="0"/>
              </a:spcBef>
              <a:buFont typeface="Georgia"/>
              <a:buChar char="●"/>
            </a:pPr>
            <a:r>
              <a:rPr lang="en-IN" dirty="0">
                <a:latin typeface="Georgia"/>
                <a:ea typeface="Georgia"/>
                <a:cs typeface="Georgia"/>
                <a:sym typeface="Georgia"/>
              </a:rPr>
              <a:t>For example, adverbs and distinct roots are important in English, while unintelligible utterances and </a:t>
            </a:r>
            <a:r>
              <a:rPr lang="en-IN" dirty="0" err="1">
                <a:latin typeface="Georgia"/>
                <a:ea typeface="Georgia"/>
                <a:cs typeface="Georgia"/>
                <a:sym typeface="Georgia"/>
              </a:rPr>
              <a:t>adpositions</a:t>
            </a:r>
            <a:r>
              <a:rPr lang="en-IN" dirty="0">
                <a:latin typeface="Georgia"/>
                <a:ea typeface="Georgia"/>
                <a:cs typeface="Georgia"/>
                <a:sym typeface="Georgia"/>
              </a:rPr>
              <a:t> are more important in Hindi.</a:t>
            </a:r>
          </a:p>
          <a:p>
            <a:pPr lvl="1" algn="just">
              <a:spcBef>
                <a:spcPts val="0"/>
              </a:spcBef>
              <a:buFont typeface="Georgia"/>
              <a:buChar char="●"/>
            </a:pPr>
            <a:r>
              <a:rPr lang="en-IN" sz="1200" dirty="0">
                <a:latin typeface="Georgia"/>
                <a:ea typeface="Georgia"/>
                <a:cs typeface="Georgia"/>
                <a:sym typeface="Georgia"/>
              </a:rPr>
              <a:t>A. B., </a:t>
            </a:r>
            <a:r>
              <a:rPr lang="en-IN" sz="1200" dirty="0" err="1">
                <a:latin typeface="Georgia"/>
                <a:ea typeface="Georgia"/>
                <a:cs typeface="Georgia"/>
                <a:sym typeface="Georgia"/>
              </a:rPr>
              <a:t>Deeptanshu</a:t>
            </a:r>
            <a:r>
              <a:rPr lang="en-IN" sz="1200" dirty="0">
                <a:latin typeface="Georgia"/>
                <a:ea typeface="Georgia"/>
                <a:cs typeface="Georgia"/>
                <a:sym typeface="Georgia"/>
              </a:rPr>
              <a:t>, S. Gulati and J. Shukla, "Artificial Intelligence Driven Predictive Analysis of Acoustic and Linguistic </a:t>
            </a:r>
            <a:r>
              <a:rPr lang="en-IN" sz="1200" dirty="0" err="1">
                <a:latin typeface="Georgia"/>
                <a:ea typeface="Georgia"/>
                <a:cs typeface="Georgia"/>
                <a:sym typeface="Georgia"/>
              </a:rPr>
              <a:t>Behaviors</a:t>
            </a:r>
            <a:r>
              <a:rPr lang="en-IN" sz="1200" dirty="0">
                <a:latin typeface="Georgia"/>
                <a:ea typeface="Georgia"/>
                <a:cs typeface="Georgia"/>
                <a:sym typeface="Georgia"/>
              </a:rPr>
              <a:t> for ASD Identification," in IEEE Transactions on Artificial Intelligence, vol. 5, no. 11, pp. 5709-5719, Nov. 2024</a:t>
            </a:r>
            <a:endParaRPr sz="1200" dirty="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6" name="Google Shape;256;p14">
            <a:extLst>
              <a:ext uri="{FF2B5EF4-FFF2-40B4-BE49-F238E27FC236}">
                <a16:creationId xmlns:a16="http://schemas.microsoft.com/office/drawing/2014/main" id="{31B436FF-71BE-7CA4-0482-0047B10ED23F}"/>
              </a:ext>
            </a:extLst>
          </p:cNvPr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Research on Autism Diagnosis</a:t>
            </a:r>
            <a:endParaRPr sz="3000" b="1" i="0" u="none" strike="noStrike" cap="none" dirty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913519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Quiz 3</a:t>
            </a:r>
            <a:endParaRPr sz="3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9" name="Google Shape;249;p13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47DA2134-41D7-FE5A-8B3F-5CA25789A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955" y="711145"/>
            <a:ext cx="4432355" cy="4432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5"/>
          <p:cNvSpPr txBox="1">
            <a:spLocks noGrp="1"/>
          </p:cNvSpPr>
          <p:nvPr>
            <p:ph type="body" idx="1"/>
          </p:nvPr>
        </p:nvSpPr>
        <p:spPr>
          <a:xfrm>
            <a:off x="275375" y="959675"/>
            <a:ext cx="8466000" cy="3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Models that can read, understand, and generate natural language text at a large scale.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b="1">
                <a:latin typeface="Georgia"/>
                <a:ea typeface="Georgia"/>
                <a:cs typeface="Georgia"/>
                <a:sym typeface="Georgia"/>
              </a:rPr>
              <a:t>Scale: 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LLMs are trained on extremely large datasets, typically on the order of billions of words, which allows them to capture a wider range of linguistic patterns and relationships.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914400" marR="0" lvl="1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GPT-3 was trained on a dataset containing 45 terabytes of text data, which is roughly equivalent to 3 million books!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b="1">
                <a:latin typeface="Georgia"/>
                <a:ea typeface="Georgia"/>
                <a:cs typeface="Georgia"/>
                <a:sym typeface="Georgia"/>
              </a:rPr>
              <a:t>Generality: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 LLMs are trained in an unsupervised manner, meaning they can learn about language in a more general and abstract sense, without being tied to any specific task or application.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914400" marR="0" lvl="1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GPT-3 has demonstrated the ability to perform a wide range of language tasks, such as writing poetry, answering trivia questions, and even programming in Python.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2" name="Google Shape;262;p15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V. Large Language Models (LLMs)</a:t>
            </a:r>
            <a:endParaRPr sz="3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6"/>
          <p:cNvSpPr txBox="1">
            <a:spLocks noGrp="1"/>
          </p:cNvSpPr>
          <p:nvPr>
            <p:ph type="body" idx="1"/>
          </p:nvPr>
        </p:nvSpPr>
        <p:spPr>
          <a:xfrm>
            <a:off x="275375" y="959675"/>
            <a:ext cx="8466000" cy="3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b="1">
                <a:latin typeface="Georgia"/>
                <a:ea typeface="Georgia"/>
                <a:cs typeface="Georgia"/>
                <a:sym typeface="Georgia"/>
              </a:rPr>
              <a:t>Fine-tuning: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 Once trained, LLMs can be fine-tuned for specific NLP tasks, such as sentiment analysis, language translation, or question answering. Fine-tuning a pre-trained LLM often requires much less labeled data than training a model from scratch.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914400" marR="0" lvl="1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BibleGPT [https://biblegpt.org/]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b="1">
                <a:latin typeface="Georgia"/>
                <a:ea typeface="Georgia"/>
                <a:cs typeface="Georgia"/>
                <a:sym typeface="Georgia"/>
              </a:rPr>
              <a:t>Contextualization: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 LLMs use a self-attention mechanism that allows them to take into account the surrounding context when generating or analyzing text.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914400" marR="0" lvl="1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E.g. when generating text, an LLM like GPT-3 can use the surrounding text to understand the tone, topic, and style of the text it's generating.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b="1">
                <a:latin typeface="Georgia"/>
                <a:ea typeface="Georgia"/>
                <a:cs typeface="Georgia"/>
                <a:sym typeface="Georgia"/>
              </a:rPr>
              <a:t>Performance: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 LLMs have achieved state-of-the-art performance on a wide range of NLP tasks, surpassing human performance on some benchmarks.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914400" marR="0" lvl="1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US medical licensing exam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914400" marR="0" lvl="1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Bar Exam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8" name="Google Shape;268;p16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V. Large Language Models (LLMs)</a:t>
            </a:r>
            <a:endParaRPr sz="3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7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LLMs on JEE Exam</a:t>
            </a:r>
            <a:endParaRPr sz="3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74" name="Google Shape;274;p17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9936" y="1127194"/>
            <a:ext cx="6119078" cy="3783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8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LLMs on JEE Exam</a:t>
            </a:r>
            <a:endParaRPr sz="3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80" name="Google Shape;28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0231" y="1519126"/>
            <a:ext cx="5843538" cy="2105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9"/>
          <p:cNvSpPr txBox="1">
            <a:spLocks noGrp="1"/>
          </p:cNvSpPr>
          <p:nvPr>
            <p:ph type="body" idx="1"/>
          </p:nvPr>
        </p:nvSpPr>
        <p:spPr>
          <a:xfrm>
            <a:off x="275375" y="959675"/>
            <a:ext cx="8466000" cy="3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b="1">
                <a:latin typeface="Georgia"/>
                <a:ea typeface="Georgia"/>
                <a:cs typeface="Georgia"/>
                <a:sym typeface="Georgia"/>
              </a:rPr>
              <a:t>Rule-Based Systems: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 Relied on hand-crafted linguistic rules to analyze and generate text.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914400" lvl="1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Limited in their ability to handle complex language patterns and required extensive human expertise to develop and maintain.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b="1">
                <a:latin typeface="Georgia"/>
                <a:ea typeface="Georgia"/>
                <a:cs typeface="Georgia"/>
                <a:sym typeface="Georgia"/>
              </a:rPr>
              <a:t>Statistical Language Models: 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Developed in the 1980s and 1990s and used statistical algorithms to analyze and generate text.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914400" lvl="1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These models were trained on large datasets of text and used probabilistic models to generate text that was statistically similar to the training data.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b="1">
                <a:latin typeface="Georgia"/>
                <a:ea typeface="Georgia"/>
                <a:cs typeface="Georgia"/>
                <a:sym typeface="Georgia"/>
              </a:rPr>
              <a:t>Neural Language Models: 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Introduced in the early 2000s and used neural networks to model the probability distribution of words in a sentence.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914400" lvl="1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Able to capture more complex language patterns and were able to generate more fluent and natural-sounding text.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6" name="Google Shape;286;p19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Evolution of LLMs</a:t>
            </a:r>
            <a:endParaRPr sz="3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0"/>
          <p:cNvSpPr txBox="1">
            <a:spLocks noGrp="1"/>
          </p:cNvSpPr>
          <p:nvPr>
            <p:ph type="body" idx="1"/>
          </p:nvPr>
        </p:nvSpPr>
        <p:spPr>
          <a:xfrm>
            <a:off x="275375" y="959675"/>
            <a:ext cx="4229100" cy="3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LLMs can still struggle with understanding the nuances of human language and context, leading to errors and inaccuracies and hallucinations in generated text.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2" name="Google Shape;292;p20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Limitations of LLMs</a:t>
            </a:r>
            <a:endParaRPr sz="3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93" name="Google Shape;293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48025" y="1016275"/>
            <a:ext cx="2388286" cy="4078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1"/>
          <p:cNvSpPr txBox="1">
            <a:spLocks noGrp="1"/>
          </p:cNvSpPr>
          <p:nvPr>
            <p:ph type="body" idx="1"/>
          </p:nvPr>
        </p:nvSpPr>
        <p:spPr>
          <a:xfrm>
            <a:off x="275375" y="959675"/>
            <a:ext cx="8267400" cy="3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They also require significant computational resources and large datasets for training, making them inaccessible for many organizations and researchers.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914400" lvl="1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E.g. the cost of a single training session for GPT-3 is estimated to be around $1.4 million, and for some larger LLMs (Large Language Models), the training cost ranges from $2 million to $12 million.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Requires &gt; 30,000 Nvidia A100 GPUs, with an initial investment cost of about $800 million and a daily electricity cost of about $50,000.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914400" lvl="1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Only large companies or well-funded research institutions may have the resources to train and use LLMs effectively.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Limitations of LLMs</a:t>
            </a:r>
            <a:endParaRPr sz="3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2"/>
          <p:cNvSpPr txBox="1">
            <a:spLocks noGrp="1"/>
          </p:cNvSpPr>
          <p:nvPr>
            <p:ph type="body" idx="1"/>
          </p:nvPr>
        </p:nvSpPr>
        <p:spPr>
          <a:xfrm>
            <a:off x="275375" y="959675"/>
            <a:ext cx="8216400" cy="3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LLMs may also raise ethical concerns, such as the potential for bias and the impact on job automation.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05" name="Google Shape;305;p22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Limitations of LLMs</a:t>
            </a:r>
            <a:endParaRPr sz="3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306" name="Google Shape;30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5075" y="1987325"/>
            <a:ext cx="6477000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3"/>
          <p:cNvSpPr txBox="1">
            <a:spLocks noGrp="1"/>
          </p:cNvSpPr>
          <p:nvPr>
            <p:ph type="body" idx="1"/>
          </p:nvPr>
        </p:nvSpPr>
        <p:spPr>
          <a:xfrm>
            <a:off x="275375" y="1288111"/>
            <a:ext cx="8216400" cy="327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u="sng">
                <a:solidFill>
                  <a:schemeClr val="hlink"/>
                </a:solidFill>
                <a:latin typeface="Georgia"/>
                <a:ea typeface="Georgia"/>
                <a:cs typeface="Georgia"/>
                <a:sym typeface="Georgia"/>
                <a:hlinkClick r:id="rId3"/>
              </a:rPr>
              <a:t>https://www.nytimes.com/2023/03/08/opinion/noam-chomsky-chatgpt-ai.html?smtyp=cur&amp;smid=tw-nytimes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914400" lvl="1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“The human mind is not, like ChatGPT and its ilk, a lumbering statistical engine for pattern matching”</a:t>
            </a:r>
            <a:endParaRPr/>
          </a:p>
          <a:p>
            <a:pPr marL="4572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2" name="Google Shape;312;p23"/>
          <p:cNvSpPr txBox="1"/>
          <p:nvPr/>
        </p:nvSpPr>
        <p:spPr>
          <a:xfrm>
            <a:off x="656125" y="232675"/>
            <a:ext cx="7886700" cy="967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Noam Chomsky: The False Promise of ChatGPT</a:t>
            </a:r>
            <a:endParaRPr sz="3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4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Quiz</a:t>
            </a:r>
            <a:endParaRPr sz="3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1562B85B-E1D9-0E21-7B79-64AE3A532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6542" y="898498"/>
            <a:ext cx="4185865" cy="4185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5"/>
          <p:cNvSpPr txBox="1">
            <a:spLocks noGrp="1"/>
          </p:cNvSpPr>
          <p:nvPr>
            <p:ph type="body" idx="1"/>
          </p:nvPr>
        </p:nvSpPr>
        <p:spPr>
          <a:xfrm>
            <a:off x="275375" y="959675"/>
            <a:ext cx="8466000" cy="3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Many words and phrases can have multiple meanings depending on the context in which they are used.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914400" lvl="1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b="1">
                <a:latin typeface="Georgia"/>
                <a:ea typeface="Georgia"/>
                <a:cs typeface="Georgia"/>
                <a:sym typeface="Georgia"/>
              </a:rPr>
              <a:t>Word senses: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 bank (finance or river?)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914400" lvl="1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b="1">
                <a:latin typeface="Georgia"/>
                <a:ea typeface="Georgia"/>
                <a:cs typeface="Georgia"/>
                <a:sym typeface="Georgia"/>
              </a:rPr>
              <a:t>Part of speech: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 chair (noun or verb?)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914400" lvl="1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b="1">
                <a:latin typeface="Georgia"/>
                <a:ea typeface="Georgia"/>
                <a:cs typeface="Georgia"/>
                <a:sym typeface="Georgia"/>
              </a:rPr>
              <a:t>Multiple: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 I saw her duck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b="1">
                <a:latin typeface="Georgia"/>
                <a:ea typeface="Georgia"/>
                <a:cs typeface="Georgia"/>
                <a:sym typeface="Georgia"/>
              </a:rPr>
              <a:t>Resolution: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 Use contextual information to disambiguate words and phrases, such as analyzing the surrounding words or using knowledge graphs.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4" name="Google Shape;324;p25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Challenges in NLP: Ambiguity</a:t>
            </a:r>
            <a:endParaRPr sz="3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6"/>
          <p:cNvSpPr txBox="1">
            <a:spLocks noGrp="1"/>
          </p:cNvSpPr>
          <p:nvPr>
            <p:ph type="body" idx="1"/>
          </p:nvPr>
        </p:nvSpPr>
        <p:spPr>
          <a:xfrm>
            <a:off x="275375" y="959675"/>
            <a:ext cx="8466000" cy="3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 “The cook was frightened when he heard the order, and said to Cat, You must have let a hair fall into the soup; if it be so, you will have a good beating.”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914400" marR="0" lvl="1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– which expresses fear.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“When therefore she came to the castle gate she saw him, and cried aloud for joy.”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914400" marR="0" lvl="1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– which is the expression for joy.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“Gretel was not idle; she ran screaming to her master, and cried: You have invited a fine guest!”–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914400" marR="0" lvl="1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which is the expression for angry/disgusted.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b="1">
                <a:latin typeface="Georgia"/>
                <a:ea typeface="Georgia"/>
                <a:cs typeface="Georgia"/>
                <a:sym typeface="Georgia"/>
              </a:rPr>
              <a:t>Resolution: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 Incorporate larger context beyond the sentence, such as the topic of the document or the discourse history.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0" name="Google Shape;330;p26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Challenges in NLP: Context</a:t>
            </a:r>
            <a:endParaRPr sz="3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7"/>
          <p:cNvSpPr txBox="1">
            <a:spLocks noGrp="1"/>
          </p:cNvSpPr>
          <p:nvPr>
            <p:ph type="body" idx="1"/>
          </p:nvPr>
        </p:nvSpPr>
        <p:spPr>
          <a:xfrm>
            <a:off x="363400" y="883475"/>
            <a:ext cx="8581800" cy="3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marR="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Considerable portion of text expressions are not explicit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914400" marR="0" lvl="1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"I opened the window because it was hot", the causal relationship between opening the window and the reason for doing so is implicit.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914400" marR="0" lvl="1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’be laid off’ or ’go on a first date’ which contains emotional information without specifying any emotional lexicon.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b="1">
                <a:latin typeface="Georgia"/>
                <a:ea typeface="Georgia"/>
                <a:cs typeface="Georgia"/>
                <a:sym typeface="Georgia"/>
              </a:rPr>
              <a:t>Resolution: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  A knowledge base that merges Common Sense and affective knowledge. E.g.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914400" marR="0" lvl="1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Spending time with friends causes happiness.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914400" marR="0" lvl="1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Getting into a car wreck makes one angry. 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6" name="Google Shape;336;p27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Challenges in NLP: Implicit</a:t>
            </a:r>
            <a:endParaRPr sz="3600" b="1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3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3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3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3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/>
                                        <p:tgtEl>
                                          <p:spTgt spid="3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8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Challenges in NLP: Implicit</a:t>
            </a:r>
            <a:endParaRPr sz="3600" b="1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342" name="Google Shape;342;p28" descr="Exploiting Structural and Semantic Context for Commonsense Knowledge Base  Completion | Semantic Schola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44256" y="960980"/>
            <a:ext cx="5255488" cy="3949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9"/>
          <p:cNvSpPr txBox="1">
            <a:spLocks noGrp="1"/>
          </p:cNvSpPr>
          <p:nvPr>
            <p:ph type="body" idx="1"/>
          </p:nvPr>
        </p:nvSpPr>
        <p:spPr>
          <a:xfrm>
            <a:off x="363400" y="883475"/>
            <a:ext cx="8581800" cy="3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marR="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Expressions of many sentiments, such as anger are metaphorical, thus could not be assessed by the literal meaning of the expression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914400" marR="0" lvl="1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"He's a snake in the grass", the meaning of "snake" is not literal, but refers to someone who is sneaky or untrustworthy.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914400" marR="0" lvl="1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E.g. ’he lost his cool’ or ’you make my blood boil’.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Difficult to create a lexical, or machine learning method to identify meanings in text, without first solving the problem of understanding of metaphorical expressions.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8" name="Google Shape;348;p29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Challenges in NLP: Metaphors</a:t>
            </a:r>
            <a:endParaRPr sz="3600" b="1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0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Quiz</a:t>
            </a:r>
            <a:endParaRPr sz="3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354" name="Google Shape;354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8193" y="932688"/>
            <a:ext cx="4107613" cy="4107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1"/>
          <p:cNvSpPr txBox="1">
            <a:spLocks noGrp="1"/>
          </p:cNvSpPr>
          <p:nvPr>
            <p:ph type="body" idx="1"/>
          </p:nvPr>
        </p:nvSpPr>
        <p:spPr>
          <a:xfrm>
            <a:off x="275375" y="959675"/>
            <a:ext cx="8466000" cy="3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b="1">
                <a:latin typeface="Georgia"/>
                <a:ea typeface="Georgia"/>
                <a:cs typeface="Georgia"/>
                <a:sym typeface="Georgia"/>
              </a:rPr>
              <a:t>Multimodal: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 Integration of natural language processing with other modalities, such as images, videos, and speech, to enhance understanding and generate more comprehensive responses.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914400" marR="0" lvl="1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Visual Speech Recognition: Computer vision techniques to recognise phrases and sentences being spoken by a talking face, with or without the audio.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b="1">
                <a:latin typeface="Georgia"/>
                <a:ea typeface="Georgia"/>
                <a:cs typeface="Georgia"/>
                <a:sym typeface="Georgia"/>
              </a:rPr>
              <a:t>Explainable: 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Models that are more transparent and interpretable, making it easier to understand how the model arrives at its decisions and to identify biases or errors.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914400" marR="0" lvl="1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Example: Providing explanations for chatbot responses to improve user trust and satisfaction.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b="1">
                <a:latin typeface="Georgia"/>
                <a:ea typeface="Georgia"/>
                <a:cs typeface="Georgia"/>
                <a:sym typeface="Georgia"/>
              </a:rPr>
              <a:t>Ethical: 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Addressing the ethical and societal implications of NLP, such as bias, privacy, and job automation.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914400" marR="0" lvl="1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Example: Fair and unbiased models that consider and address biases in the training data and prevent perpetuation of harmful stereotypes.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0" name="Google Shape;360;p31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Future!</a:t>
            </a:r>
            <a:endParaRPr sz="3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2"/>
          <p:cNvSpPr txBox="1">
            <a:spLocks noGrp="1"/>
          </p:cNvSpPr>
          <p:nvPr>
            <p:ph type="body" idx="1"/>
          </p:nvPr>
        </p:nvSpPr>
        <p:spPr>
          <a:xfrm>
            <a:off x="275375" y="959675"/>
            <a:ext cx="8466000" cy="3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b="1">
                <a:latin typeface="Georgia"/>
                <a:ea typeface="Georgia"/>
                <a:cs typeface="Georgia"/>
                <a:sym typeface="Georgia"/>
              </a:rPr>
              <a:t>Zero-shot NLP: 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Developing models that can generalize and learn new tasks with minimal training data, without the need for additional annotations.</a:t>
            </a:r>
            <a:endParaRPr/>
          </a:p>
          <a:p>
            <a:pPr marL="914400" marR="0" lvl="1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Example: A language model that can perform machine translation without being trained on specific language pairs.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6" name="Google Shape;366;p32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Future!</a:t>
            </a:r>
            <a:endParaRPr sz="3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367" name="Google Shape;367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9263" y="2388513"/>
            <a:ext cx="5705475" cy="98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3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48298" y="1755831"/>
            <a:ext cx="4832947" cy="3121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1467" y="164217"/>
            <a:ext cx="5293251" cy="1505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4"/>
          <p:cNvSpPr txBox="1">
            <a:spLocks noGrp="1"/>
          </p:cNvSpPr>
          <p:nvPr>
            <p:ph type="body" idx="1"/>
          </p:nvPr>
        </p:nvSpPr>
        <p:spPr>
          <a:xfrm>
            <a:off x="0" y="883475"/>
            <a:ext cx="9144000" cy="3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 b="1">
                <a:latin typeface="Georgia"/>
                <a:ea typeface="Georgia"/>
                <a:cs typeface="Georgia"/>
                <a:sym typeface="Georgia"/>
              </a:rPr>
              <a:t>Objective: 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To explore the opportunities and challenges of LLMs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Divide yourself into small groups of 3-4.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Come up with a list of questions related to the opportunities and challenges of LLMs.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Each group will be assigned a 5-minute slot to chat with ChatGPT and ask their questions.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914400" marR="0" lvl="1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Take turns asking their questions and engaging in a conversation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Each group will summarize and discuss their insights.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Sample: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914400" marR="0" lvl="1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How do LLMs compare to traditional rule-based systems for language processing?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914400" marR="0" lvl="1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How can LLMs be used to improve accessibility for people with disabilities, such as those with visual or hearing impairments?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914400" marR="0" lvl="1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How can LLMs be used to improve decision-making and prediction in various fields, such as healthcare and finance?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914400" marR="0" lvl="1" indent="-3175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How can LLMs be used to combat fake news and disinformation?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79" name="Google Shape;379;p34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In-Class Activity</a:t>
            </a:r>
            <a:endParaRPr sz="30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2499</Words>
  <Application>Microsoft Macintosh PowerPoint</Application>
  <PresentationFormat>On-screen Show (16:9)</PresentationFormat>
  <Paragraphs>164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Noto Sans Symbols</vt:lpstr>
      <vt:lpstr>Arial</vt:lpstr>
      <vt:lpstr>Quattrocento Sans</vt:lpstr>
      <vt:lpstr>Georgia</vt:lpstr>
      <vt:lpstr>Söhne</vt:lpstr>
      <vt:lpstr>Calibri</vt:lpstr>
      <vt:lpstr>Office Theme</vt:lpstr>
      <vt:lpstr>Natural Language Processing - Concepts and Techniques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Jainendra Shukla</cp:lastModifiedBy>
  <cp:revision>9</cp:revision>
  <dcterms:modified xsi:type="dcterms:W3CDTF">2025-02-06T05:30:02Z</dcterms:modified>
</cp:coreProperties>
</file>