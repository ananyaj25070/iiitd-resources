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Quattrocen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QuattrocentoSans-bold.fntdata"/><Relationship Id="rId10" Type="http://schemas.openxmlformats.org/officeDocument/2006/relationships/slide" Target="slides/slide6.xml"/><Relationship Id="rId32" Type="http://schemas.openxmlformats.org/officeDocument/2006/relationships/font" Target="fonts/QuattrocentoSans-regular.fntdata"/><Relationship Id="rId13" Type="http://schemas.openxmlformats.org/officeDocument/2006/relationships/slide" Target="slides/slide9.xml"/><Relationship Id="rId35" Type="http://schemas.openxmlformats.org/officeDocument/2006/relationships/font" Target="fonts/QuattrocentoSans-boldItalic.fntdata"/><Relationship Id="rId12" Type="http://schemas.openxmlformats.org/officeDocument/2006/relationships/slide" Target="slides/slide8.xml"/><Relationship Id="rId34" Type="http://schemas.openxmlformats.org/officeDocument/2006/relationships/font" Target="fonts/Quattrocento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f87128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f87128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3fb23724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13fb23724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6172bea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16172bea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4e060bc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14e060bc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5899295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5899295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14e060bc5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14e060bc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14e060bc5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14e060bc5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14e060bc5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14e060bc5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14e060bc5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14e060bc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5899295c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65899295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14e060bc5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14e060bc5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Suppose a search engine needs to retrieve information about a particular topic. The search engine can use a semantic network such as WordNet to identify synonyms and related concepts to the search term, making the search more effective and efficient.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4e060bc5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14e060bc5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Suppose a search engine needs to retrieve information about a particular topic. The search engine can use a semantic network such as WordNet to identify synonyms and related concepts to the search term, making the search more effective and efficient.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4e060bc5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14e060bc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14e060bc5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14e060bc5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Suppose a robot needs to navigate a complex environment. The robot can use a frame-based system to represent its knowledge of the environment, including objects, obstacles, and paths. The robot can then reason and make decisions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4e060bc5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14e060bc5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5899295c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5899295c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14e060bc5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14e060bc5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14e060bc5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14e060bc5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14e060bc5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14e060bc5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14e060bc5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14e060bc5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14e060bc5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14e060bc5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14e060bc5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14e060bc5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Overall, the choice of knowledge representation technique depends on the nature of the knowledge being represented, as well as the requirements of the application and the domain.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e9cb6fb95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e9cb6fb95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7286625" y="3562350"/>
            <a:ext cx="1857374" cy="15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797753"/>
            <a:ext cx="73152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9F7F6"/>
              </a:buClr>
              <a:buSzPts val="1800"/>
              <a:buNone/>
              <a:defRPr sz="1800">
                <a:solidFill>
                  <a:srgbClr val="E9F7F6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11480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685800" y="2317221"/>
            <a:ext cx="777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1088"/>
            <a:ext cx="2260623" cy="124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33845" y="1035886"/>
            <a:ext cx="38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633845" y="1655160"/>
            <a:ext cx="38670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4629150" y="1035887"/>
            <a:ext cx="3886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" name="Google Shape;24;p3"/>
          <p:cNvSpPr txBox="1"/>
          <p:nvPr>
            <p:ph idx="4" type="body"/>
          </p:nvPr>
        </p:nvSpPr>
        <p:spPr>
          <a:xfrm>
            <a:off x="4629150" y="1655160"/>
            <a:ext cx="38862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9" name="Google Shape;29;p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" name="Google Shape;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type="title"/>
          </p:nvPr>
        </p:nvSpPr>
        <p:spPr>
          <a:xfrm>
            <a:off x="623888" y="1284317"/>
            <a:ext cx="7886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500"/>
              <a:buFont typeface="Quattrocento Sans"/>
              <a:buNone/>
              <a:defRPr b="0"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623888" y="3414475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633845" y="1035887"/>
            <a:ext cx="78867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" name="Google Shape;45;p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idx="1" type="body"/>
          </p:nvPr>
        </p:nvSpPr>
        <p:spPr>
          <a:xfrm>
            <a:off x="633845" y="1035887"/>
            <a:ext cx="3886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629150" y="1035887"/>
            <a:ext cx="38862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title"/>
          </p:nvPr>
        </p:nvSpPr>
        <p:spPr>
          <a:xfrm>
            <a:off x="630936" y="342900"/>
            <a:ext cx="2948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⚫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⚫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⚫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5pPr>
            <a:lvl6pPr indent="-32385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6pPr>
            <a:lvl7pPr indent="-32385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7pPr>
            <a:lvl8pPr indent="-32385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8pPr>
            <a:lvl9pPr indent="-32385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30936" y="1543049"/>
            <a:ext cx="29487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>
            <p:ph type="title"/>
          </p:nvPr>
        </p:nvSpPr>
        <p:spPr>
          <a:xfrm>
            <a:off x="630936" y="342900"/>
            <a:ext cx="2948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630936" y="1543050"/>
            <a:ext cx="29487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7496" y="-1107763"/>
            <a:ext cx="3599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96" name="Google Shape;96;p11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 rot="5400000">
            <a:off x="5350050" y="1463972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 rot="5400000">
            <a:off x="1349475" y="-450628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6543675" y="277589"/>
            <a:ext cx="0" cy="435480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85799" y="1035886"/>
            <a:ext cx="3834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body"/>
          </p:nvPr>
        </p:nvSpPr>
        <p:spPr>
          <a:xfrm>
            <a:off x="4683577" y="1035886"/>
            <a:ext cx="38289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85799" y="946718"/>
            <a:ext cx="3815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85799" y="1616168"/>
            <a:ext cx="38151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672693" y="946716"/>
            <a:ext cx="3828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4672693" y="1616168"/>
            <a:ext cx="38289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4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33" name="Google Shape;133;p15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⚫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⚫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⚫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5pPr>
            <a:lvl6pPr indent="-32385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6pPr>
            <a:lvl7pPr indent="-32385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7pPr>
            <a:lvl8pPr indent="-32385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8pPr>
            <a:lvl9pPr indent="-32385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⚫"/>
              <a:defRPr sz="1500"/>
            </a:lvl9pPr>
          </a:lstStyle>
          <a:p/>
        </p:txBody>
      </p: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30936" y="1643745"/>
            <a:ext cx="29487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6"/>
          <p:cNvSpPr txBox="1"/>
          <p:nvPr>
            <p:ph type="title"/>
          </p:nvPr>
        </p:nvSpPr>
        <p:spPr>
          <a:xfrm>
            <a:off x="630936" y="342900"/>
            <a:ext cx="29487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>
            <p:ph idx="2" type="pic"/>
          </p:nvPr>
        </p:nvSpPr>
        <p:spPr>
          <a:xfrm>
            <a:off x="3886200" y="742950"/>
            <a:ext cx="4629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630936" y="1643745"/>
            <a:ext cx="2948700" cy="2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2" name="Google Shape;152;p17"/>
          <p:cNvSpPr txBox="1"/>
          <p:nvPr>
            <p:ph type="title"/>
          </p:nvPr>
        </p:nvSpPr>
        <p:spPr>
          <a:xfrm>
            <a:off x="630936" y="342900"/>
            <a:ext cx="29487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2400"/>
              <a:buFont typeface="Quattrocento Sans"/>
              <a:buNone/>
              <a:defRPr b="0" sz="2400">
                <a:solidFill>
                  <a:srgbClr val="3EADA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3" name="Google Shape;153;p17"/>
          <p:cNvCxnSpPr/>
          <p:nvPr/>
        </p:nvCxnSpPr>
        <p:spPr>
          <a:xfrm>
            <a:off x="645450" y="1545772"/>
            <a:ext cx="2948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>
            <p:ph idx="1" type="body"/>
          </p:nvPr>
        </p:nvSpPr>
        <p:spPr>
          <a:xfrm rot="5400000">
            <a:off x="2786946" y="-1122314"/>
            <a:ext cx="3575400" cy="7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2" name="Google Shape;162;p18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0471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 type="twoObj">
  <p:cSld name="TWO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⚫"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845" y="27432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845" y="1371600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6314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idx="1" type="subTitle"/>
          </p:nvPr>
        </p:nvSpPr>
        <p:spPr>
          <a:xfrm>
            <a:off x="4114800" y="2430433"/>
            <a:ext cx="4343400" cy="153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0"/>
          <p:cNvSpPr txBox="1"/>
          <p:nvPr>
            <p:ph type="ctrTitle"/>
          </p:nvPr>
        </p:nvSpPr>
        <p:spPr>
          <a:xfrm>
            <a:off x="628650" y="797750"/>
            <a:ext cx="8458200" cy="1406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Georgia"/>
                <a:ea typeface="Georgia"/>
                <a:cs typeface="Georgia"/>
                <a:sym typeface="Georgia"/>
              </a:rPr>
              <a:t>Lecture 2: Knowledge Representation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Knowledge Representation?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025" y="1166150"/>
            <a:ext cx="5763950" cy="3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What?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 process of representing knowledge in a way that can be interpreted and used by machines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Knowledge representation involves transforming knowledge into a structured format that can be processed and manipulated by computer programs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Why is important?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Enables computers to reason, learn and make decisions based on knowledge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Helps in solving complex problems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Facilitates knowledge sharing and reuse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Knowledge Representation?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Logic-based representation: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uses formal logic to represent knowledge, e.g., propositional logic, predicate logic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Semantic networks: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represent knowledge as nodes and links between them, e.g., concept maps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Frames and scripts: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organize knowledge into hierarchical structures with attributes and values, e.g., object-oriented programming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Rule-based systems: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represent knowledge as a set of rules or conditional statements, e.g., expert systems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Types of </a:t>
            </a: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Knowledge Representation?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Uses formal logic to represent knowledge, e.g., propositional logic, predicate logic.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Propositional logic is a type of logic-based representation that uses statements or propositions to represent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Each proposition is either true or false.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All men are mortal [p]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Socrates is a man [q]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Therefore, Socrates is mortal. [r]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All politicians are honest.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Sambit is a politician.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Sambit is honest.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Logic Representation: Propositional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Predicate logic is another type of logic-based representation that uses predicates or relations to represent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Predicates can take one or more arguments, called terms, which can be constants, variables, or other predicates.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Predicate logic is more expressive than propositional logic and can be used to represent more complex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All dogs are mammals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For all x, if Dog(x), then Mammal(x)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where x is a variable that represents any dog,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Dog is a predicate that represents the concept of being a dog, and Mammal is a predicate that represents the concept of being a mammal.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This logical statement means that if something is a dog, then it is also a mammal.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Logic Representation: Predicate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Advantages: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Provides a formal and precise way to represent knowledge and reason about it.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Well-suited for tasks that involve deductive reasoning, such as automated theorem proving and decision-making.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used to represent complex knowledge and relationships between concepts.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Disadvantages: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limiting for tasks that involve uncertain or incomplete knowledge, as it assumes a binary true/false representation of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difficult and time-consuming to create logic-based representations, as they often require extensive knowledge engineering.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May not be suitable for tasks that require more flexible or nuanced reasoning, such as natural language understanding or common-sense reasoning.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Logic: Pros and Cons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Semantic networks provide a graphical representation of knowledge, making it easier to understand and visualize.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Represents knowledge as nodes and links between them, e.g., concept maps.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Nodes represent concepts or objects, and links represent relationships between them.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They can represent complex relationships between concepts and objects.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Suppose we want to represent knowledge about different types of food and their relationships to each other.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We can use a semantic network to represent this knowledge.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For example, we can represent the concept of "pizza" as a node in the network, with links to other nodes representing related concepts such as "cheese", "tomato sauce", "pepperoni", etc.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Semantic networks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Time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275375" y="959675"/>
            <a:ext cx="8466000" cy="93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They are useful in natural language processing, information retrieval, and knowledge-based systems.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Examples: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Semantic networks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88" y="1856101"/>
            <a:ext cx="3884325" cy="25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/>
        </p:nvSpPr>
        <p:spPr>
          <a:xfrm>
            <a:off x="186550" y="4521650"/>
            <a:ext cx="435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WordNet: a lexical database that organizes English words into synsets (sets of synonyms)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363" y="2123150"/>
            <a:ext cx="4446875" cy="20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4515288" y="4559075"/>
            <a:ext cx="435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Cyc: a large-scale knowledge base that contains a vast amount of common sense knowledge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275375" y="959675"/>
            <a:ext cx="8466000" cy="401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Advantages: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Easy to understand and interpret: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Graphical representation that is easy for humans to understand and interpret.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Useful for taxonomies and hierarchies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Support inheritance and default reasoning: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Semantic networks can support inheritance, where properties of parent nodes are automatically inherited by child nodes.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Disadvantages: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Limited expressive power: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Limited in their expressive power and may not be able to represent complex relationships or contexts.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Can be difficult to scale: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As the number of concepts and relationships in a semantic network grows, it can become difficult to manage and maintain.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Can be ambiguous: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The same concept may be represented by different nodes in different parts of the network, leading to ambiguity and inconsistency.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Semantic networks: Pros and Cons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 type of knowledge representation technique that represents knowledge as hierarchical structures of frames or schemas.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Frames represent concepts or objects, while scripts represent sequences of events or actions.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Frames organize knowledge into a set of attributes or properties and their values, representing objects and concepts.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Frames and scripts are often used in natural language understanding and other AI applications.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Frames and scripts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275375" y="959675"/>
            <a:ext cx="8466000" cy="261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Suppose we want to represent knowledge about different types of vehicles, such as cars, trucks, and buses.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We can use frames to represent this knowledge.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For example, we can create a frame for the concept of "car" that includes attributes such as "make", "model", "color", "year", and "number of doors".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Each instance of the frame would represent a specific car, with values for each attribute.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Frames and scripts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6049500" y="4133025"/>
            <a:ext cx="3094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Object-oriented Programming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6975" y="3055700"/>
            <a:ext cx="3490050" cy="19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Advantages: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Used to represent complex and detailed knowledge, including both attributes and relationships between concepts.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Easily extended and modified, allowing for new knowledge to be added without major restructuring of the existing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Used to represent knowledge in a more natural and intuitive way than other types of knowledge representation, particularly for tasks such as natural language understanding.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isadvantages: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Computationally expensive to process and reason about, particularly for large or complex knowledge bases.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Prone to ambiguity and inconsistency, particularly when representing complex relationships between concepts or when multiple frames or scripts overlap or contradict each other.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Frames and scripts: Pros and Cons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633845" y="274320"/>
            <a:ext cx="7084200" cy="61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Time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Rule-based systems represent knowledge as a set of rules that specify conditions and actions.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Rules are often represented as if-then statements or production rules.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Rule-based systems are often used in expert systems and other AI applications.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Expert System: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A rule-based expert system for diagnosing medical conditions might have rules such as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"If the patient has a fever and a sore throat, then diagnose them with strep throat".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Another rule might be "If the patient has a rash and joint pain, then diagnose them with Lyme disease".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Rule-based systems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Fraud detection systems: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These systems use a set of rules to identify patterns of behavior that are consistent with fraud, such as unusual spending patterns or multiple purchases in different locations within a short period of time.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Traffic control systems: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These systems use a set of rules to determine which traffic lights should be green, yellow, or red based on factors such as traffic volume and pedestrian crossings.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Manufacturing control systems: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Some manufacturing plants use rule-based systems to control the production process. For example, a plant that produces steel may use a set of rules to adjust the temperature and pressure of the furnace based on the type of steel being produced and the desired quality of the final product.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</a:t>
            </a: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Rule-based systems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Advantages: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written in a clear and concise way.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used to model complex decision-making processes, such as in medical diagnosis or financial planning.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used to encode expert knowledge, making it accessible to non-experts.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Disadvantages: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difficult to scale to large knowledge bases, since the number of rules can become unwieldy.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inflexible, since they rely on pre-defined rules and may not be able to adapt to changing situations.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suffer from uncertainty and ambiguity, since rules may be incomplete or contradictory.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Pros and Cons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Ontologies are a way of representing knowledge by specifying a set of concepts and the relationships between them.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6195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An ontology can be thought of as a structured vocabulary for a particular domain or subject area.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Used to integrate knowledge from multiple sources and represent it in a consistent and coherent way.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Allow for reasoning about the relationships between concepts, such as inferring new knowledge based on existing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Can be used to represent knowledge in a wide range of domains, such as biology, medicine, finance, and more.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Examples: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Gene Ontology and FOAF Ontology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Typically represented using a formal language, such as the Web Ontology Language (OWL).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Ontology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Expressiveness: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More expressive techniques are better suited for representing complex and abstract knowledge.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Ease of use: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Techniques that are intuitive and easy to learn are preferred, especially for applications that involve a large number of knowledge sources.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Scalability: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Techniques that can scale to large knowledge bases are preferred for applications that involve big data or knowledge-intensive tasks.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Maintainability: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Techniques that are easy to update and maintain are preferred, especially for applications that require frequent updates or changes to the knowledge base.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 to </a:t>
            </a: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Choose</a:t>
            </a: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idx="1" type="body"/>
          </p:nvPr>
        </p:nvSpPr>
        <p:spPr>
          <a:xfrm>
            <a:off x="275375" y="959675"/>
            <a:ext cx="8466000" cy="359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Semantic networks are best suited for representing simple knowledge that can be easily visualized as a network.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A map of the connections between cities.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Frames are best suited for representing complex objects that have many different properties and relationships.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Description of a car that includes its make, model, year, color, and other attributes.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Rules are best suited for representing knowledge that involves decision-making or inference.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Set of rules that determine whether a loan application should be approved or denied.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Ontologies are best suited for representing knowledge in complex domains that involve many different concepts and relationships.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Example: Gene Ontology, which represents knowledge about genes and their functions.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5" name="Google Shape;305;p41"/>
          <p:cNvSpPr txBox="1"/>
          <p:nvPr/>
        </p:nvSpPr>
        <p:spPr>
          <a:xfrm>
            <a:off x="656125" y="232675"/>
            <a:ext cx="788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Suggestion</a:t>
            </a:r>
            <a:endParaRPr b="1" sz="3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187" y="1020025"/>
            <a:ext cx="4033625" cy="40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