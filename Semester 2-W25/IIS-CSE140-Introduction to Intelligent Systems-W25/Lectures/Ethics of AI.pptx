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 id="275" r:id="rId15"/>
    <p:sldId id="269" r:id="rId16"/>
    <p:sldId id="277" r:id="rId17"/>
    <p:sldId id="276" r:id="rId18"/>
    <p:sldId id="270" r:id="rId19"/>
    <p:sldId id="271" r:id="rId20"/>
    <p:sldId id="272" r:id="rId21"/>
    <p:sldId id="273" r:id="rId22"/>
    <p:sldId id="274" r:id="rId23"/>
  </p:sldIdLst>
  <p:sldSz cx="9144000" cy="5143500" type="screen16x9"/>
  <p:notesSz cx="6858000" cy="9947275"/>
  <p:embeddedFontLst>
    <p:embeddedFont>
      <p:font typeface="Georgia" panose="02040502050405020303" pitchFamily="18" charset="0"/>
      <p:regular r:id="rId25"/>
      <p:bold r:id="rId26"/>
      <p:italic r:id="rId27"/>
      <p:boldItalic r:id="rId28"/>
    </p:embeddedFont>
    <p:embeddedFont>
      <p:font typeface="Quattrocento Sans" panose="020B0502050000020003"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o0Yxw3epV48WkE6iHsEox+vmEi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724956"/>
            <a:ext cx="5486400" cy="4476274"/>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notes"/>
          <p:cNvSpPr txBox="1">
            <a:spLocks noGrp="1"/>
          </p:cNvSpPr>
          <p:nvPr>
            <p:ph type="body" idx="1"/>
          </p:nvPr>
        </p:nvSpPr>
        <p:spPr>
          <a:xfrm>
            <a:off x="685800" y="4724956"/>
            <a:ext cx="54864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2: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c9fda75f24_0_173:notes"/>
          <p:cNvSpPr>
            <a:spLocks noGrp="1" noRot="1" noChangeAspect="1"/>
          </p:cNvSpPr>
          <p:nvPr>
            <p:ph type="sldImg" idx="2"/>
          </p:nvPr>
        </p:nvSpPr>
        <p:spPr>
          <a:xfrm>
            <a:off x="381300" y="746046"/>
            <a:ext cx="6096000" cy="3730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2c9fda75f24_0_173: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c9fda75f24_0_184:notes"/>
          <p:cNvSpPr>
            <a:spLocks noGrp="1" noRot="1" noChangeAspect="1"/>
          </p:cNvSpPr>
          <p:nvPr>
            <p:ph type="sldImg" idx="2"/>
          </p:nvPr>
        </p:nvSpPr>
        <p:spPr>
          <a:xfrm>
            <a:off x="381300" y="746046"/>
            <a:ext cx="6096000" cy="3730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2c9fda75f24_0_184: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c9fda75f24_0_194:notes"/>
          <p:cNvSpPr>
            <a:spLocks noGrp="1" noRot="1" noChangeAspect="1"/>
          </p:cNvSpPr>
          <p:nvPr>
            <p:ph type="sldImg" idx="2"/>
          </p:nvPr>
        </p:nvSpPr>
        <p:spPr>
          <a:xfrm>
            <a:off x="381300" y="746046"/>
            <a:ext cx="6096000" cy="3730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2c9fda75f24_0_194: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9fda75f24_0_208: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2c9fda75f24_0_208: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9: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29: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c9fda75f24_0_201:notes"/>
          <p:cNvSpPr txBox="1">
            <a:spLocks noGrp="1"/>
          </p:cNvSpPr>
          <p:nvPr>
            <p:ph type="body" idx="1"/>
          </p:nvPr>
        </p:nvSpPr>
        <p:spPr>
          <a:xfrm>
            <a:off x="914400" y="4724956"/>
            <a:ext cx="50292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1" name="Google Shape;271;g2c9fda75f24_0_201: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30: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30: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1: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31: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c9fda75f24_0_222: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2c9fda75f24_0_222: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9D7EA2F2-A02D-1A56-5B45-12399C2A3CD1}"/>
            </a:ext>
          </a:extLst>
        </p:cNvPr>
        <p:cNvGrpSpPr/>
        <p:nvPr/>
      </p:nvGrpSpPr>
      <p:grpSpPr>
        <a:xfrm>
          <a:off x="0" y="0"/>
          <a:ext cx="0" cy="0"/>
          <a:chOff x="0" y="0"/>
          <a:chExt cx="0" cy="0"/>
        </a:xfrm>
      </p:grpSpPr>
      <p:sp>
        <p:nvSpPr>
          <p:cNvPr id="276" name="Google Shape;276;g2c9fda75f24_0_222:notes">
            <a:extLst>
              <a:ext uri="{FF2B5EF4-FFF2-40B4-BE49-F238E27FC236}">
                <a16:creationId xmlns:a16="http://schemas.microsoft.com/office/drawing/2014/main" id="{C1442ABA-121E-FFC2-A345-5E237536F465}"/>
              </a:ext>
            </a:extLst>
          </p:cNvPr>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2c9fda75f24_0_222:notes">
            <a:extLst>
              <a:ext uri="{FF2B5EF4-FFF2-40B4-BE49-F238E27FC236}">
                <a16:creationId xmlns:a16="http://schemas.microsoft.com/office/drawing/2014/main" id="{513C2D4A-13B5-D6B4-2EF5-259746D45076}"/>
              </a:ext>
            </a:extLst>
          </p:cNvPr>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1901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c9fda75f24_0_386: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g2c9fda75f24_0_386: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a:extLst>
            <a:ext uri="{FF2B5EF4-FFF2-40B4-BE49-F238E27FC236}">
              <a16:creationId xmlns:a16="http://schemas.microsoft.com/office/drawing/2014/main" id="{C03021B4-DE81-F120-6B88-717EEFAEFD5F}"/>
            </a:ext>
          </a:extLst>
        </p:cNvPr>
        <p:cNvGrpSpPr/>
        <p:nvPr/>
      </p:nvGrpSpPr>
      <p:grpSpPr>
        <a:xfrm>
          <a:off x="0" y="0"/>
          <a:ext cx="0" cy="0"/>
          <a:chOff x="0" y="0"/>
          <a:chExt cx="0" cy="0"/>
        </a:xfrm>
      </p:grpSpPr>
      <p:sp>
        <p:nvSpPr>
          <p:cNvPr id="282" name="Google Shape;282;g2c9fda75f24_0_386:notes">
            <a:extLst>
              <a:ext uri="{FF2B5EF4-FFF2-40B4-BE49-F238E27FC236}">
                <a16:creationId xmlns:a16="http://schemas.microsoft.com/office/drawing/2014/main" id="{958E585F-594C-333D-BCEE-6F48F818FBE8}"/>
              </a:ext>
            </a:extLst>
          </p:cNvPr>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g2c9fda75f24_0_386:notes">
            <a:extLst>
              <a:ext uri="{FF2B5EF4-FFF2-40B4-BE49-F238E27FC236}">
                <a16:creationId xmlns:a16="http://schemas.microsoft.com/office/drawing/2014/main" id="{95FB37E9-CBF6-57BE-45CB-FD6AA6DFB0BC}"/>
              </a:ext>
            </a:extLst>
          </p:cNvPr>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8224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a:extLst>
            <a:ext uri="{FF2B5EF4-FFF2-40B4-BE49-F238E27FC236}">
              <a16:creationId xmlns:a16="http://schemas.microsoft.com/office/drawing/2014/main" id="{89DDB898-B1EC-9C71-97AC-7CEFB80A9C6C}"/>
            </a:ext>
          </a:extLst>
        </p:cNvPr>
        <p:cNvGrpSpPr/>
        <p:nvPr/>
      </p:nvGrpSpPr>
      <p:grpSpPr>
        <a:xfrm>
          <a:off x="0" y="0"/>
          <a:ext cx="0" cy="0"/>
          <a:chOff x="0" y="0"/>
          <a:chExt cx="0" cy="0"/>
        </a:xfrm>
      </p:grpSpPr>
      <p:sp>
        <p:nvSpPr>
          <p:cNvPr id="282" name="Google Shape;282;g2c9fda75f24_0_386:notes">
            <a:extLst>
              <a:ext uri="{FF2B5EF4-FFF2-40B4-BE49-F238E27FC236}">
                <a16:creationId xmlns:a16="http://schemas.microsoft.com/office/drawing/2014/main" id="{83F401A8-7C8D-F3BD-18C3-8073CDE550D0}"/>
              </a:ext>
            </a:extLst>
          </p:cNvPr>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3" name="Google Shape;283;g2c9fda75f24_0_386:notes">
            <a:extLst>
              <a:ext uri="{FF2B5EF4-FFF2-40B4-BE49-F238E27FC236}">
                <a16:creationId xmlns:a16="http://schemas.microsoft.com/office/drawing/2014/main" id="{C3BBE30D-DC07-7628-37C2-2704F772FC99}"/>
              </a:ext>
            </a:extLst>
          </p:cNvPr>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11757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c9fda75f24_0_391:notes"/>
          <p:cNvSpPr>
            <a:spLocks noGrp="1" noRot="1" noChangeAspect="1"/>
          </p:cNvSpPr>
          <p:nvPr>
            <p:ph type="sldImg" idx="2"/>
          </p:nvPr>
        </p:nvSpPr>
        <p:spPr>
          <a:xfrm>
            <a:off x="381300" y="746046"/>
            <a:ext cx="6096000" cy="3730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2c9fda75f24_0_391: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c9fda75f24_0_396:notes"/>
          <p:cNvSpPr>
            <a:spLocks noGrp="1" noRot="1" noChangeAspect="1"/>
          </p:cNvSpPr>
          <p:nvPr>
            <p:ph type="sldImg" idx="2"/>
          </p:nvPr>
        </p:nvSpPr>
        <p:spPr>
          <a:xfrm>
            <a:off x="381300" y="746046"/>
            <a:ext cx="6096000" cy="37302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2c9fda75f24_0_396:notes"/>
          <p:cNvSpPr txBox="1">
            <a:spLocks noGrp="1"/>
          </p:cNvSpPr>
          <p:nvPr>
            <p:ph type="body" idx="1"/>
          </p:nvPr>
        </p:nvSpPr>
        <p:spPr>
          <a:xfrm>
            <a:off x="685800" y="4724956"/>
            <a:ext cx="5486400" cy="4476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5: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p5: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2:notes"/>
          <p:cNvSpPr txBox="1">
            <a:spLocks noGrp="1"/>
          </p:cNvSpPr>
          <p:nvPr>
            <p:ph type="body" idx="1"/>
          </p:nvPr>
        </p:nvSpPr>
        <p:spPr>
          <a:xfrm>
            <a:off x="914400" y="4724956"/>
            <a:ext cx="50292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7" name="Google Shape;307;p32: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a:spLocks noGrp="1" noRot="1" noChangeAspect="1"/>
          </p:cNvSpPr>
          <p:nvPr>
            <p:ph type="sldImg" idx="2"/>
          </p:nvPr>
        </p:nvSpPr>
        <p:spPr>
          <a:xfrm>
            <a:off x="114300" y="746125"/>
            <a:ext cx="6629400" cy="3730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p6:notes"/>
          <p:cNvSpPr txBox="1">
            <a:spLocks noGrp="1"/>
          </p:cNvSpPr>
          <p:nvPr>
            <p:ph type="body" idx="1"/>
          </p:nvPr>
        </p:nvSpPr>
        <p:spPr>
          <a:xfrm>
            <a:off x="685800" y="4724956"/>
            <a:ext cx="5486400" cy="447627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EADA7"/>
        </a:solidFill>
        <a:effectLst/>
      </p:bgPr>
    </p:bg>
    <p:spTree>
      <p:nvGrpSpPr>
        <p:cNvPr id="1" name="Shape 11"/>
        <p:cNvGrpSpPr/>
        <p:nvPr/>
      </p:nvGrpSpPr>
      <p:grpSpPr>
        <a:xfrm>
          <a:off x="0" y="0"/>
          <a:ext cx="0" cy="0"/>
          <a:chOff x="0" y="0"/>
          <a:chExt cx="0" cy="0"/>
        </a:xfrm>
      </p:grpSpPr>
      <p:pic>
        <p:nvPicPr>
          <p:cNvPr id="12" name="Google Shape;12;p8" descr="IIITD_pptslide_jpeg-03.jpg"/>
          <p:cNvPicPr preferRelativeResize="0"/>
          <p:nvPr/>
        </p:nvPicPr>
        <p:blipFill rotWithShape="1">
          <a:blip r:embed="rId2">
            <a:alphaModFix/>
          </a:blip>
          <a:srcRect l="72917" t="69259"/>
          <a:stretch/>
        </p:blipFill>
        <p:spPr>
          <a:xfrm>
            <a:off x="7286625" y="3562350"/>
            <a:ext cx="1857374" cy="1581152"/>
          </a:xfrm>
          <a:prstGeom prst="rect">
            <a:avLst/>
          </a:prstGeom>
          <a:noFill/>
          <a:ln>
            <a:noFill/>
          </a:ln>
        </p:spPr>
      </p:pic>
      <p:sp>
        <p:nvSpPr>
          <p:cNvPr id="13" name="Google Shape;13;p8"/>
          <p:cNvSpPr txBox="1">
            <a:spLocks noGrp="1"/>
          </p:cNvSpPr>
          <p:nvPr>
            <p:ph type="ctrTitle"/>
          </p:nvPr>
        </p:nvSpPr>
        <p:spPr>
          <a:xfrm>
            <a:off x="1143000" y="797753"/>
            <a:ext cx="7315200" cy="1406400"/>
          </a:xfrm>
          <a:prstGeom prst="rect">
            <a:avLst/>
          </a:prstGeom>
          <a:noFill/>
          <a:ln>
            <a:noFill/>
          </a:ln>
        </p:spPr>
        <p:txBody>
          <a:bodyPr spcFirstLastPara="1" wrap="square" lIns="68575" tIns="34275" rIns="68575" bIns="34275" anchor="b" anchorCtr="0">
            <a:noAutofit/>
          </a:bodyPr>
          <a:lstStyle>
            <a:lvl1pPr lvl="0" algn="r">
              <a:lnSpc>
                <a:spcPct val="90000"/>
              </a:lnSpc>
              <a:spcBef>
                <a:spcPts val="0"/>
              </a:spcBef>
              <a:spcAft>
                <a:spcPts val="0"/>
              </a:spcAft>
              <a:buClr>
                <a:schemeClr val="lt1"/>
              </a:buClr>
              <a:buSzPts val="4100"/>
              <a:buFont typeface="Quattrocento Sans"/>
              <a:buNone/>
              <a:defRPr sz="41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8"/>
          <p:cNvSpPr txBox="1">
            <a:spLocks noGrp="1"/>
          </p:cNvSpPr>
          <p:nvPr>
            <p:ph type="subTitle" idx="1"/>
          </p:nvPr>
        </p:nvSpPr>
        <p:spPr>
          <a:xfrm>
            <a:off x="4114800" y="2430433"/>
            <a:ext cx="4343400" cy="1532100"/>
          </a:xfrm>
          <a:prstGeom prst="rect">
            <a:avLst/>
          </a:prstGeom>
          <a:noFill/>
          <a:ln>
            <a:noFill/>
          </a:ln>
        </p:spPr>
        <p:txBody>
          <a:bodyPr spcFirstLastPara="1" wrap="square" lIns="68575" tIns="34275" rIns="68575" bIns="34275" anchor="t" anchorCtr="0">
            <a:noAutofit/>
          </a:bodyPr>
          <a:lstStyle>
            <a:lvl1pPr lvl="0" algn="r">
              <a:lnSpc>
                <a:spcPct val="90000"/>
              </a:lnSpc>
              <a:spcBef>
                <a:spcPts val="800"/>
              </a:spcBef>
              <a:spcAft>
                <a:spcPts val="0"/>
              </a:spcAft>
              <a:buClr>
                <a:srgbClr val="E9F7F6"/>
              </a:buClr>
              <a:buSzPts val="1800"/>
              <a:buNone/>
              <a:defRPr sz="1800">
                <a:solidFill>
                  <a:srgbClr val="E9F7F6"/>
                </a:solidFill>
              </a:defRPr>
            </a:lvl1pPr>
            <a:lvl2pPr lvl="1" algn="ctr">
              <a:lnSpc>
                <a:spcPct val="90000"/>
              </a:lnSpc>
              <a:spcBef>
                <a:spcPts val="400"/>
              </a:spcBef>
              <a:spcAft>
                <a:spcPts val="0"/>
              </a:spcAft>
              <a:buClr>
                <a:schemeClr val="dk1"/>
              </a:buClr>
              <a:buSzPts val="2100"/>
              <a:buNone/>
              <a:defRPr sz="2100"/>
            </a:lvl2pPr>
            <a:lvl3pPr lvl="2" algn="ctr">
              <a:lnSpc>
                <a:spcPct val="90000"/>
              </a:lnSpc>
              <a:spcBef>
                <a:spcPts val="400"/>
              </a:spcBef>
              <a:spcAft>
                <a:spcPts val="0"/>
              </a:spcAft>
              <a:buClr>
                <a:schemeClr val="dk1"/>
              </a:buClr>
              <a:buSzPts val="1800"/>
              <a:buNone/>
              <a:defRPr sz="1800"/>
            </a:lvl3pPr>
            <a:lvl4pPr lvl="3" algn="ctr">
              <a:lnSpc>
                <a:spcPct val="90000"/>
              </a:lnSpc>
              <a:spcBef>
                <a:spcPts val="400"/>
              </a:spcBef>
              <a:spcAft>
                <a:spcPts val="0"/>
              </a:spcAft>
              <a:buClr>
                <a:schemeClr val="dk1"/>
              </a:buClr>
              <a:buSzPts val="1500"/>
              <a:buNone/>
              <a:defRPr sz="1500"/>
            </a:lvl4pPr>
            <a:lvl5pPr lvl="4" algn="ctr">
              <a:lnSpc>
                <a:spcPct val="90000"/>
              </a:lnSpc>
              <a:spcBef>
                <a:spcPts val="400"/>
              </a:spcBef>
              <a:spcAft>
                <a:spcPts val="0"/>
              </a:spcAft>
              <a:buClr>
                <a:schemeClr val="dk1"/>
              </a:buClr>
              <a:buSzPts val="1500"/>
              <a:buNone/>
              <a:defRPr sz="1500"/>
            </a:lvl5pPr>
            <a:lvl6pPr lvl="5" algn="ctr">
              <a:lnSpc>
                <a:spcPct val="100000"/>
              </a:lnSpc>
              <a:spcBef>
                <a:spcPts val="300"/>
              </a:spcBef>
              <a:spcAft>
                <a:spcPts val="0"/>
              </a:spcAft>
              <a:buClr>
                <a:schemeClr val="dk1"/>
              </a:buClr>
              <a:buSzPts val="1500"/>
              <a:buNone/>
              <a:defRPr sz="1500"/>
            </a:lvl6pPr>
            <a:lvl7pPr lvl="6" algn="ctr">
              <a:lnSpc>
                <a:spcPct val="100000"/>
              </a:lnSpc>
              <a:spcBef>
                <a:spcPts val="300"/>
              </a:spcBef>
              <a:spcAft>
                <a:spcPts val="0"/>
              </a:spcAft>
              <a:buClr>
                <a:schemeClr val="dk1"/>
              </a:buClr>
              <a:buSzPts val="1500"/>
              <a:buNone/>
              <a:defRPr sz="1500"/>
            </a:lvl7pPr>
            <a:lvl8pPr lvl="7" algn="ctr">
              <a:lnSpc>
                <a:spcPct val="100000"/>
              </a:lnSpc>
              <a:spcBef>
                <a:spcPts val="300"/>
              </a:spcBef>
              <a:spcAft>
                <a:spcPts val="0"/>
              </a:spcAft>
              <a:buClr>
                <a:schemeClr val="dk1"/>
              </a:buClr>
              <a:buSzPts val="1500"/>
              <a:buNone/>
              <a:defRPr sz="1500"/>
            </a:lvl8pPr>
            <a:lvl9pPr lvl="8" algn="ctr">
              <a:lnSpc>
                <a:spcPct val="100000"/>
              </a:lnSpc>
              <a:spcBef>
                <a:spcPts val="300"/>
              </a:spcBef>
              <a:spcAft>
                <a:spcPts val="0"/>
              </a:spcAft>
              <a:buClr>
                <a:schemeClr val="dk1"/>
              </a:buClr>
              <a:buSzPts val="1500"/>
              <a:buNone/>
              <a:defRPr sz="1500"/>
            </a:lvl9pPr>
          </a:lstStyle>
          <a:p>
            <a:endParaRPr/>
          </a:p>
        </p:txBody>
      </p:sp>
      <p:sp>
        <p:nvSpPr>
          <p:cNvPr id="15" name="Google Shape;15;p8"/>
          <p:cNvSpPr txBox="1">
            <a:spLocks noGrp="1"/>
          </p:cNvSpPr>
          <p:nvPr>
            <p:ph type="dt" idx="10"/>
          </p:nvPr>
        </p:nvSpPr>
        <p:spPr>
          <a:xfrm>
            <a:off x="411480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8"/>
          <p:cNvCxnSpPr/>
          <p:nvPr/>
        </p:nvCxnSpPr>
        <p:spPr>
          <a:xfrm>
            <a:off x="685800" y="2317221"/>
            <a:ext cx="7772400" cy="0"/>
          </a:xfrm>
          <a:prstGeom prst="straightConnector1">
            <a:avLst/>
          </a:prstGeom>
          <a:noFill/>
          <a:ln w="9525" cap="flat" cmpd="sng">
            <a:solidFill>
              <a:schemeClr val="lt1"/>
            </a:solidFill>
            <a:prstDash val="solid"/>
            <a:round/>
            <a:headEnd type="none" w="sm" len="sm"/>
            <a:tailEnd type="none" w="sm" len="sm"/>
          </a:ln>
        </p:spPr>
      </p:cxnSp>
      <p:pic>
        <p:nvPicPr>
          <p:cNvPr id="18" name="Google Shape;18;p8"/>
          <p:cNvPicPr preferRelativeResize="0"/>
          <p:nvPr/>
        </p:nvPicPr>
        <p:blipFill rotWithShape="1">
          <a:blip r:embed="rId3">
            <a:alphaModFix/>
          </a:blip>
          <a:srcRect/>
          <a:stretch/>
        </p:blipFill>
        <p:spPr>
          <a:xfrm>
            <a:off x="685800" y="3401088"/>
            <a:ext cx="2260623" cy="12441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pic>
        <p:nvPicPr>
          <p:cNvPr id="20" name="Google Shape;20;p9"/>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21" name="Google Shape;21;p9"/>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9"/>
          <p:cNvSpPr txBox="1">
            <a:spLocks noGrp="1"/>
          </p:cNvSpPr>
          <p:nvPr>
            <p:ph type="body" idx="1"/>
          </p:nvPr>
        </p:nvSpPr>
        <p:spPr>
          <a:xfrm>
            <a:off x="633845" y="1035887"/>
            <a:ext cx="7886700" cy="3599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23" name="Google Shape;23;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 name="Google Shape;24;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9"/>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9"/>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27" name="Google Shape;27;p9"/>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8"/>
        <p:cNvGrpSpPr/>
        <p:nvPr/>
      </p:nvGrpSpPr>
      <p:grpSpPr>
        <a:xfrm>
          <a:off x="0" y="0"/>
          <a:ext cx="0" cy="0"/>
          <a:chOff x="0" y="0"/>
          <a:chExt cx="0" cy="0"/>
        </a:xfrm>
      </p:grpSpPr>
      <p:pic>
        <p:nvPicPr>
          <p:cNvPr id="29" name="Google Shape;29;p10"/>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30" name="Google Shape;30;p10"/>
          <p:cNvSpPr txBox="1">
            <a:spLocks noGrp="1"/>
          </p:cNvSpPr>
          <p:nvPr>
            <p:ph type="body" idx="1"/>
          </p:nvPr>
        </p:nvSpPr>
        <p:spPr>
          <a:xfrm>
            <a:off x="633845" y="1035886"/>
            <a:ext cx="3867000" cy="6192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31" name="Google Shape;31;p10"/>
          <p:cNvSpPr txBox="1">
            <a:spLocks noGrp="1"/>
          </p:cNvSpPr>
          <p:nvPr>
            <p:ph type="body" idx="2"/>
          </p:nvPr>
        </p:nvSpPr>
        <p:spPr>
          <a:xfrm>
            <a:off x="633845" y="1655160"/>
            <a:ext cx="3867000" cy="29859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32" name="Google Shape;32;p10"/>
          <p:cNvSpPr txBox="1">
            <a:spLocks noGrp="1"/>
          </p:cNvSpPr>
          <p:nvPr>
            <p:ph type="body" idx="3"/>
          </p:nvPr>
        </p:nvSpPr>
        <p:spPr>
          <a:xfrm>
            <a:off x="4629150" y="1035887"/>
            <a:ext cx="3886200" cy="6192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33" name="Google Shape;33;p10"/>
          <p:cNvSpPr txBox="1">
            <a:spLocks noGrp="1"/>
          </p:cNvSpPr>
          <p:nvPr>
            <p:ph type="body" idx="4"/>
          </p:nvPr>
        </p:nvSpPr>
        <p:spPr>
          <a:xfrm>
            <a:off x="4629150" y="1655160"/>
            <a:ext cx="3886200" cy="29859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34" name="Google Shape;34;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6" name="Google Shape;36;p10"/>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7" name="Google Shape;37;p10"/>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38" name="Google Shape;38;p10"/>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39" name="Google Shape;39;p10"/>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pic>
        <p:nvPicPr>
          <p:cNvPr id="41" name="Google Shape;41;p11"/>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42" name="Google Shape;42;p11"/>
          <p:cNvSpPr txBox="1">
            <a:spLocks noGrp="1"/>
          </p:cNvSpPr>
          <p:nvPr>
            <p:ph type="title"/>
          </p:nvPr>
        </p:nvSpPr>
        <p:spPr>
          <a:xfrm>
            <a:off x="623888" y="1284317"/>
            <a:ext cx="7886700" cy="21384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3EADA7"/>
              </a:buClr>
              <a:buSzPts val="4500"/>
              <a:buFont typeface="Quattrocento Sans"/>
              <a:buNone/>
              <a:defRPr sz="45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11"/>
          <p:cNvSpPr txBox="1">
            <a:spLocks noGrp="1"/>
          </p:cNvSpPr>
          <p:nvPr>
            <p:ph type="body" idx="1"/>
          </p:nvPr>
        </p:nvSpPr>
        <p:spPr>
          <a:xfrm>
            <a:off x="623888" y="3414475"/>
            <a:ext cx="7886700" cy="11253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3F3F3F"/>
              </a:buClr>
              <a:buSzPts val="1800"/>
              <a:buNone/>
              <a:defRPr sz="1800">
                <a:solidFill>
                  <a:srgbClr val="3F3F3F"/>
                </a:solidFill>
              </a:defRPr>
            </a:lvl1pPr>
            <a:lvl2pPr marL="914400" lvl="1" indent="-228600" algn="l">
              <a:lnSpc>
                <a:spcPct val="90000"/>
              </a:lnSpc>
              <a:spcBef>
                <a:spcPts val="400"/>
              </a:spcBef>
              <a:spcAft>
                <a:spcPts val="0"/>
              </a:spcAft>
              <a:buClr>
                <a:srgbClr val="888888"/>
              </a:buClr>
              <a:buSzPts val="1400"/>
              <a:buNone/>
              <a:defRPr sz="1400">
                <a:solidFill>
                  <a:srgbClr val="888888"/>
                </a:solidFill>
              </a:defRPr>
            </a:lvl2pPr>
            <a:lvl3pPr marL="1371600" lvl="2" indent="-228600" algn="l">
              <a:lnSpc>
                <a:spcPct val="90000"/>
              </a:lnSpc>
              <a:spcBef>
                <a:spcPts val="400"/>
              </a:spcBef>
              <a:spcAft>
                <a:spcPts val="0"/>
              </a:spcAft>
              <a:buClr>
                <a:srgbClr val="888888"/>
              </a:buClr>
              <a:buSzPts val="1200"/>
              <a:buNone/>
              <a:defRPr sz="1200">
                <a:solidFill>
                  <a:srgbClr val="888888"/>
                </a:solidFill>
              </a:defRPr>
            </a:lvl3pPr>
            <a:lvl4pPr marL="1828800" lvl="3" indent="-228600" algn="l">
              <a:lnSpc>
                <a:spcPct val="90000"/>
              </a:lnSpc>
              <a:spcBef>
                <a:spcPts val="400"/>
              </a:spcBef>
              <a:spcAft>
                <a:spcPts val="0"/>
              </a:spcAft>
              <a:buClr>
                <a:srgbClr val="888888"/>
              </a:buClr>
              <a:buSzPts val="1100"/>
              <a:buNone/>
              <a:defRPr sz="1100">
                <a:solidFill>
                  <a:srgbClr val="888888"/>
                </a:solidFill>
              </a:defRPr>
            </a:lvl4pPr>
            <a:lvl5pPr marL="2286000" lvl="4" indent="-228600" algn="l">
              <a:lnSpc>
                <a:spcPct val="90000"/>
              </a:lnSpc>
              <a:spcBef>
                <a:spcPts val="4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a:endParaRPr/>
          </a:p>
        </p:txBody>
      </p:sp>
      <p:sp>
        <p:nvSpPr>
          <p:cNvPr id="44" name="Google Shape;44;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5" name="Google Shape;45;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1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7"/>
        <p:cNvGrpSpPr/>
        <p:nvPr/>
      </p:nvGrpSpPr>
      <p:grpSpPr>
        <a:xfrm>
          <a:off x="0" y="0"/>
          <a:ext cx="0" cy="0"/>
          <a:chOff x="0" y="0"/>
          <a:chExt cx="0" cy="0"/>
        </a:xfrm>
      </p:grpSpPr>
      <p:pic>
        <p:nvPicPr>
          <p:cNvPr id="48" name="Google Shape;48;p12"/>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49" name="Google Shape;49;p12"/>
          <p:cNvSpPr txBox="1">
            <a:spLocks noGrp="1"/>
          </p:cNvSpPr>
          <p:nvPr>
            <p:ph type="body" idx="1"/>
          </p:nvPr>
        </p:nvSpPr>
        <p:spPr>
          <a:xfrm>
            <a:off x="633845" y="1035887"/>
            <a:ext cx="3886200" cy="3599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50" name="Google Shape;50;p12"/>
          <p:cNvSpPr txBox="1">
            <a:spLocks noGrp="1"/>
          </p:cNvSpPr>
          <p:nvPr>
            <p:ph type="body" idx="2"/>
          </p:nvPr>
        </p:nvSpPr>
        <p:spPr>
          <a:xfrm>
            <a:off x="4629150" y="1035887"/>
            <a:ext cx="3886200" cy="3599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51" name="Google Shape;51;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3" name="Google Shape;53;p1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p12"/>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55" name="Google Shape;55;p12"/>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56" name="Google Shape;56;p12"/>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7"/>
        <p:cNvGrpSpPr/>
        <p:nvPr/>
      </p:nvGrpSpPr>
      <p:grpSpPr>
        <a:xfrm>
          <a:off x="0" y="0"/>
          <a:ext cx="0" cy="0"/>
          <a:chOff x="0" y="0"/>
          <a:chExt cx="0" cy="0"/>
        </a:xfrm>
      </p:grpSpPr>
      <p:pic>
        <p:nvPicPr>
          <p:cNvPr id="58" name="Google Shape;58;p13"/>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59" name="Google Shape;59;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3"/>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p1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63" name="Google Shape;63;p1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64" name="Google Shape;64;p13"/>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pic>
        <p:nvPicPr>
          <p:cNvPr id="70" name="Google Shape;70;p15"/>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71" name="Google Shape;71;p15"/>
          <p:cNvSpPr txBox="1">
            <a:spLocks noGrp="1"/>
          </p:cNvSpPr>
          <p:nvPr>
            <p:ph type="title"/>
          </p:nvPr>
        </p:nvSpPr>
        <p:spPr>
          <a:xfrm>
            <a:off x="630936" y="342900"/>
            <a:ext cx="29487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3EADA7"/>
              </a:buClr>
              <a:buSzPts val="2400"/>
              <a:buFont typeface="Quattrocento Sans"/>
              <a:buNone/>
              <a:defRPr sz="24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5"/>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73" name="Google Shape;73;p15"/>
          <p:cNvSpPr txBox="1">
            <a:spLocks noGrp="1"/>
          </p:cNvSpPr>
          <p:nvPr>
            <p:ph type="body" idx="2"/>
          </p:nvPr>
        </p:nvSpPr>
        <p:spPr>
          <a:xfrm>
            <a:off x="630936" y="1543049"/>
            <a:ext cx="2948700" cy="28575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74" name="Google Shape;74;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5"/>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77" name="Google Shape;77;p15"/>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78" name="Google Shape;78;p15"/>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pic>
        <p:nvPicPr>
          <p:cNvPr id="80" name="Google Shape;80;p16"/>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81" name="Google Shape;81;p16"/>
          <p:cNvSpPr txBox="1">
            <a:spLocks noGrp="1"/>
          </p:cNvSpPr>
          <p:nvPr>
            <p:ph type="title"/>
          </p:nvPr>
        </p:nvSpPr>
        <p:spPr>
          <a:xfrm>
            <a:off x="630936" y="342900"/>
            <a:ext cx="29487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3EADA7"/>
              </a:buClr>
              <a:buSzPts val="2400"/>
              <a:buFont typeface="Quattrocento Sans"/>
              <a:buNone/>
              <a:defRPr sz="2400" b="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16"/>
          <p:cNvSpPr>
            <a:spLocks noGrp="1"/>
          </p:cNvSpPr>
          <p:nvPr>
            <p:ph type="pic" idx="2"/>
          </p:nvPr>
        </p:nvSpPr>
        <p:spPr>
          <a:xfrm>
            <a:off x="3886200" y="742950"/>
            <a:ext cx="4629300" cy="3657600"/>
          </a:xfrm>
          <a:prstGeom prst="rect">
            <a:avLst/>
          </a:prstGeom>
          <a:noFill/>
          <a:ln>
            <a:noFill/>
          </a:ln>
        </p:spPr>
      </p:sp>
      <p:sp>
        <p:nvSpPr>
          <p:cNvPr id="83" name="Google Shape;83;p16"/>
          <p:cNvSpPr txBox="1">
            <a:spLocks noGrp="1"/>
          </p:cNvSpPr>
          <p:nvPr>
            <p:ph type="body" idx="1"/>
          </p:nvPr>
        </p:nvSpPr>
        <p:spPr>
          <a:xfrm>
            <a:off x="630936" y="1543050"/>
            <a:ext cx="2948700" cy="28575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84" name="Google Shape;84;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16"/>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6"/>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88" name="Google Shape;88;p16"/>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89"/>
        <p:cNvGrpSpPr/>
        <p:nvPr/>
      </p:nvGrpSpPr>
      <p:grpSpPr>
        <a:xfrm>
          <a:off x="0" y="0"/>
          <a:ext cx="0" cy="0"/>
          <a:chOff x="0" y="0"/>
          <a:chExt cx="0" cy="0"/>
        </a:xfrm>
      </p:grpSpPr>
      <p:pic>
        <p:nvPicPr>
          <p:cNvPr id="90" name="Google Shape;90;p17"/>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91" name="Google Shape;91;p17"/>
          <p:cNvSpPr txBox="1">
            <a:spLocks noGrp="1"/>
          </p:cNvSpPr>
          <p:nvPr>
            <p:ph type="body" idx="1"/>
          </p:nvPr>
        </p:nvSpPr>
        <p:spPr>
          <a:xfrm rot="5400000">
            <a:off x="2777496" y="-1107763"/>
            <a:ext cx="3599400"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92" name="Google Shape;92;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17"/>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96" name="Google Shape;96;p17"/>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97" name="Google Shape;97;p17"/>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rot="5400000">
            <a:off x="5350050" y="1463972"/>
            <a:ext cx="4359000" cy="1971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18"/>
          <p:cNvSpPr txBox="1">
            <a:spLocks noGrp="1"/>
          </p:cNvSpPr>
          <p:nvPr>
            <p:ph type="body" idx="1"/>
          </p:nvPr>
        </p:nvSpPr>
        <p:spPr>
          <a:xfrm rot="5400000">
            <a:off x="1349475" y="-450628"/>
            <a:ext cx="4359000" cy="58008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01" name="Google Shape;101;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2" name="Google Shape;102;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3" name="Google Shape;103;p1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04" name="Google Shape;104;p18"/>
          <p:cNvCxnSpPr/>
          <p:nvPr/>
        </p:nvCxnSpPr>
        <p:spPr>
          <a:xfrm>
            <a:off x="6543675" y="277589"/>
            <a:ext cx="0" cy="4354800"/>
          </a:xfrm>
          <a:prstGeom prst="straightConnector1">
            <a:avLst/>
          </a:prstGeom>
          <a:noFill/>
          <a:ln w="9525" cap="flat" cmpd="sng">
            <a:solidFill>
              <a:srgbClr val="3DACA7"/>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05"/>
        <p:cNvGrpSpPr/>
        <p:nvPr/>
      </p:nvGrpSpPr>
      <p:grpSpPr>
        <a:xfrm>
          <a:off x="0" y="0"/>
          <a:ext cx="0" cy="0"/>
          <a:chOff x="0" y="0"/>
          <a:chExt cx="0" cy="0"/>
        </a:xfrm>
      </p:grpSpPr>
      <p:pic>
        <p:nvPicPr>
          <p:cNvPr id="106" name="Google Shape;106;p19"/>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07" name="Google Shape;107;p19"/>
          <p:cNvSpPr txBox="1">
            <a:spLocks noGrp="1"/>
          </p:cNvSpPr>
          <p:nvPr>
            <p:ph type="body" idx="1"/>
          </p:nvPr>
        </p:nvSpPr>
        <p:spPr>
          <a:xfrm>
            <a:off x="685799" y="1035886"/>
            <a:ext cx="3834300" cy="3599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08" name="Google Shape;108;p19"/>
          <p:cNvSpPr txBox="1">
            <a:spLocks noGrp="1"/>
          </p:cNvSpPr>
          <p:nvPr>
            <p:ph type="body" idx="2"/>
          </p:nvPr>
        </p:nvSpPr>
        <p:spPr>
          <a:xfrm>
            <a:off x="4683577" y="1035886"/>
            <a:ext cx="3828900" cy="3599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09" name="Google Shape;109;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0" name="Google Shape;110;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19"/>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2" name="Google Shape;112;p19"/>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13" name="Google Shape;113;p19"/>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14" name="Google Shape;114;p19"/>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15"/>
        <p:cNvGrpSpPr/>
        <p:nvPr/>
      </p:nvGrpSpPr>
      <p:grpSpPr>
        <a:xfrm>
          <a:off x="0" y="0"/>
          <a:ext cx="0" cy="0"/>
          <a:chOff x="0" y="0"/>
          <a:chExt cx="0" cy="0"/>
        </a:xfrm>
      </p:grpSpPr>
      <p:pic>
        <p:nvPicPr>
          <p:cNvPr id="116" name="Google Shape;116;p20"/>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17" name="Google Shape;117;p20"/>
          <p:cNvSpPr txBox="1">
            <a:spLocks noGrp="1"/>
          </p:cNvSpPr>
          <p:nvPr>
            <p:ph type="body" idx="1"/>
          </p:nvPr>
        </p:nvSpPr>
        <p:spPr>
          <a:xfrm>
            <a:off x="685799" y="946718"/>
            <a:ext cx="3815100" cy="6192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18" name="Google Shape;118;p20"/>
          <p:cNvSpPr txBox="1">
            <a:spLocks noGrp="1"/>
          </p:cNvSpPr>
          <p:nvPr>
            <p:ph type="body" idx="2"/>
          </p:nvPr>
        </p:nvSpPr>
        <p:spPr>
          <a:xfrm>
            <a:off x="685799" y="1616168"/>
            <a:ext cx="3815100" cy="30249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19" name="Google Shape;119;p20"/>
          <p:cNvSpPr txBox="1">
            <a:spLocks noGrp="1"/>
          </p:cNvSpPr>
          <p:nvPr>
            <p:ph type="body" idx="3"/>
          </p:nvPr>
        </p:nvSpPr>
        <p:spPr>
          <a:xfrm>
            <a:off x="4672693" y="946716"/>
            <a:ext cx="3828900" cy="6192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20" name="Google Shape;120;p20"/>
          <p:cNvSpPr txBox="1">
            <a:spLocks noGrp="1"/>
          </p:cNvSpPr>
          <p:nvPr>
            <p:ph type="body" idx="4"/>
          </p:nvPr>
        </p:nvSpPr>
        <p:spPr>
          <a:xfrm>
            <a:off x="4672693" y="1616168"/>
            <a:ext cx="3828900" cy="30249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21" name="Google Shape;121;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2" name="Google Shape;122;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0"/>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4" name="Google Shape;124;p20"/>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25" name="Google Shape;125;p20"/>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26" name="Google Shape;126;p20"/>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7"/>
        <p:cNvGrpSpPr/>
        <p:nvPr/>
      </p:nvGrpSpPr>
      <p:grpSpPr>
        <a:xfrm>
          <a:off x="0" y="0"/>
          <a:ext cx="0" cy="0"/>
          <a:chOff x="0" y="0"/>
          <a:chExt cx="0" cy="0"/>
        </a:xfrm>
      </p:grpSpPr>
      <p:pic>
        <p:nvPicPr>
          <p:cNvPr id="128" name="Google Shape;128;p21"/>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29" name="Google Shape;12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0" name="Google Shape;13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32" name="Google Shape;132;p21"/>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33" name="Google Shape;133;p21"/>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34" name="Google Shape;134;p21"/>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135"/>
        <p:cNvGrpSpPr/>
        <p:nvPr/>
      </p:nvGrpSpPr>
      <p:grpSpPr>
        <a:xfrm>
          <a:off x="0" y="0"/>
          <a:ext cx="0" cy="0"/>
          <a:chOff x="0" y="0"/>
          <a:chExt cx="0" cy="0"/>
        </a:xfrm>
      </p:grpSpPr>
      <p:pic>
        <p:nvPicPr>
          <p:cNvPr id="136" name="Google Shape;136;p22"/>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37" name="Google Shape;137;p22"/>
          <p:cNvSpPr txBox="1">
            <a:spLocks noGrp="1"/>
          </p:cNvSpPr>
          <p:nvPr>
            <p:ph type="body" idx="1"/>
          </p:nvPr>
        </p:nvSpPr>
        <p:spPr>
          <a:xfrm>
            <a:off x="3886200" y="742950"/>
            <a:ext cx="4629300" cy="3657600"/>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138" name="Google Shape;138;p22"/>
          <p:cNvSpPr txBox="1">
            <a:spLocks noGrp="1"/>
          </p:cNvSpPr>
          <p:nvPr>
            <p:ph type="body" idx="2"/>
          </p:nvPr>
        </p:nvSpPr>
        <p:spPr>
          <a:xfrm>
            <a:off x="630936" y="1643745"/>
            <a:ext cx="2948700" cy="2756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39" name="Google Shape;139;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0" name="Google Shape;140;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1" name="Google Shape;141;p2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2" name="Google Shape;142;p22"/>
          <p:cNvSpPr txBox="1">
            <a:spLocks noGrp="1"/>
          </p:cNvSpPr>
          <p:nvPr>
            <p:ph type="title"/>
          </p:nvPr>
        </p:nvSpPr>
        <p:spPr>
          <a:xfrm>
            <a:off x="630936" y="342900"/>
            <a:ext cx="2948700" cy="11157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43" name="Google Shape;143;p22"/>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144" name="Google Shape;144;p22"/>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5"/>
        <p:cNvGrpSpPr/>
        <p:nvPr/>
      </p:nvGrpSpPr>
      <p:grpSpPr>
        <a:xfrm>
          <a:off x="0" y="0"/>
          <a:ext cx="0" cy="0"/>
          <a:chOff x="0" y="0"/>
          <a:chExt cx="0" cy="0"/>
        </a:xfrm>
      </p:grpSpPr>
      <p:pic>
        <p:nvPicPr>
          <p:cNvPr id="146" name="Google Shape;146;p23"/>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47" name="Google Shape;147;p23"/>
          <p:cNvSpPr>
            <a:spLocks noGrp="1"/>
          </p:cNvSpPr>
          <p:nvPr>
            <p:ph type="pic" idx="2"/>
          </p:nvPr>
        </p:nvSpPr>
        <p:spPr>
          <a:xfrm>
            <a:off x="3886200" y="742950"/>
            <a:ext cx="4629300" cy="3657600"/>
          </a:xfrm>
          <a:prstGeom prst="rect">
            <a:avLst/>
          </a:prstGeom>
          <a:noFill/>
          <a:ln>
            <a:noFill/>
          </a:ln>
        </p:spPr>
      </p:sp>
      <p:sp>
        <p:nvSpPr>
          <p:cNvPr id="148" name="Google Shape;14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9" name="Google Shape;14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0" name="Google Shape;150;p23"/>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23"/>
          <p:cNvSpPr txBox="1">
            <a:spLocks noGrp="1"/>
          </p:cNvSpPr>
          <p:nvPr>
            <p:ph type="body" idx="1"/>
          </p:nvPr>
        </p:nvSpPr>
        <p:spPr>
          <a:xfrm>
            <a:off x="630936" y="1643745"/>
            <a:ext cx="2948700" cy="2756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52" name="Google Shape;152;p23"/>
          <p:cNvSpPr txBox="1">
            <a:spLocks noGrp="1"/>
          </p:cNvSpPr>
          <p:nvPr>
            <p:ph type="title"/>
          </p:nvPr>
        </p:nvSpPr>
        <p:spPr>
          <a:xfrm>
            <a:off x="630936" y="342900"/>
            <a:ext cx="2948700" cy="11157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53" name="Google Shape;153;p23"/>
          <p:cNvCxnSpPr/>
          <p:nvPr/>
        </p:nvCxnSpPr>
        <p:spPr>
          <a:xfrm>
            <a:off x="645450" y="1545772"/>
            <a:ext cx="2948700" cy="0"/>
          </a:xfrm>
          <a:prstGeom prst="straightConnector1">
            <a:avLst/>
          </a:prstGeom>
          <a:noFill/>
          <a:ln w="9525" cap="flat" cmpd="sng">
            <a:solidFill>
              <a:srgbClr val="3DACA7"/>
            </a:solidFill>
            <a:prstDash val="solid"/>
            <a:round/>
            <a:headEnd type="none" w="sm" len="sm"/>
            <a:tailEnd type="none" w="sm" len="sm"/>
          </a:ln>
        </p:spPr>
      </p:cxnSp>
      <p:pic>
        <p:nvPicPr>
          <p:cNvPr id="154" name="Google Shape;154;p23"/>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Vertical Text">
  <p:cSld name="1_Title and Vertical Text">
    <p:spTree>
      <p:nvGrpSpPr>
        <p:cNvPr id="1" name="Shape 155"/>
        <p:cNvGrpSpPr/>
        <p:nvPr/>
      </p:nvGrpSpPr>
      <p:grpSpPr>
        <a:xfrm>
          <a:off x="0" y="0"/>
          <a:ext cx="0" cy="0"/>
          <a:chOff x="0" y="0"/>
          <a:chExt cx="0" cy="0"/>
        </a:xfrm>
      </p:grpSpPr>
      <p:pic>
        <p:nvPicPr>
          <p:cNvPr id="156" name="Google Shape;156;p24"/>
          <p:cNvPicPr preferRelativeResize="0"/>
          <p:nvPr/>
        </p:nvPicPr>
        <p:blipFill rotWithShape="1">
          <a:blip r:embed="rId2">
            <a:alphaModFix/>
          </a:blip>
          <a:srcRect l="72690" t="69862"/>
          <a:stretch/>
        </p:blipFill>
        <p:spPr>
          <a:xfrm>
            <a:off x="7271061" y="3592286"/>
            <a:ext cx="1872942" cy="1551215"/>
          </a:xfrm>
          <a:prstGeom prst="rect">
            <a:avLst/>
          </a:prstGeom>
          <a:noFill/>
          <a:ln>
            <a:noFill/>
          </a:ln>
        </p:spPr>
      </p:pic>
      <p:sp>
        <p:nvSpPr>
          <p:cNvPr id="157" name="Google Shape;157;p24"/>
          <p:cNvSpPr txBox="1">
            <a:spLocks noGrp="1"/>
          </p:cNvSpPr>
          <p:nvPr>
            <p:ph type="body" idx="1"/>
          </p:nvPr>
        </p:nvSpPr>
        <p:spPr>
          <a:xfrm rot="5400000">
            <a:off x="2786946" y="-1122314"/>
            <a:ext cx="3575400" cy="78918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58" name="Google Shape;158;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9" name="Google Shape;159;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0" name="Google Shape;160;p2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61" name="Google Shape;161;p24"/>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3EADA7"/>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cxnSp>
        <p:nvCxnSpPr>
          <p:cNvPr id="162" name="Google Shape;162;p24"/>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63" name="Google Shape;163;p24"/>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type="twoObj">
  <p:cSld name="TWO_OBJECTS">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25"/>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7" name="Google Shape;167;p25"/>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8" name="Google Shape;168;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9" name="Google Shape;169;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1" type="twoTxTwoObj">
  <p:cSld name="TWO_OBJECTS_WITH_TEXT">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3" name="Google Shape;173;p26"/>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74" name="Google Shape;174;p26"/>
          <p:cNvSpPr txBox="1">
            <a:spLocks noGrp="1"/>
          </p:cNvSpPr>
          <p:nvPr>
            <p:ph type="body" idx="2"/>
          </p:nvPr>
        </p:nvSpPr>
        <p:spPr>
          <a:xfrm>
            <a:off x="629841" y="1878806"/>
            <a:ext cx="38685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5" name="Google Shape;175;p26"/>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76" name="Google Shape;176;p26"/>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7" name="Google Shape;177;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8" name="Google Shape;178;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9" name="Google Shape;179;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type="titleOnly">
  <p:cSld name="TITLE_ONLY">
    <p:spTree>
      <p:nvGrpSpPr>
        <p:cNvPr id="1" name="Shape 180"/>
        <p:cNvGrpSpPr/>
        <p:nvPr/>
      </p:nvGrpSpPr>
      <p:grpSpPr>
        <a:xfrm>
          <a:off x="0" y="0"/>
          <a:ext cx="0" cy="0"/>
          <a:chOff x="0" y="0"/>
          <a:chExt cx="0" cy="0"/>
        </a:xfrm>
      </p:grpSpPr>
      <p:sp>
        <p:nvSpPr>
          <p:cNvPr id="181" name="Google Shape;181;p2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2" name="Google Shape;182;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3" name="Google Shape;183;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4" name="Google Shape;184;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633845" y="274320"/>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3EADA7"/>
              </a:buClr>
              <a:buSzPts val="3300"/>
              <a:buFont typeface="Quattrocento Sans"/>
              <a:buNone/>
              <a:defRPr sz="3300" b="0" i="0" u="none" strike="noStrike" cap="none">
                <a:solidFill>
                  <a:srgbClr val="3EADA7"/>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633845" y="1371600"/>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Noto Sans Symbols"/>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Noto Sans Symbols"/>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800" b="0" i="0" u="none" strike="noStrike" cap="none">
                <a:solidFill>
                  <a:srgbClr val="59595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800" b="0" i="0" u="none" strike="noStrike" cap="none">
                <a:solidFill>
                  <a:srgbClr val="59595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euractiv.com/section/digital/opinion/the-eu-is-right-to-refuse-legal-personality-for-artificial-intelligenc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
          <p:cNvSpPr txBox="1">
            <a:spLocks noGrp="1"/>
          </p:cNvSpPr>
          <p:nvPr>
            <p:ph type="ctrTitle"/>
          </p:nvPr>
        </p:nvSpPr>
        <p:spPr>
          <a:xfrm>
            <a:off x="628650" y="797750"/>
            <a:ext cx="8458200" cy="1406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SzPts val="4100"/>
              <a:buNone/>
            </a:pPr>
            <a:r>
              <a:rPr lang="en-US" sz="3600" dirty="0">
                <a:latin typeface="Georgia"/>
                <a:ea typeface="Georgia"/>
                <a:cs typeface="Georgia"/>
                <a:sym typeface="Georgia"/>
              </a:rPr>
              <a:t>Ethics of AI</a:t>
            </a:r>
            <a:endParaRPr sz="3600" dirty="0">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Questions of concern: </a:t>
            </a:r>
            <a:r>
              <a:rPr lang="en-US" sz="1200">
                <a:solidFill>
                  <a:srgbClr val="000000"/>
                </a:solidFill>
                <a:latin typeface="Georgia"/>
                <a:ea typeface="Georgia"/>
                <a:cs typeface="Georgia"/>
                <a:sym typeface="Georgia"/>
              </a:rPr>
              <a:t>https://www.nature.com/articles/s41586-019-1138-y </a:t>
            </a:r>
            <a:endParaRPr sz="1200">
              <a:solidFill>
                <a:srgbClr val="000000"/>
              </a:solidFill>
              <a:latin typeface="Georgia"/>
              <a:ea typeface="Georgia"/>
              <a:cs typeface="Georgia"/>
              <a:sym typeface="Georgia"/>
            </a:endParaRPr>
          </a:p>
        </p:txBody>
      </p:sp>
      <p:pic>
        <p:nvPicPr>
          <p:cNvPr id="195" name="Google Shape;195;p2"/>
          <p:cNvPicPr preferRelativeResize="0"/>
          <p:nvPr/>
        </p:nvPicPr>
        <p:blipFill rotWithShape="1">
          <a:blip r:embed="rId3">
            <a:alphaModFix/>
          </a:blip>
          <a:srcRect/>
          <a:stretch/>
        </p:blipFill>
        <p:spPr>
          <a:xfrm>
            <a:off x="338291" y="1008739"/>
            <a:ext cx="4157509" cy="1916830"/>
          </a:xfrm>
          <a:prstGeom prst="rect">
            <a:avLst/>
          </a:prstGeom>
          <a:noFill/>
          <a:ln>
            <a:noFill/>
          </a:ln>
        </p:spPr>
      </p:pic>
      <p:pic>
        <p:nvPicPr>
          <p:cNvPr id="196" name="Google Shape;196;p2"/>
          <p:cNvPicPr preferRelativeResize="0"/>
          <p:nvPr/>
        </p:nvPicPr>
        <p:blipFill rotWithShape="1">
          <a:blip r:embed="rId4">
            <a:alphaModFix/>
          </a:blip>
          <a:srcRect/>
          <a:stretch/>
        </p:blipFill>
        <p:spPr>
          <a:xfrm>
            <a:off x="4669711" y="1008739"/>
            <a:ext cx="4330721" cy="1929799"/>
          </a:xfrm>
          <a:prstGeom prst="rect">
            <a:avLst/>
          </a:prstGeom>
          <a:noFill/>
          <a:ln>
            <a:noFill/>
          </a:ln>
        </p:spPr>
      </p:pic>
      <p:pic>
        <p:nvPicPr>
          <p:cNvPr id="197" name="Google Shape;197;p2"/>
          <p:cNvPicPr preferRelativeResize="0"/>
          <p:nvPr/>
        </p:nvPicPr>
        <p:blipFill rotWithShape="1">
          <a:blip r:embed="rId5">
            <a:alphaModFix/>
          </a:blip>
          <a:srcRect/>
          <a:stretch/>
        </p:blipFill>
        <p:spPr>
          <a:xfrm>
            <a:off x="338292" y="3126504"/>
            <a:ext cx="4157509" cy="1890572"/>
          </a:xfrm>
          <a:prstGeom prst="rect">
            <a:avLst/>
          </a:prstGeom>
          <a:noFill/>
          <a:ln>
            <a:noFill/>
          </a:ln>
        </p:spPr>
      </p:pic>
      <p:pic>
        <p:nvPicPr>
          <p:cNvPr id="198" name="Google Shape;198;p2"/>
          <p:cNvPicPr preferRelativeResize="0"/>
          <p:nvPr/>
        </p:nvPicPr>
        <p:blipFill rotWithShape="1">
          <a:blip r:embed="rId6">
            <a:alphaModFix/>
          </a:blip>
          <a:srcRect/>
          <a:stretch/>
        </p:blipFill>
        <p:spPr>
          <a:xfrm>
            <a:off x="4669711" y="3032918"/>
            <a:ext cx="4330721" cy="19841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c9fda75f24_0_173"/>
          <p:cNvSpPr txBox="1">
            <a:spLocks noGrp="1"/>
          </p:cNvSpPr>
          <p:nvPr>
            <p:ph type="body" idx="1"/>
          </p:nvPr>
        </p:nvSpPr>
        <p:spPr>
          <a:xfrm>
            <a:off x="633845" y="1035887"/>
            <a:ext cx="7886700" cy="3599400"/>
          </a:xfrm>
          <a:prstGeom prst="rect">
            <a:avLst/>
          </a:prstGeom>
          <a:noFill/>
          <a:ln>
            <a:noFill/>
          </a:ln>
        </p:spPr>
        <p:txBody>
          <a:bodyPr spcFirstLastPara="1" wrap="square" lIns="68575" tIns="34275" rIns="68575" bIns="34275" anchor="t" anchorCtr="0">
            <a:noAutofit/>
          </a:bodyPr>
          <a:lstStyle/>
          <a:p>
            <a:pPr marL="457200" marR="0" lvl="0" indent="-381000" algn="just" rtl="0">
              <a:lnSpc>
                <a:spcPct val="100000"/>
              </a:lnSpc>
              <a:spcBef>
                <a:spcPts val="0"/>
              </a:spcBef>
              <a:spcAft>
                <a:spcPts val="0"/>
              </a:spcAft>
              <a:buSzPts val="2400"/>
              <a:buFont typeface="Georgia"/>
              <a:buChar char="●"/>
            </a:pPr>
            <a:r>
              <a:rPr lang="en-US" sz="2400">
                <a:latin typeface="Georgia"/>
                <a:ea typeface="Georgia"/>
                <a:cs typeface="Georgia"/>
                <a:sym typeface="Georgia"/>
              </a:rPr>
              <a:t>Mass unemployment due to automation</a:t>
            </a:r>
            <a:endParaRPr sz="1400">
              <a:latin typeface="Georgia"/>
              <a:ea typeface="Georgia"/>
              <a:cs typeface="Georgia"/>
              <a:sym typeface="Georgia"/>
            </a:endParaRPr>
          </a:p>
        </p:txBody>
      </p:sp>
      <p:sp>
        <p:nvSpPr>
          <p:cNvPr id="204" name="Google Shape;204;g2c9fda75f24_0_173"/>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3600" b="1" i="0" u="none" strike="noStrike" cap="none">
                <a:solidFill>
                  <a:srgbClr val="000000"/>
                </a:solidFill>
                <a:latin typeface="Georgia"/>
                <a:ea typeface="Georgia"/>
                <a:cs typeface="Georgia"/>
                <a:sym typeface="Georgia"/>
              </a:rPr>
              <a:t>Realistic Risks of AI</a:t>
            </a: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chemeClr val="dk1"/>
              </a:buClr>
              <a:buSzPts val="1100"/>
              <a:buFont typeface="Arial"/>
              <a:buNone/>
            </a:pP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000000"/>
              </a:solidFill>
              <a:latin typeface="Georgia"/>
              <a:ea typeface="Georgia"/>
              <a:cs typeface="Georgia"/>
              <a:sym typeface="Georgia"/>
            </a:endParaRPr>
          </a:p>
        </p:txBody>
      </p:sp>
      <p:pic>
        <p:nvPicPr>
          <p:cNvPr id="205" name="Google Shape;205;g2c9fda75f24_0_173"/>
          <p:cNvPicPr preferRelativeResize="0"/>
          <p:nvPr/>
        </p:nvPicPr>
        <p:blipFill rotWithShape="1">
          <a:blip r:embed="rId3">
            <a:alphaModFix/>
          </a:blip>
          <a:srcRect/>
          <a:stretch/>
        </p:blipFill>
        <p:spPr>
          <a:xfrm>
            <a:off x="2510463" y="1596796"/>
            <a:ext cx="4133476" cy="3337050"/>
          </a:xfrm>
          <a:prstGeom prst="rect">
            <a:avLst/>
          </a:prstGeom>
          <a:noFill/>
          <a:ln>
            <a:noFill/>
          </a:ln>
        </p:spPr>
      </p:pic>
      <p:sp>
        <p:nvSpPr>
          <p:cNvPr id="206" name="Google Shape;206;g2c9fda75f24_0_173"/>
          <p:cNvSpPr txBox="1"/>
          <p:nvPr/>
        </p:nvSpPr>
        <p:spPr>
          <a:xfrm>
            <a:off x="0" y="4527900"/>
            <a:ext cx="2445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Prof. Yuke Zhu The University of Texas at Austin</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anim calcmode="lin" valueType="num">
                                      <p:cBhvr additive="base">
                                        <p:cTn id="7" dur="1000"/>
                                        <p:tgtEl>
                                          <p:spTgt spid="203">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2c9fda75f24_0_184"/>
          <p:cNvSpPr txBox="1">
            <a:spLocks noGrp="1"/>
          </p:cNvSpPr>
          <p:nvPr>
            <p:ph type="body" idx="1"/>
          </p:nvPr>
        </p:nvSpPr>
        <p:spPr>
          <a:xfrm>
            <a:off x="633850" y="1035875"/>
            <a:ext cx="3929700" cy="3599400"/>
          </a:xfrm>
          <a:prstGeom prst="rect">
            <a:avLst/>
          </a:prstGeom>
          <a:noFill/>
          <a:ln>
            <a:noFill/>
          </a:ln>
        </p:spPr>
        <p:txBody>
          <a:bodyPr spcFirstLastPara="1" wrap="square" lIns="68575" tIns="34275" rIns="68575" bIns="34275" anchor="t" anchorCtr="0">
            <a:noAutofit/>
          </a:bodyPr>
          <a:lstStyle/>
          <a:p>
            <a:pPr marL="457200" marR="0" lvl="0" indent="-381000" algn="just" rtl="0">
              <a:lnSpc>
                <a:spcPct val="100000"/>
              </a:lnSpc>
              <a:spcBef>
                <a:spcPts val="0"/>
              </a:spcBef>
              <a:spcAft>
                <a:spcPts val="0"/>
              </a:spcAft>
              <a:buSzPts val="2400"/>
              <a:buFont typeface="Georgia"/>
              <a:buChar char="●"/>
            </a:pPr>
            <a:r>
              <a:rPr lang="en-US" sz="2400">
                <a:latin typeface="Georgia"/>
                <a:ea typeface="Georgia"/>
                <a:cs typeface="Georgia"/>
                <a:sym typeface="Georgia"/>
              </a:rPr>
              <a:t>How to make tough decisions?</a:t>
            </a:r>
            <a:endParaRPr sz="1400">
              <a:latin typeface="Georgia"/>
              <a:ea typeface="Georgia"/>
              <a:cs typeface="Georgia"/>
              <a:sym typeface="Georgia"/>
            </a:endParaRPr>
          </a:p>
        </p:txBody>
      </p:sp>
      <p:sp>
        <p:nvSpPr>
          <p:cNvPr id="212" name="Google Shape;212;g2c9fda75f24_0_184"/>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3600" b="1" i="0" u="none" strike="noStrike" cap="none">
                <a:solidFill>
                  <a:srgbClr val="000000"/>
                </a:solidFill>
                <a:latin typeface="Georgia"/>
                <a:ea typeface="Georgia"/>
                <a:cs typeface="Georgia"/>
                <a:sym typeface="Georgia"/>
              </a:rPr>
              <a:t>Realistic Risks of AI</a:t>
            </a: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chemeClr val="dk1"/>
              </a:buClr>
              <a:buSzPts val="1100"/>
              <a:buFont typeface="Arial"/>
              <a:buNone/>
            </a:pP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000000"/>
              </a:solidFill>
              <a:latin typeface="Georgia"/>
              <a:ea typeface="Georgia"/>
              <a:cs typeface="Georgia"/>
              <a:sym typeface="Georgia"/>
            </a:endParaRPr>
          </a:p>
        </p:txBody>
      </p:sp>
      <p:sp>
        <p:nvSpPr>
          <p:cNvPr id="213" name="Google Shape;213;g2c9fda75f24_0_184"/>
          <p:cNvSpPr txBox="1"/>
          <p:nvPr/>
        </p:nvSpPr>
        <p:spPr>
          <a:xfrm>
            <a:off x="0" y="4527900"/>
            <a:ext cx="2445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Prof. Yuke Zhu The University of Texas at Austin</a:t>
            </a:r>
            <a:endParaRPr sz="1400" b="0" i="0" u="none" strike="noStrike" cap="none">
              <a:solidFill>
                <a:srgbClr val="000000"/>
              </a:solidFill>
              <a:latin typeface="Arial"/>
              <a:ea typeface="Arial"/>
              <a:cs typeface="Arial"/>
              <a:sym typeface="Arial"/>
            </a:endParaRPr>
          </a:p>
        </p:txBody>
      </p:sp>
      <p:pic>
        <p:nvPicPr>
          <p:cNvPr id="214" name="Google Shape;214;g2c9fda75f24_0_184"/>
          <p:cNvPicPr preferRelativeResize="0"/>
          <p:nvPr/>
        </p:nvPicPr>
        <p:blipFill rotWithShape="1">
          <a:blip r:embed="rId3">
            <a:alphaModFix/>
          </a:blip>
          <a:srcRect/>
          <a:stretch/>
        </p:blipFill>
        <p:spPr>
          <a:xfrm>
            <a:off x="4563552" y="936375"/>
            <a:ext cx="4085726" cy="4137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anim calcmode="lin" valueType="num">
                                      <p:cBhvr additive="base">
                                        <p:cTn id="7" dur="1000"/>
                                        <p:tgtEl>
                                          <p:spTgt spid="211">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2c9fda75f24_0_194"/>
          <p:cNvSpPr txBox="1">
            <a:spLocks noGrp="1"/>
          </p:cNvSpPr>
          <p:nvPr>
            <p:ph type="body" idx="1"/>
          </p:nvPr>
        </p:nvSpPr>
        <p:spPr>
          <a:xfrm>
            <a:off x="633850" y="1035875"/>
            <a:ext cx="7886700" cy="3599400"/>
          </a:xfrm>
          <a:prstGeom prst="rect">
            <a:avLst/>
          </a:prstGeom>
          <a:noFill/>
          <a:ln>
            <a:noFill/>
          </a:ln>
        </p:spPr>
        <p:txBody>
          <a:bodyPr spcFirstLastPara="1" wrap="square" lIns="68575" tIns="34275" rIns="68575" bIns="34275" anchor="t" anchorCtr="0">
            <a:noAutofit/>
          </a:bodyPr>
          <a:lstStyle/>
          <a:p>
            <a:pPr marL="457200" lvl="0" indent="-381000" algn="just" rtl="0">
              <a:lnSpc>
                <a:spcPct val="100000"/>
              </a:lnSpc>
              <a:spcBef>
                <a:spcPts val="0"/>
              </a:spcBef>
              <a:spcAft>
                <a:spcPts val="0"/>
              </a:spcAft>
              <a:buSzPts val="2400"/>
              <a:buFont typeface="Georgia"/>
              <a:buChar char="●"/>
            </a:pPr>
            <a:r>
              <a:rPr lang="en-US" sz="2400">
                <a:latin typeface="Georgia"/>
                <a:ea typeface="Georgia"/>
                <a:cs typeface="Georgia"/>
                <a:sym typeface="Georgia"/>
              </a:rPr>
              <a:t>Algorithmic bias and discrimination</a:t>
            </a:r>
            <a:endParaRPr sz="2400">
              <a:latin typeface="Georgia"/>
              <a:ea typeface="Georgia"/>
              <a:cs typeface="Georgia"/>
              <a:sym typeface="Georgia"/>
            </a:endParaRPr>
          </a:p>
        </p:txBody>
      </p:sp>
      <p:sp>
        <p:nvSpPr>
          <p:cNvPr id="220" name="Google Shape;220;g2c9fda75f24_0_194"/>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3600" b="1" i="0" u="none" strike="noStrike" cap="none">
                <a:solidFill>
                  <a:srgbClr val="000000"/>
                </a:solidFill>
                <a:latin typeface="Georgia"/>
                <a:ea typeface="Georgia"/>
                <a:cs typeface="Georgia"/>
                <a:sym typeface="Georgia"/>
              </a:rPr>
              <a:t>Realistic Risks of AI</a:t>
            </a: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chemeClr val="dk1"/>
              </a:buClr>
              <a:buSzPts val="1100"/>
              <a:buFont typeface="Arial"/>
              <a:buNone/>
            </a:pP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000000"/>
              </a:solidFill>
              <a:latin typeface="Georgia"/>
              <a:ea typeface="Georgia"/>
              <a:cs typeface="Georgia"/>
              <a:sym typeface="Georgia"/>
            </a:endParaRPr>
          </a:p>
        </p:txBody>
      </p:sp>
      <p:sp>
        <p:nvSpPr>
          <p:cNvPr id="221" name="Google Shape;221;g2c9fda75f24_0_194"/>
          <p:cNvSpPr txBox="1"/>
          <p:nvPr/>
        </p:nvSpPr>
        <p:spPr>
          <a:xfrm>
            <a:off x="0" y="4527900"/>
            <a:ext cx="24459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Prof. Yuke Zhu The University of Texas at Austin</a:t>
            </a:r>
            <a:endParaRPr sz="1400" b="0" i="0" u="none" strike="noStrike" cap="none">
              <a:solidFill>
                <a:srgbClr val="000000"/>
              </a:solidFill>
              <a:latin typeface="Arial"/>
              <a:ea typeface="Arial"/>
              <a:cs typeface="Arial"/>
              <a:sym typeface="Arial"/>
            </a:endParaRPr>
          </a:p>
        </p:txBody>
      </p:sp>
      <p:pic>
        <p:nvPicPr>
          <p:cNvPr id="222" name="Google Shape;222;g2c9fda75f24_0_194"/>
          <p:cNvPicPr preferRelativeResize="0"/>
          <p:nvPr/>
        </p:nvPicPr>
        <p:blipFill rotWithShape="1">
          <a:blip r:embed="rId3">
            <a:alphaModFix/>
          </a:blip>
          <a:srcRect/>
          <a:stretch/>
        </p:blipFill>
        <p:spPr>
          <a:xfrm>
            <a:off x="2153363" y="1518626"/>
            <a:ext cx="4837276" cy="2757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9">
                                            <p:txEl>
                                              <p:pRg st="0" end="0"/>
                                            </p:txEl>
                                          </p:spTgt>
                                        </p:tgtEl>
                                        <p:attrNameLst>
                                          <p:attrName>style.visibility</p:attrName>
                                        </p:attrNameLst>
                                      </p:cBhvr>
                                      <p:to>
                                        <p:strVal val="visible"/>
                                      </p:to>
                                    </p:set>
                                    <p:anim calcmode="lin" valueType="num">
                                      <p:cBhvr additive="base">
                                        <p:cTn id="7" dur="1000"/>
                                        <p:tgtEl>
                                          <p:spTgt spid="219">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p:nvPr/>
        </p:nvSpPr>
        <p:spPr>
          <a:xfrm>
            <a:off x="-21875" y="232675"/>
            <a:ext cx="91440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chemeClr val="dk1"/>
                </a:solidFill>
                <a:latin typeface="Georgia"/>
                <a:ea typeface="Georgia"/>
                <a:cs typeface="Georgia"/>
                <a:sym typeface="Georgia"/>
              </a:rPr>
              <a:t>Algorithmic Bias and Discrimination</a:t>
            </a:r>
            <a:endParaRPr sz="2500" b="1" i="0" u="none" strike="noStrike" cap="none">
              <a:solidFill>
                <a:schemeClr val="dk1"/>
              </a:solidFill>
              <a:latin typeface="Georgia"/>
              <a:ea typeface="Georgia"/>
              <a:cs typeface="Georgia"/>
              <a:sym typeface="Georgia"/>
            </a:endParaRPr>
          </a:p>
        </p:txBody>
      </p:sp>
      <p:pic>
        <p:nvPicPr>
          <p:cNvPr id="228" name="Google Shape;228;p3"/>
          <p:cNvPicPr preferRelativeResize="0"/>
          <p:nvPr/>
        </p:nvPicPr>
        <p:blipFill rotWithShape="1">
          <a:blip r:embed="rId3">
            <a:alphaModFix/>
          </a:blip>
          <a:srcRect/>
          <a:stretch/>
        </p:blipFill>
        <p:spPr>
          <a:xfrm>
            <a:off x="1566245" y="1081377"/>
            <a:ext cx="6011510" cy="27932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3" name="Google Shape;233;p28"/>
          <p:cNvPicPr preferRelativeResize="0"/>
          <p:nvPr/>
        </p:nvPicPr>
        <p:blipFill rotWithShape="1">
          <a:blip r:embed="rId3">
            <a:alphaModFix/>
          </a:blip>
          <a:srcRect/>
          <a:stretch/>
        </p:blipFill>
        <p:spPr>
          <a:xfrm>
            <a:off x="685800" y="370246"/>
            <a:ext cx="7772400" cy="3242118"/>
          </a:xfrm>
          <a:prstGeom prst="rect">
            <a:avLst/>
          </a:prstGeom>
          <a:noFill/>
          <a:ln>
            <a:noFill/>
          </a:ln>
        </p:spPr>
      </p:pic>
      <p:sp>
        <p:nvSpPr>
          <p:cNvPr id="234" name="Google Shape;234;p28"/>
          <p:cNvSpPr txBox="1"/>
          <p:nvPr/>
        </p:nvSpPr>
        <p:spPr>
          <a:xfrm>
            <a:off x="-21875" y="232675"/>
            <a:ext cx="91440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chemeClr val="dk1"/>
                </a:solidFill>
                <a:latin typeface="Georgia"/>
                <a:ea typeface="Georgia"/>
                <a:cs typeface="Georgia"/>
                <a:sym typeface="Georgia"/>
              </a:rPr>
              <a:t>Algorithmic Bias and Discrimination</a:t>
            </a:r>
            <a:endParaRPr sz="2500" b="1" i="0" u="none" strike="noStrike" cap="none">
              <a:solidFill>
                <a:schemeClr val="dk1"/>
              </a:solidFill>
              <a:latin typeface="Georgia"/>
              <a:ea typeface="Georgia"/>
              <a:cs typeface="Georgia"/>
              <a:sym typeface="Georgia"/>
            </a:endParaRPr>
          </a:p>
        </p:txBody>
      </p:sp>
      <p:pic>
        <p:nvPicPr>
          <p:cNvPr id="235" name="Google Shape;235;p28"/>
          <p:cNvPicPr preferRelativeResize="0"/>
          <p:nvPr/>
        </p:nvPicPr>
        <p:blipFill rotWithShape="1">
          <a:blip r:embed="rId4">
            <a:alphaModFix/>
          </a:blip>
          <a:srcRect/>
          <a:stretch/>
        </p:blipFill>
        <p:spPr>
          <a:xfrm>
            <a:off x="2587321" y="2816853"/>
            <a:ext cx="3969358" cy="22980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2c9fda75f24_0_208"/>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3600" b="1" i="0" u="none" strike="noStrike" cap="none">
                <a:solidFill>
                  <a:srgbClr val="000000"/>
                </a:solidFill>
                <a:latin typeface="Georgia"/>
                <a:ea typeface="Georgia"/>
                <a:cs typeface="Georgia"/>
                <a:sym typeface="Georgia"/>
              </a:rPr>
              <a:t>Data Bias</a:t>
            </a: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chemeClr val="dk1"/>
              </a:buClr>
              <a:buSzPts val="1100"/>
              <a:buFont typeface="Arial"/>
              <a:buNone/>
            </a:pPr>
            <a:endParaRPr sz="3600" b="1" i="0" u="none" strike="noStrike" cap="non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rgbClr val="000000"/>
              </a:solidFill>
              <a:latin typeface="Georgia"/>
              <a:ea typeface="Georgia"/>
              <a:cs typeface="Georgia"/>
              <a:sym typeface="Georgia"/>
            </a:endParaRPr>
          </a:p>
        </p:txBody>
      </p:sp>
      <p:sp>
        <p:nvSpPr>
          <p:cNvPr id="241" name="Google Shape;241;g2c9fda75f24_0_208"/>
          <p:cNvSpPr txBox="1">
            <a:spLocks noGrp="1"/>
          </p:cNvSpPr>
          <p:nvPr>
            <p:ph type="body" idx="1"/>
          </p:nvPr>
        </p:nvSpPr>
        <p:spPr>
          <a:xfrm>
            <a:off x="633845" y="1035887"/>
            <a:ext cx="7886700" cy="3599400"/>
          </a:xfrm>
          <a:prstGeom prst="rect">
            <a:avLst/>
          </a:prstGeom>
          <a:noFill/>
          <a:ln>
            <a:noFill/>
          </a:ln>
        </p:spPr>
        <p:txBody>
          <a:bodyPr spcFirstLastPara="1" wrap="square" lIns="68575" tIns="34275" rIns="68575" bIns="34275" anchor="t" anchorCtr="0">
            <a:noAutofit/>
          </a:bodyPr>
          <a:lstStyle/>
          <a:p>
            <a:pPr marL="139700" lvl="0" indent="0" algn="l" rtl="0">
              <a:lnSpc>
                <a:spcPct val="90000"/>
              </a:lnSpc>
              <a:spcBef>
                <a:spcPts val="800"/>
              </a:spcBef>
              <a:spcAft>
                <a:spcPts val="0"/>
              </a:spcAft>
              <a:buSzPts val="1400"/>
              <a:buNone/>
            </a:pPr>
            <a:endParaRPr/>
          </a:p>
        </p:txBody>
      </p:sp>
      <p:pic>
        <p:nvPicPr>
          <p:cNvPr id="242" name="Google Shape;242;g2c9fda75f24_0_208"/>
          <p:cNvPicPr preferRelativeResize="0"/>
          <p:nvPr/>
        </p:nvPicPr>
        <p:blipFill rotWithShape="1">
          <a:blip r:embed="rId3">
            <a:alphaModFix/>
          </a:blip>
          <a:srcRect/>
          <a:stretch/>
        </p:blipFill>
        <p:spPr>
          <a:xfrm>
            <a:off x="516834" y="942690"/>
            <a:ext cx="2963849" cy="1958098"/>
          </a:xfrm>
          <a:prstGeom prst="rect">
            <a:avLst/>
          </a:prstGeom>
          <a:noFill/>
          <a:ln w="9525" cap="flat" cmpd="sng">
            <a:solidFill>
              <a:schemeClr val="dk1"/>
            </a:solidFill>
            <a:prstDash val="solid"/>
            <a:round/>
            <a:headEnd type="none" w="sm" len="sm"/>
            <a:tailEnd type="none" w="sm" len="sm"/>
          </a:ln>
        </p:spPr>
      </p:pic>
      <p:pic>
        <p:nvPicPr>
          <p:cNvPr id="243" name="Google Shape;243;g2c9fda75f24_0_208"/>
          <p:cNvPicPr preferRelativeResize="0"/>
          <p:nvPr/>
        </p:nvPicPr>
        <p:blipFill rotWithShape="1">
          <a:blip r:embed="rId4">
            <a:alphaModFix/>
          </a:blip>
          <a:srcRect/>
          <a:stretch/>
        </p:blipFill>
        <p:spPr>
          <a:xfrm>
            <a:off x="516834" y="2942415"/>
            <a:ext cx="2976681" cy="1958098"/>
          </a:xfrm>
          <a:prstGeom prst="rect">
            <a:avLst/>
          </a:prstGeom>
          <a:noFill/>
          <a:ln w="9525" cap="flat" cmpd="sng">
            <a:solidFill>
              <a:schemeClr val="dk1"/>
            </a:solidFill>
            <a:prstDash val="solid"/>
            <a:round/>
            <a:headEnd type="none" w="sm" len="sm"/>
            <a:tailEnd type="none" w="sm" len="sm"/>
          </a:ln>
        </p:spPr>
      </p:pic>
      <p:pic>
        <p:nvPicPr>
          <p:cNvPr id="244" name="Google Shape;244;g2c9fda75f24_0_208"/>
          <p:cNvPicPr preferRelativeResize="0"/>
          <p:nvPr/>
        </p:nvPicPr>
        <p:blipFill rotWithShape="1">
          <a:blip r:embed="rId5">
            <a:alphaModFix/>
          </a:blip>
          <a:srcRect/>
          <a:stretch/>
        </p:blipFill>
        <p:spPr>
          <a:xfrm>
            <a:off x="4132341" y="1542999"/>
            <a:ext cx="3969358" cy="22980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9"/>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Protected Attributes</a:t>
            </a:r>
            <a:endParaRPr sz="1200">
              <a:solidFill>
                <a:srgbClr val="000000"/>
              </a:solidFill>
              <a:latin typeface="Georgia"/>
              <a:ea typeface="Georgia"/>
              <a:cs typeface="Georgia"/>
              <a:sym typeface="Georgia"/>
            </a:endParaRPr>
          </a:p>
        </p:txBody>
      </p:sp>
      <p:pic>
        <p:nvPicPr>
          <p:cNvPr id="250" name="Google Shape;250;p29"/>
          <p:cNvPicPr preferRelativeResize="0"/>
          <p:nvPr/>
        </p:nvPicPr>
        <p:blipFill rotWithShape="1">
          <a:blip r:embed="rId3">
            <a:alphaModFix/>
          </a:blip>
          <a:srcRect/>
          <a:stretch/>
        </p:blipFill>
        <p:spPr>
          <a:xfrm>
            <a:off x="1067532" y="1788598"/>
            <a:ext cx="7008936" cy="3231143"/>
          </a:xfrm>
          <a:prstGeom prst="rect">
            <a:avLst/>
          </a:prstGeom>
          <a:noFill/>
          <a:ln>
            <a:noFill/>
          </a:ln>
        </p:spPr>
      </p:pic>
      <p:sp>
        <p:nvSpPr>
          <p:cNvPr id="251" name="Google Shape;251;p29"/>
          <p:cNvSpPr txBox="1">
            <a:spLocks noGrp="1"/>
          </p:cNvSpPr>
          <p:nvPr>
            <p:ph type="body" idx="1"/>
          </p:nvPr>
        </p:nvSpPr>
        <p:spPr>
          <a:xfrm>
            <a:off x="633849" y="1035875"/>
            <a:ext cx="7856625" cy="752723"/>
          </a:xfrm>
          <a:prstGeom prst="rect">
            <a:avLst/>
          </a:prstGeom>
          <a:noFill/>
          <a:ln>
            <a:noFill/>
          </a:ln>
        </p:spPr>
        <p:txBody>
          <a:bodyPr spcFirstLastPara="1" wrap="square" lIns="68575" tIns="34275" rIns="68575" bIns="34275" anchor="t" anchorCtr="0">
            <a:noAutofit/>
          </a:bodyPr>
          <a:lstStyle/>
          <a:p>
            <a:pPr marL="457200" lvl="0" indent="-317500" algn="just" rtl="0">
              <a:lnSpc>
                <a:spcPct val="90000"/>
              </a:lnSpc>
              <a:spcBef>
                <a:spcPts val="800"/>
              </a:spcBef>
              <a:spcAft>
                <a:spcPts val="0"/>
              </a:spcAft>
              <a:buSzPts val="1400"/>
              <a:buChar char="⚫"/>
            </a:pPr>
            <a:r>
              <a:rPr lang="en-US" sz="1800">
                <a:latin typeface="Georgia"/>
                <a:ea typeface="Georgia"/>
                <a:cs typeface="Georgia"/>
                <a:sym typeface="Georgia"/>
              </a:rPr>
              <a:t>An attribute that partitions a population into groups whose outcomes should have parity (ex. race, gender, caste, and religion)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2c9fda75f24_0_201"/>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Sources of bias and discrimination</a:t>
            </a:r>
            <a:endParaRPr sz="1200">
              <a:solidFill>
                <a:srgbClr val="000000"/>
              </a:solidFill>
              <a:latin typeface="Georgia"/>
              <a:ea typeface="Georgia"/>
              <a:cs typeface="Georgia"/>
              <a:sym typeface="Georgia"/>
            </a:endParaRPr>
          </a:p>
        </p:txBody>
      </p:sp>
      <p:pic>
        <p:nvPicPr>
          <p:cNvPr id="274" name="Google Shape;274;g2c9fda75f24_0_201"/>
          <p:cNvPicPr preferRelativeResize="0"/>
          <p:nvPr/>
        </p:nvPicPr>
        <p:blipFill rotWithShape="1">
          <a:blip r:embed="rId3">
            <a:alphaModFix/>
          </a:blip>
          <a:srcRect/>
          <a:stretch/>
        </p:blipFill>
        <p:spPr>
          <a:xfrm>
            <a:off x="812452" y="1143000"/>
            <a:ext cx="7529087" cy="32176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0"/>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How to Measure Fairness</a:t>
            </a:r>
            <a:endParaRPr sz="1200">
              <a:solidFill>
                <a:srgbClr val="000000"/>
              </a:solidFill>
              <a:latin typeface="Georgia"/>
              <a:ea typeface="Georgia"/>
              <a:cs typeface="Georgia"/>
              <a:sym typeface="Georgia"/>
            </a:endParaRPr>
          </a:p>
        </p:txBody>
      </p:sp>
      <p:pic>
        <p:nvPicPr>
          <p:cNvPr id="257" name="Google Shape;257;p30"/>
          <p:cNvPicPr preferRelativeResize="0"/>
          <p:nvPr/>
        </p:nvPicPr>
        <p:blipFill rotWithShape="1">
          <a:blip r:embed="rId3">
            <a:alphaModFix/>
          </a:blip>
          <a:srcRect/>
          <a:stretch/>
        </p:blipFill>
        <p:spPr>
          <a:xfrm>
            <a:off x="475374" y="1090264"/>
            <a:ext cx="3700210" cy="1752731"/>
          </a:xfrm>
          <a:prstGeom prst="rect">
            <a:avLst/>
          </a:prstGeom>
          <a:noFill/>
          <a:ln>
            <a:noFill/>
          </a:ln>
        </p:spPr>
      </p:pic>
      <p:pic>
        <p:nvPicPr>
          <p:cNvPr id="258" name="Google Shape;258;p30"/>
          <p:cNvPicPr preferRelativeResize="0"/>
          <p:nvPr/>
        </p:nvPicPr>
        <p:blipFill rotWithShape="1">
          <a:blip r:embed="rId4">
            <a:alphaModFix/>
          </a:blip>
          <a:srcRect/>
          <a:stretch/>
        </p:blipFill>
        <p:spPr>
          <a:xfrm>
            <a:off x="5038659" y="1034613"/>
            <a:ext cx="3864947" cy="1830764"/>
          </a:xfrm>
          <a:prstGeom prst="rect">
            <a:avLst/>
          </a:prstGeom>
          <a:noFill/>
          <a:ln>
            <a:noFill/>
          </a:ln>
        </p:spPr>
      </p:pic>
      <p:pic>
        <p:nvPicPr>
          <p:cNvPr id="259" name="Google Shape;259;p30"/>
          <p:cNvPicPr preferRelativeResize="0"/>
          <p:nvPr/>
        </p:nvPicPr>
        <p:blipFill rotWithShape="1">
          <a:blip r:embed="rId5">
            <a:alphaModFix/>
          </a:blip>
          <a:srcRect/>
          <a:stretch/>
        </p:blipFill>
        <p:spPr>
          <a:xfrm>
            <a:off x="2660224" y="3066429"/>
            <a:ext cx="3634948" cy="1973614"/>
          </a:xfrm>
          <a:prstGeom prst="rect">
            <a:avLst/>
          </a:prstGeom>
          <a:noFill/>
          <a:ln>
            <a:noFill/>
          </a:ln>
        </p:spPr>
      </p:pic>
      <p:pic>
        <p:nvPicPr>
          <p:cNvPr id="260" name="Google Shape;260;p30"/>
          <p:cNvPicPr preferRelativeResize="0"/>
          <p:nvPr/>
        </p:nvPicPr>
        <p:blipFill rotWithShape="1">
          <a:blip r:embed="rId6">
            <a:alphaModFix/>
          </a:blip>
          <a:srcRect/>
          <a:stretch/>
        </p:blipFill>
        <p:spPr>
          <a:xfrm>
            <a:off x="6809509" y="3792849"/>
            <a:ext cx="2225386" cy="1247194"/>
          </a:xfrm>
          <a:prstGeom prst="rect">
            <a:avLst/>
          </a:prstGeom>
          <a:noFill/>
          <a:ln>
            <a:noFill/>
          </a:ln>
        </p:spPr>
      </p:pic>
      <p:sp>
        <p:nvSpPr>
          <p:cNvPr id="2" name="Google Shape;183;p21">
            <a:extLst>
              <a:ext uri="{FF2B5EF4-FFF2-40B4-BE49-F238E27FC236}">
                <a16:creationId xmlns:a16="http://schemas.microsoft.com/office/drawing/2014/main" id="{242FA392-314A-CCC4-7C43-B7376E363B57}"/>
              </a:ext>
            </a:extLst>
          </p:cNvPr>
          <p:cNvSpPr/>
          <p:nvPr/>
        </p:nvSpPr>
        <p:spPr>
          <a:xfrm>
            <a:off x="475375" y="2409540"/>
            <a:ext cx="3700210" cy="481164"/>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00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1"/>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How to Define Fairness</a:t>
            </a:r>
            <a:endParaRPr sz="1200">
              <a:solidFill>
                <a:srgbClr val="000000"/>
              </a:solidFill>
              <a:latin typeface="Georgia"/>
              <a:ea typeface="Georgia"/>
              <a:cs typeface="Georgia"/>
              <a:sym typeface="Georgia"/>
            </a:endParaRPr>
          </a:p>
        </p:txBody>
      </p:sp>
      <p:sp>
        <p:nvSpPr>
          <p:cNvPr id="266" name="Google Shape;266;p31"/>
          <p:cNvSpPr txBox="1">
            <a:spLocks noGrp="1"/>
          </p:cNvSpPr>
          <p:nvPr>
            <p:ph type="body" idx="1"/>
          </p:nvPr>
        </p:nvSpPr>
        <p:spPr>
          <a:xfrm>
            <a:off x="633849" y="1035875"/>
            <a:ext cx="7856625" cy="464701"/>
          </a:xfrm>
          <a:prstGeom prst="rect">
            <a:avLst/>
          </a:prstGeom>
          <a:noFill/>
          <a:ln>
            <a:noFill/>
          </a:ln>
        </p:spPr>
        <p:txBody>
          <a:bodyPr spcFirstLastPara="1" wrap="square" lIns="68575" tIns="34275" rIns="68575" bIns="34275" anchor="t" anchorCtr="0">
            <a:noAutofit/>
          </a:bodyPr>
          <a:lstStyle/>
          <a:p>
            <a:pPr marL="457200" lvl="0" indent="-317500" algn="ctr" rtl="0">
              <a:lnSpc>
                <a:spcPct val="90000"/>
              </a:lnSpc>
              <a:spcBef>
                <a:spcPts val="800"/>
              </a:spcBef>
              <a:spcAft>
                <a:spcPts val="0"/>
              </a:spcAft>
              <a:buSzPts val="1400"/>
              <a:buChar char="⚫"/>
            </a:pPr>
            <a:r>
              <a:rPr lang="en-US" sz="1800">
                <a:latin typeface="Georgia"/>
                <a:ea typeface="Georgia"/>
                <a:cs typeface="Georgia"/>
                <a:sym typeface="Georgia"/>
              </a:rPr>
              <a:t>Do JEE Scores Correctly Compare The Abilities of Applicants?</a:t>
            </a:r>
            <a:endParaRPr/>
          </a:p>
        </p:txBody>
      </p:sp>
      <p:sp>
        <p:nvSpPr>
          <p:cNvPr id="267" name="Google Shape;267;p31"/>
          <p:cNvSpPr txBox="1"/>
          <p:nvPr/>
        </p:nvSpPr>
        <p:spPr>
          <a:xfrm>
            <a:off x="1" y="1866001"/>
            <a:ext cx="4572000" cy="3277499"/>
          </a:xfrm>
          <a:prstGeom prst="rect">
            <a:avLst/>
          </a:prstGeom>
          <a:noFill/>
          <a:ln>
            <a:noFill/>
          </a:ln>
        </p:spPr>
        <p:txBody>
          <a:bodyPr spcFirstLastPara="1" wrap="square" lIns="68575" tIns="34275" rIns="68575" bIns="34275" anchor="t" anchorCtr="0">
            <a:noAutofit/>
          </a:bodyPr>
          <a:lstStyle/>
          <a:p>
            <a:pPr marL="139700" marR="0" lvl="0" indent="0" algn="ctr" rtl="0">
              <a:lnSpc>
                <a:spcPct val="90000"/>
              </a:lnSpc>
              <a:spcBef>
                <a:spcPts val="800"/>
              </a:spcBef>
              <a:spcAft>
                <a:spcPts val="0"/>
              </a:spcAft>
              <a:buClr>
                <a:schemeClr val="dk1"/>
              </a:buClr>
              <a:buSzPts val="1400"/>
              <a:buFont typeface="Noto Sans Symbols"/>
              <a:buNone/>
            </a:pPr>
            <a:r>
              <a:rPr lang="en-US" sz="1800" b="0" i="0" u="none" strike="noStrike" cap="none" dirty="0">
                <a:solidFill>
                  <a:schemeClr val="dk1"/>
                </a:solidFill>
                <a:latin typeface="Georgia"/>
                <a:ea typeface="Georgia"/>
                <a:cs typeface="Georgia"/>
                <a:sym typeface="Georgia"/>
              </a:rPr>
              <a:t>WYSIWYG (What You See Is What You Get)</a:t>
            </a:r>
            <a:endParaRPr dirty="0"/>
          </a:p>
          <a:p>
            <a:pPr marL="914400" marR="0" lvl="1" indent="-317500" algn="just" rtl="0">
              <a:lnSpc>
                <a:spcPct val="90000"/>
              </a:lnSpc>
              <a:spcBef>
                <a:spcPts val="4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YES</a:t>
            </a:r>
            <a:endParaRPr dirty="0"/>
          </a:p>
          <a:p>
            <a:pPr marL="914400" marR="0" lvl="1" indent="-317500" algn="just" rtl="0">
              <a:lnSpc>
                <a:spcPct val="90000"/>
              </a:lnSpc>
              <a:spcBef>
                <a:spcPts val="4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JEE score correlates well with future success and correctly compare the abilities of applicants</a:t>
            </a:r>
            <a:endParaRPr dirty="0"/>
          </a:p>
          <a:p>
            <a:pPr marL="914400" marR="0" lvl="1" indent="-317500" algn="just" rtl="0">
              <a:lnSpc>
                <a:spcPct val="90000"/>
              </a:lnSpc>
              <a:spcBef>
                <a:spcPts val="4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METRICS:</a:t>
            </a:r>
            <a:endParaRPr dirty="0"/>
          </a:p>
          <a:p>
            <a:pPr marL="914400" marR="0" lvl="1" indent="-317500" algn="just" rtl="0">
              <a:lnSpc>
                <a:spcPct val="90000"/>
              </a:lnSpc>
              <a:spcBef>
                <a:spcPts val="400"/>
              </a:spcBef>
              <a:spcAft>
                <a:spcPts val="0"/>
              </a:spcAft>
              <a:buClr>
                <a:schemeClr val="dk1"/>
              </a:buClr>
              <a:buSzPts val="1400"/>
              <a:buFont typeface="Noto Sans Symbols"/>
              <a:buChar char="⚫"/>
            </a:pPr>
            <a:r>
              <a:rPr lang="en-US" sz="1500" b="0" i="0" u="none" strike="noStrike" cap="none" dirty="0" err="1">
                <a:solidFill>
                  <a:schemeClr val="dk1"/>
                </a:solidFill>
                <a:latin typeface="Georgia"/>
                <a:ea typeface="Georgia"/>
                <a:cs typeface="Georgia"/>
                <a:sym typeface="Georgia"/>
              </a:rPr>
              <a:t>average_odds_difference</a:t>
            </a:r>
            <a:r>
              <a:rPr lang="en-US" sz="1500" b="0" i="0" u="none" strike="noStrike" cap="none" dirty="0">
                <a:solidFill>
                  <a:schemeClr val="dk1"/>
                </a:solidFill>
                <a:latin typeface="Georgia"/>
                <a:ea typeface="Georgia"/>
                <a:cs typeface="Georgia"/>
                <a:sym typeface="Georgia"/>
              </a:rPr>
              <a:t>&amp; </a:t>
            </a:r>
            <a:r>
              <a:rPr lang="en-US" sz="1500" b="0" i="0" u="none" strike="noStrike" cap="none" dirty="0" err="1">
                <a:solidFill>
                  <a:schemeClr val="dk1"/>
                </a:solidFill>
                <a:latin typeface="Georgia"/>
                <a:ea typeface="Georgia"/>
                <a:cs typeface="Georgia"/>
                <a:sym typeface="Georgia"/>
              </a:rPr>
              <a:t>average_abs_odds_difference</a:t>
            </a:r>
            <a:endParaRPr sz="1500" b="0" i="0" u="none" strike="noStrike" cap="none" dirty="0">
              <a:solidFill>
                <a:schemeClr val="dk1"/>
              </a:solidFill>
              <a:latin typeface="Georgia"/>
              <a:ea typeface="Georgia"/>
              <a:cs typeface="Georgia"/>
              <a:sym typeface="Georgia"/>
            </a:endParaRPr>
          </a:p>
        </p:txBody>
      </p:sp>
      <p:sp>
        <p:nvSpPr>
          <p:cNvPr id="268" name="Google Shape;268;p31"/>
          <p:cNvSpPr txBox="1"/>
          <p:nvPr/>
        </p:nvSpPr>
        <p:spPr>
          <a:xfrm>
            <a:off x="4572000" y="1866001"/>
            <a:ext cx="4572000" cy="3277499"/>
          </a:xfrm>
          <a:prstGeom prst="rect">
            <a:avLst/>
          </a:prstGeom>
          <a:noFill/>
          <a:ln>
            <a:noFill/>
          </a:ln>
        </p:spPr>
        <p:txBody>
          <a:bodyPr spcFirstLastPara="1" wrap="square" lIns="68575" tIns="34275" rIns="68575" bIns="34275" anchor="t" anchorCtr="0">
            <a:noAutofit/>
          </a:bodyPr>
          <a:lstStyle/>
          <a:p>
            <a:pPr marL="139700" marR="0" lvl="0" indent="0" algn="ctr" rtl="0">
              <a:lnSpc>
                <a:spcPct val="90000"/>
              </a:lnSpc>
              <a:spcBef>
                <a:spcPts val="800"/>
              </a:spcBef>
              <a:spcAft>
                <a:spcPts val="0"/>
              </a:spcAft>
              <a:buClr>
                <a:schemeClr val="dk1"/>
              </a:buClr>
              <a:buSzPts val="1400"/>
              <a:buFont typeface="Noto Sans Symbols"/>
              <a:buNone/>
            </a:pPr>
            <a:r>
              <a:rPr lang="en-US" sz="1800" b="0" i="0" u="none" strike="noStrike" cap="none" dirty="0">
                <a:solidFill>
                  <a:schemeClr val="dk1"/>
                </a:solidFill>
                <a:latin typeface="Georgia"/>
                <a:ea typeface="Georgia"/>
                <a:cs typeface="Georgia"/>
                <a:sym typeface="Georgia"/>
              </a:rPr>
              <a:t>WAE (We Are Equal)</a:t>
            </a:r>
            <a:endParaRPr dirty="0"/>
          </a:p>
          <a:p>
            <a:pPr marL="457200" marR="0" lvl="0" indent="-317500" algn="just" rtl="0">
              <a:lnSpc>
                <a:spcPct val="90000"/>
              </a:lnSpc>
              <a:spcBef>
                <a:spcPts val="8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NO</a:t>
            </a:r>
            <a:endParaRPr dirty="0"/>
          </a:p>
          <a:p>
            <a:pPr marL="457200" marR="0" lvl="0" indent="-317500" algn="just" rtl="0">
              <a:lnSpc>
                <a:spcPct val="90000"/>
              </a:lnSpc>
              <a:spcBef>
                <a:spcPts val="8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JEE score may contain structural biases so its distribution is different across groups(non-English speaking parents, single parents, low income, no JEE Prep)</a:t>
            </a:r>
            <a:endParaRPr dirty="0"/>
          </a:p>
          <a:p>
            <a:pPr marL="457200" marR="0" lvl="0" indent="-317500" algn="just" rtl="0">
              <a:lnSpc>
                <a:spcPct val="90000"/>
              </a:lnSpc>
              <a:spcBef>
                <a:spcPts val="800"/>
              </a:spcBef>
              <a:spcAft>
                <a:spcPts val="0"/>
              </a:spcAft>
              <a:buClr>
                <a:schemeClr val="dk1"/>
              </a:buClr>
              <a:buSzPts val="1400"/>
              <a:buFont typeface="Noto Sans Symbols"/>
              <a:buChar char="⚫"/>
            </a:pPr>
            <a:r>
              <a:rPr lang="en-US" sz="1500" b="0" i="0" u="none" strike="noStrike" cap="none" dirty="0">
                <a:solidFill>
                  <a:schemeClr val="dk1"/>
                </a:solidFill>
                <a:latin typeface="Georgia"/>
                <a:ea typeface="Georgia"/>
                <a:cs typeface="Georgia"/>
                <a:sym typeface="Georgia"/>
              </a:rPr>
              <a:t>METRICS:</a:t>
            </a:r>
            <a:endParaRPr dirty="0"/>
          </a:p>
          <a:p>
            <a:pPr marL="457200" marR="0" lvl="0" indent="-317500" algn="just" rtl="0">
              <a:lnSpc>
                <a:spcPct val="90000"/>
              </a:lnSpc>
              <a:spcBef>
                <a:spcPts val="800"/>
              </a:spcBef>
              <a:spcAft>
                <a:spcPts val="0"/>
              </a:spcAft>
              <a:buClr>
                <a:schemeClr val="dk1"/>
              </a:buClr>
              <a:buSzPts val="1400"/>
              <a:buFont typeface="Noto Sans Symbols"/>
              <a:buChar char="⚫"/>
            </a:pPr>
            <a:r>
              <a:rPr lang="en-US" sz="1500" b="0" i="0" u="none" strike="noStrike" cap="none" dirty="0" err="1">
                <a:solidFill>
                  <a:schemeClr val="dk1"/>
                </a:solidFill>
                <a:latin typeface="Georgia"/>
                <a:ea typeface="Georgia"/>
                <a:cs typeface="Georgia"/>
                <a:sym typeface="Georgia"/>
              </a:rPr>
              <a:t>disparate_impact</a:t>
            </a:r>
            <a:r>
              <a:rPr lang="en-US" sz="1500" b="0" i="0" u="none" strike="noStrike" cap="none" dirty="0">
                <a:solidFill>
                  <a:schemeClr val="dk1"/>
                </a:solidFill>
                <a:latin typeface="Georgia"/>
                <a:ea typeface="Georgia"/>
                <a:cs typeface="Georgia"/>
                <a:sym typeface="Georgia"/>
              </a:rPr>
              <a:t>&amp;</a:t>
            </a:r>
            <a:endParaRPr dirty="0"/>
          </a:p>
          <a:p>
            <a:pPr marL="457200" marR="0" lvl="0" indent="-317500" algn="just" rtl="0">
              <a:lnSpc>
                <a:spcPct val="90000"/>
              </a:lnSpc>
              <a:spcBef>
                <a:spcPts val="800"/>
              </a:spcBef>
              <a:spcAft>
                <a:spcPts val="0"/>
              </a:spcAft>
              <a:buClr>
                <a:schemeClr val="dk1"/>
              </a:buClr>
              <a:buSzPts val="1400"/>
              <a:buFont typeface="Noto Sans Symbols"/>
              <a:buChar char="⚫"/>
            </a:pPr>
            <a:r>
              <a:rPr lang="en-US" sz="1500" b="0" i="0" u="none" strike="noStrike" cap="none" dirty="0" err="1">
                <a:solidFill>
                  <a:schemeClr val="dk1"/>
                </a:solidFill>
                <a:latin typeface="Georgia"/>
                <a:ea typeface="Georgia"/>
                <a:cs typeface="Georgia"/>
                <a:sym typeface="Georgia"/>
              </a:rPr>
              <a:t>statistical_parity_difference</a:t>
            </a:r>
            <a:endParaRPr sz="1500" b="0" i="0" u="none" strike="noStrike" cap="none" dirty="0">
              <a:solidFill>
                <a:schemeClr val="dk1"/>
              </a:solidFill>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7">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7">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7">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8">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8">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2c9fda75f24_0_222"/>
          <p:cNvSpPr txBox="1">
            <a:spLocks noGrp="1"/>
          </p:cNvSpPr>
          <p:nvPr>
            <p:ph type="body" idx="1"/>
          </p:nvPr>
        </p:nvSpPr>
        <p:spPr>
          <a:xfrm>
            <a:off x="633845" y="1188287"/>
            <a:ext cx="7886700" cy="35994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SzPts val="1400"/>
              <a:buNone/>
            </a:pP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Rights and confidentiality of research participants</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Informed consent to research</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Recording</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Data retention and sharing/dissemination</a:t>
            </a:r>
            <a:endParaRPr sz="3000">
              <a:latin typeface="Georgia"/>
              <a:ea typeface="Georgia"/>
              <a:cs typeface="Georgia"/>
              <a:sym typeface="Georgia"/>
            </a:endParaRPr>
          </a:p>
        </p:txBody>
      </p:sp>
      <p:sp>
        <p:nvSpPr>
          <p:cNvPr id="280" name="Google Shape;280;g2c9fda75f24_0_222"/>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Georgia"/>
                <a:ea typeface="Georgia"/>
                <a:cs typeface="Georgia"/>
                <a:sym typeface="Georgia"/>
              </a:rPr>
              <a:t>Ethics in Research</a:t>
            </a:r>
            <a:endParaRPr sz="3600" b="1" i="0" u="none" strike="noStrike" cap="none">
              <a:solidFill>
                <a:srgbClr val="000000"/>
              </a:solidFill>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8">
          <a:extLst>
            <a:ext uri="{FF2B5EF4-FFF2-40B4-BE49-F238E27FC236}">
              <a16:creationId xmlns:a16="http://schemas.microsoft.com/office/drawing/2014/main" id="{296F89F0-2D25-C4D3-0E06-A2C07D84EC5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A002C21-8D2D-4825-9396-B017C1AEE1B2}"/>
              </a:ext>
            </a:extLst>
          </p:cNvPr>
          <p:cNvPicPr>
            <a:picLocks noChangeAspect="1"/>
          </p:cNvPicPr>
          <p:nvPr/>
        </p:nvPicPr>
        <p:blipFill>
          <a:blip r:embed="rId3"/>
          <a:stretch>
            <a:fillRect/>
          </a:stretch>
        </p:blipFill>
        <p:spPr>
          <a:xfrm>
            <a:off x="3044588" y="113058"/>
            <a:ext cx="6003997" cy="4917384"/>
          </a:xfrm>
          <a:prstGeom prst="rect">
            <a:avLst/>
          </a:prstGeom>
        </p:spPr>
      </p:pic>
      <p:sp>
        <p:nvSpPr>
          <p:cNvPr id="5" name="Google Shape;206;g2c9fda75f24_0_173">
            <a:extLst>
              <a:ext uri="{FF2B5EF4-FFF2-40B4-BE49-F238E27FC236}">
                <a16:creationId xmlns:a16="http://schemas.microsoft.com/office/drawing/2014/main" id="{5FBD41FB-7BB8-2CAA-EFAE-47FC9D68E7B5}"/>
              </a:ext>
            </a:extLst>
          </p:cNvPr>
          <p:cNvSpPr txBox="1"/>
          <p:nvPr/>
        </p:nvSpPr>
        <p:spPr>
          <a:xfrm>
            <a:off x="0" y="4312534"/>
            <a:ext cx="2695492"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https://</a:t>
            </a:r>
            <a:r>
              <a:rPr lang="en-US" sz="1400" b="0" i="0" u="none" strike="noStrike" cap="none" dirty="0" err="1">
                <a:solidFill>
                  <a:srgbClr val="000000"/>
                </a:solidFill>
                <a:latin typeface="Arial"/>
                <a:ea typeface="Arial"/>
                <a:cs typeface="Arial"/>
                <a:sym typeface="Arial"/>
              </a:rPr>
              <a:t>www.meity.gov.in</a:t>
            </a:r>
            <a:r>
              <a:rPr lang="en-US" sz="1400" b="0" i="0" u="none" strike="noStrike" cap="none" dirty="0">
                <a:solidFill>
                  <a:srgbClr val="000000"/>
                </a:solidFill>
                <a:latin typeface="Arial"/>
                <a:ea typeface="Arial"/>
                <a:cs typeface="Arial"/>
                <a:sym typeface="Arial"/>
              </a:rPr>
              <a:t>/static/uploads/2024/06/2bf1f0e9f04e6fb4f8fef35e82c42aa5.pdf</a:t>
            </a:r>
          </a:p>
        </p:txBody>
      </p:sp>
    </p:spTree>
    <p:extLst>
      <p:ext uri="{BB962C8B-B14F-4D97-AF65-F5344CB8AC3E}">
        <p14:creationId xmlns:p14="http://schemas.microsoft.com/office/powerpoint/2010/main" val="1762312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2c9fda75f24_0_386"/>
          <p:cNvSpPr txBox="1">
            <a:spLocks noGrp="1"/>
          </p:cNvSpPr>
          <p:nvPr>
            <p:ph type="body" idx="1"/>
          </p:nvPr>
        </p:nvSpPr>
        <p:spPr>
          <a:xfrm>
            <a:off x="0" y="906448"/>
            <a:ext cx="9144000" cy="4166483"/>
          </a:xfrm>
          <a:prstGeom prst="rect">
            <a:avLst/>
          </a:prstGeom>
          <a:noFill/>
          <a:ln>
            <a:noFill/>
          </a:ln>
        </p:spPr>
        <p:txBody>
          <a:bodyPr spcFirstLastPara="1" wrap="square" lIns="68575" tIns="34275" rIns="68575" bIns="34275" anchor="t" anchorCtr="0">
            <a:noAutofit/>
          </a:bodyPr>
          <a:lstStyle/>
          <a:p>
            <a:pPr marL="228600" marR="0" lvl="0" indent="-228600" algn="just" rtl="0">
              <a:lnSpc>
                <a:spcPct val="100000"/>
              </a:lnSpc>
              <a:spcBef>
                <a:spcPts val="0"/>
              </a:spcBef>
              <a:spcAft>
                <a:spcPts val="0"/>
              </a:spcAft>
              <a:buSzPts val="1400"/>
              <a:buFont typeface="+mj-lt"/>
              <a:buAutoNum type="arabicPeriod"/>
            </a:pPr>
            <a:r>
              <a:rPr lang="en-IN" sz="1400" dirty="0">
                <a:latin typeface="Georgia"/>
                <a:ea typeface="Georgia"/>
                <a:cs typeface="Georgia"/>
                <a:sym typeface="Georgia"/>
              </a:rPr>
              <a:t>Consent-Driven Data Processing:</a:t>
            </a:r>
          </a:p>
          <a:p>
            <a:pPr marL="685800" lvl="1" indent="-228600" algn="just">
              <a:lnSpc>
                <a:spcPct val="100000"/>
              </a:lnSpc>
              <a:spcBef>
                <a:spcPts val="0"/>
              </a:spcBef>
              <a:buFont typeface="+mj-lt"/>
              <a:buAutoNum type="arabicPeriod"/>
            </a:pPr>
            <a:r>
              <a:rPr lang="en-IN" sz="1400" dirty="0">
                <a:latin typeface="Georgia"/>
                <a:ea typeface="Georgia"/>
                <a:cs typeface="Georgia"/>
                <a:sym typeface="Georgia"/>
              </a:rPr>
              <a:t>The Act mandates that personal data be processed only with the explicit consent of the data subject (Data Principal). Consent must be specific, informed, and unambiguous. The ability to withdraw consent at any time is emphasized, and the process must be as easy as granting it​.</a:t>
            </a:r>
          </a:p>
          <a:p>
            <a:pPr marL="228600" marR="0" lvl="0" indent="-228600" algn="just" rtl="0">
              <a:lnSpc>
                <a:spcPct val="100000"/>
              </a:lnSpc>
              <a:spcBef>
                <a:spcPts val="0"/>
              </a:spcBef>
              <a:spcAft>
                <a:spcPts val="0"/>
              </a:spcAft>
              <a:buSzPts val="1400"/>
              <a:buFont typeface="+mj-lt"/>
              <a:buAutoNum type="arabicPeriod"/>
            </a:pPr>
            <a:r>
              <a:rPr lang="en-IN" sz="1400" dirty="0">
                <a:latin typeface="Georgia"/>
                <a:ea typeface="Georgia"/>
                <a:cs typeface="Georgia"/>
                <a:sym typeface="Georgia"/>
              </a:rPr>
              <a:t>Data Fiduciary Accountability:</a:t>
            </a:r>
          </a:p>
          <a:p>
            <a:pPr marL="685800" lvl="1" indent="-228600" algn="just">
              <a:lnSpc>
                <a:spcPct val="100000"/>
              </a:lnSpc>
              <a:spcBef>
                <a:spcPts val="0"/>
              </a:spcBef>
              <a:buFont typeface="+mj-lt"/>
              <a:buAutoNum type="arabicPeriod"/>
            </a:pPr>
            <a:r>
              <a:rPr lang="en-IN" sz="1400" dirty="0">
                <a:latin typeface="Georgia"/>
                <a:ea typeface="Georgia"/>
                <a:cs typeface="Georgia"/>
                <a:sym typeface="Georgia"/>
              </a:rPr>
              <a:t>Data Fiduciaries (entities that process personal data) must implement strong safeguards for data protection, ensure accuracy, and take reasonable steps to prevent data breaches. They are also required to erase data once it is no longer needed for the specified purpose​.</a:t>
            </a:r>
          </a:p>
          <a:p>
            <a:pPr marL="228600" marR="0" lvl="0" indent="-228600" algn="just" rtl="0">
              <a:lnSpc>
                <a:spcPct val="100000"/>
              </a:lnSpc>
              <a:spcBef>
                <a:spcPts val="0"/>
              </a:spcBef>
              <a:spcAft>
                <a:spcPts val="0"/>
              </a:spcAft>
              <a:buSzPts val="1400"/>
              <a:buFont typeface="+mj-lt"/>
              <a:buAutoNum type="arabicPeriod"/>
            </a:pPr>
            <a:r>
              <a:rPr lang="en-IN" sz="1400" dirty="0">
                <a:latin typeface="Georgia"/>
                <a:ea typeface="Georgia"/>
                <a:cs typeface="Georgia"/>
                <a:sym typeface="Georgia"/>
              </a:rPr>
              <a:t>Children's Data Protection:</a:t>
            </a:r>
          </a:p>
          <a:p>
            <a:pPr marL="685800" lvl="1" indent="-228600" algn="just">
              <a:lnSpc>
                <a:spcPct val="100000"/>
              </a:lnSpc>
              <a:spcBef>
                <a:spcPts val="0"/>
              </a:spcBef>
              <a:buFont typeface="+mj-lt"/>
              <a:buAutoNum type="arabicPeriod"/>
            </a:pPr>
            <a:r>
              <a:rPr lang="en-IN" sz="1400" dirty="0">
                <a:latin typeface="Georgia"/>
                <a:ea typeface="Georgia"/>
                <a:cs typeface="Georgia"/>
                <a:sym typeface="Georgia"/>
              </a:rPr>
              <a:t>The Act places strict restrictions on the processing of data for children (under 18), requiring verifiable parental consent and prohibiting </a:t>
            </a:r>
            <a:r>
              <a:rPr lang="en-IN" sz="1400" dirty="0" err="1">
                <a:latin typeface="Georgia"/>
                <a:ea typeface="Georgia"/>
                <a:cs typeface="Georgia"/>
                <a:sym typeface="Georgia"/>
              </a:rPr>
              <a:t>behavioral</a:t>
            </a:r>
            <a:r>
              <a:rPr lang="en-IN" sz="1400" dirty="0">
                <a:latin typeface="Georgia"/>
                <a:ea typeface="Georgia"/>
                <a:cs typeface="Georgia"/>
                <a:sym typeface="Georgia"/>
              </a:rPr>
              <a:t> monitoring or targeted advertising aimed at children​.</a:t>
            </a:r>
          </a:p>
          <a:p>
            <a:pPr marL="228600" marR="0" lvl="0" indent="-228600" algn="just" rtl="0">
              <a:lnSpc>
                <a:spcPct val="100000"/>
              </a:lnSpc>
              <a:spcBef>
                <a:spcPts val="0"/>
              </a:spcBef>
              <a:spcAft>
                <a:spcPts val="0"/>
              </a:spcAft>
              <a:buSzPts val="1400"/>
              <a:buFont typeface="+mj-lt"/>
              <a:buAutoNum type="arabicPeriod"/>
            </a:pPr>
            <a:r>
              <a:rPr lang="en-IN" sz="1400" dirty="0">
                <a:latin typeface="Georgia"/>
                <a:ea typeface="Georgia"/>
                <a:cs typeface="Georgia"/>
                <a:sym typeface="Georgia"/>
              </a:rPr>
              <a:t>Creation of the Data Protection Board of India:</a:t>
            </a:r>
          </a:p>
          <a:p>
            <a:pPr marL="685800" lvl="1" indent="-228600" algn="just">
              <a:lnSpc>
                <a:spcPct val="100000"/>
              </a:lnSpc>
              <a:spcBef>
                <a:spcPts val="0"/>
              </a:spcBef>
              <a:buFont typeface="+mj-lt"/>
              <a:buAutoNum type="arabicPeriod"/>
            </a:pPr>
            <a:r>
              <a:rPr lang="en-IN" sz="1400" dirty="0">
                <a:latin typeface="Georgia"/>
                <a:ea typeface="Georgia"/>
                <a:cs typeface="Georgia"/>
                <a:sym typeface="Georgia"/>
              </a:rPr>
              <a:t>A Data Protection Board is established to handle complaints related to data processing violations and breaches. This Board will have the power to investigate complaints, impose penalties, and direct corrective actions​.</a:t>
            </a:r>
          </a:p>
          <a:p>
            <a:pPr marL="228600" marR="0" lvl="0" indent="-228600" algn="just" rtl="0">
              <a:lnSpc>
                <a:spcPct val="100000"/>
              </a:lnSpc>
              <a:spcBef>
                <a:spcPts val="0"/>
              </a:spcBef>
              <a:spcAft>
                <a:spcPts val="0"/>
              </a:spcAft>
              <a:buSzPts val="1400"/>
              <a:buFont typeface="+mj-lt"/>
              <a:buAutoNum type="arabicPeriod"/>
            </a:pPr>
            <a:r>
              <a:rPr lang="en-IN" sz="1400" dirty="0">
                <a:latin typeface="Georgia"/>
                <a:ea typeface="Georgia"/>
                <a:cs typeface="Georgia"/>
                <a:sym typeface="Georgia"/>
              </a:rPr>
              <a:t>Penalties for Non-Compliance:</a:t>
            </a:r>
          </a:p>
          <a:p>
            <a:pPr marL="685800" lvl="1" indent="-228600" algn="just">
              <a:lnSpc>
                <a:spcPct val="100000"/>
              </a:lnSpc>
              <a:spcBef>
                <a:spcPts val="0"/>
              </a:spcBef>
              <a:buFont typeface="+mj-lt"/>
              <a:buAutoNum type="arabicPeriod"/>
            </a:pPr>
            <a:r>
              <a:rPr lang="en-IN" sz="1400" dirty="0">
                <a:latin typeface="Georgia"/>
                <a:ea typeface="Georgia"/>
                <a:cs typeface="Georgia"/>
                <a:sym typeface="Georgia"/>
              </a:rPr>
              <a:t>The Act outlines severe penalties for data breaches and non-compliance. Fines can be as high as 250 crore rupees for significant breaches, incentivizing companies to adhere to the rules and ensure stringent data protection measures​.</a:t>
            </a:r>
          </a:p>
          <a:p>
            <a:pPr marL="228600" marR="0" lvl="0" indent="-228600" algn="just" rtl="0">
              <a:lnSpc>
                <a:spcPct val="100000"/>
              </a:lnSpc>
              <a:spcBef>
                <a:spcPts val="0"/>
              </a:spcBef>
              <a:spcAft>
                <a:spcPts val="0"/>
              </a:spcAft>
              <a:buSzPts val="1400"/>
              <a:buFont typeface="+mj-lt"/>
              <a:buAutoNum type="arabicPeriod"/>
            </a:pPr>
            <a:endParaRPr sz="1400" dirty="0">
              <a:latin typeface="Georgia"/>
              <a:ea typeface="Georgia"/>
              <a:cs typeface="Georgia"/>
              <a:sym typeface="Georgia"/>
            </a:endParaRPr>
          </a:p>
        </p:txBody>
      </p:sp>
      <p:sp>
        <p:nvSpPr>
          <p:cNvPr id="286" name="Google Shape;286;g2c9fda75f24_0_386"/>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0000"/>
                </a:solidFill>
                <a:latin typeface="Georgia"/>
                <a:ea typeface="Georgia"/>
                <a:cs typeface="Georgia"/>
                <a:sym typeface="Georgia"/>
              </a:rPr>
              <a:t>DPDP: Key Points</a:t>
            </a:r>
            <a:endParaRPr sz="3600" b="1" i="0" u="none" strike="noStrike" cap="none" dirty="0">
              <a:solidFill>
                <a:srgbClr val="000000"/>
              </a:solidFill>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4">
          <a:extLst>
            <a:ext uri="{FF2B5EF4-FFF2-40B4-BE49-F238E27FC236}">
              <a16:creationId xmlns:a16="http://schemas.microsoft.com/office/drawing/2014/main" id="{71FB7599-6F80-A322-4619-8FB49BA30D75}"/>
            </a:ext>
          </a:extLst>
        </p:cNvPr>
        <p:cNvGrpSpPr/>
        <p:nvPr/>
      </p:nvGrpSpPr>
      <p:grpSpPr>
        <a:xfrm>
          <a:off x="0" y="0"/>
          <a:ext cx="0" cy="0"/>
          <a:chOff x="0" y="0"/>
          <a:chExt cx="0" cy="0"/>
        </a:xfrm>
      </p:grpSpPr>
      <p:sp>
        <p:nvSpPr>
          <p:cNvPr id="285" name="Google Shape;285;g2c9fda75f24_0_386">
            <a:extLst>
              <a:ext uri="{FF2B5EF4-FFF2-40B4-BE49-F238E27FC236}">
                <a16:creationId xmlns:a16="http://schemas.microsoft.com/office/drawing/2014/main" id="{F4E41366-35F8-6915-93B2-4F82F97BEBC9}"/>
              </a:ext>
            </a:extLst>
          </p:cNvPr>
          <p:cNvSpPr txBox="1">
            <a:spLocks noGrp="1"/>
          </p:cNvSpPr>
          <p:nvPr>
            <p:ph type="body" idx="1"/>
          </p:nvPr>
        </p:nvSpPr>
        <p:spPr>
          <a:xfrm>
            <a:off x="0" y="906448"/>
            <a:ext cx="9144000" cy="4166483"/>
          </a:xfrm>
          <a:prstGeom prst="rect">
            <a:avLst/>
          </a:prstGeom>
          <a:noFill/>
          <a:ln>
            <a:noFill/>
          </a:ln>
        </p:spPr>
        <p:txBody>
          <a:bodyPr spcFirstLastPara="1" wrap="square" lIns="68575" tIns="34275" rIns="68575" bIns="34275" anchor="t" anchorCtr="0">
            <a:noAutofit/>
          </a:bodyPr>
          <a:lstStyle/>
          <a:p>
            <a:pPr algn="l">
              <a:buFont typeface="+mj-lt"/>
              <a:buAutoNum type="arabicPeriod"/>
            </a:pPr>
            <a:r>
              <a:rPr lang="en-IN" sz="1400" b="1" i="0" dirty="0">
                <a:solidFill>
                  <a:srgbClr val="272727"/>
                </a:solidFill>
                <a:effectLst/>
                <a:latin typeface="Georgia" panose="02040502050405020303" pitchFamily="18" charset="0"/>
              </a:rPr>
              <a:t>Right To Information</a:t>
            </a:r>
          </a:p>
          <a:p>
            <a:pPr algn="l">
              <a:buNone/>
            </a:pPr>
            <a:r>
              <a:rPr lang="en-IN" sz="1400" b="0" i="0" dirty="0">
                <a:solidFill>
                  <a:srgbClr val="272727"/>
                </a:solidFill>
                <a:effectLst/>
                <a:latin typeface="Georgia" panose="02040502050405020303" pitchFamily="18" charset="0"/>
              </a:rPr>
              <a:t>Citizens will have the right to know what data is being collected, and the Data Fiduciary will need to make this information available in a way that can be easily understood.</a:t>
            </a:r>
          </a:p>
          <a:p>
            <a:pPr algn="l">
              <a:buNone/>
            </a:pPr>
            <a:r>
              <a:rPr lang="en-IN" sz="1400" b="0" i="0" dirty="0">
                <a:solidFill>
                  <a:srgbClr val="272727"/>
                </a:solidFill>
                <a:effectLst/>
                <a:latin typeface="Georgia" panose="02040502050405020303" pitchFamily="18" charset="0"/>
              </a:rPr>
              <a:t>Data Fiduciary must be transparent about why they collect personal data, how it will be used, with whom it might be shared, and how long it will be retained.</a:t>
            </a:r>
          </a:p>
          <a:p>
            <a:pPr algn="l">
              <a:buFont typeface="+mj-lt"/>
              <a:buAutoNum type="arabicPeriod"/>
            </a:pPr>
            <a:r>
              <a:rPr lang="en-IN" sz="1400" b="1" i="0" dirty="0">
                <a:solidFill>
                  <a:srgbClr val="272727"/>
                </a:solidFill>
                <a:effectLst/>
                <a:latin typeface="Georgia" panose="02040502050405020303" pitchFamily="18" charset="0"/>
              </a:rPr>
              <a:t>Right To Erase</a:t>
            </a:r>
          </a:p>
          <a:p>
            <a:pPr algn="l">
              <a:buNone/>
            </a:pPr>
            <a:r>
              <a:rPr lang="en-IN" sz="1400" b="0" i="0" dirty="0">
                <a:solidFill>
                  <a:srgbClr val="272727"/>
                </a:solidFill>
                <a:effectLst/>
                <a:latin typeface="Georgia" panose="02040502050405020303" pitchFamily="18" charset="0"/>
              </a:rPr>
              <a:t>Citizens will have the right to have inaccurate personal data rectified or completed if it is incomplete. The right to erasure, often referred to as "the right to be forgotten", allows citizens to request the deletion of data that is no longer required.</a:t>
            </a:r>
          </a:p>
          <a:p>
            <a:pPr algn="l">
              <a:buNone/>
            </a:pPr>
            <a:r>
              <a:rPr lang="en-IN" sz="1400" b="0" i="0" dirty="0">
                <a:solidFill>
                  <a:srgbClr val="272727"/>
                </a:solidFill>
                <a:effectLst/>
                <a:latin typeface="Georgia" panose="02040502050405020303" pitchFamily="18" charset="0"/>
              </a:rPr>
              <a:t>If an individual discovers that information held about them is incorrect or misleading, they can have it corrected.</a:t>
            </a:r>
          </a:p>
          <a:p>
            <a:pPr algn="l">
              <a:buFont typeface="+mj-lt"/>
              <a:buAutoNum type="arabicPeriod"/>
            </a:pPr>
            <a:r>
              <a:rPr lang="en-IN" sz="1400" b="1" i="0" dirty="0">
                <a:solidFill>
                  <a:srgbClr val="272727"/>
                </a:solidFill>
                <a:effectLst/>
                <a:latin typeface="Georgia" panose="02040502050405020303" pitchFamily="18" charset="0"/>
              </a:rPr>
              <a:t>Right To Nominate</a:t>
            </a:r>
          </a:p>
          <a:p>
            <a:pPr algn="l">
              <a:buNone/>
            </a:pPr>
            <a:r>
              <a:rPr lang="en-IN" sz="1400" b="0" i="0" dirty="0">
                <a:solidFill>
                  <a:srgbClr val="272727"/>
                </a:solidFill>
                <a:effectLst/>
                <a:latin typeface="Georgia" panose="02040502050405020303" pitchFamily="18" charset="0"/>
              </a:rPr>
              <a:t>Citizens can nominate or designate a representative to exercise their data rights in the event of death or if they are incapable of making their own decisions.</a:t>
            </a:r>
          </a:p>
          <a:p>
            <a:pPr algn="l">
              <a:buFont typeface="+mj-lt"/>
              <a:buAutoNum type="arabicPeriod"/>
            </a:pPr>
            <a:r>
              <a:rPr lang="en-IN" sz="1400" b="1" i="0" dirty="0">
                <a:solidFill>
                  <a:srgbClr val="272727"/>
                </a:solidFill>
                <a:effectLst/>
                <a:latin typeface="Georgia" panose="02040502050405020303" pitchFamily="18" charset="0"/>
              </a:rPr>
              <a:t>Right To Grievance Redressal</a:t>
            </a:r>
          </a:p>
          <a:p>
            <a:pPr marL="139700" indent="0" algn="l">
              <a:buNone/>
            </a:pPr>
            <a:r>
              <a:rPr lang="en-IN" sz="1400" b="0" i="0" dirty="0">
                <a:solidFill>
                  <a:srgbClr val="272727"/>
                </a:solidFill>
                <a:effectLst/>
                <a:latin typeface="Georgia" panose="02040502050405020303" pitchFamily="18" charset="0"/>
              </a:rPr>
              <a:t>Put simply, this means the right to complain and be heard.</a:t>
            </a:r>
          </a:p>
          <a:p>
            <a:pPr marL="228600" marR="0" lvl="0" indent="-228600" algn="just" rtl="0">
              <a:lnSpc>
                <a:spcPct val="100000"/>
              </a:lnSpc>
              <a:spcBef>
                <a:spcPts val="0"/>
              </a:spcBef>
              <a:spcAft>
                <a:spcPts val="0"/>
              </a:spcAft>
              <a:buSzPts val="1400"/>
              <a:buFont typeface="+mj-lt"/>
              <a:buAutoNum type="arabicPeriod"/>
            </a:pPr>
            <a:endParaRPr sz="1400" dirty="0">
              <a:latin typeface="Georgia"/>
              <a:ea typeface="Georgia"/>
              <a:cs typeface="Georgia"/>
              <a:sym typeface="Georgia"/>
            </a:endParaRPr>
          </a:p>
        </p:txBody>
      </p:sp>
      <p:sp>
        <p:nvSpPr>
          <p:cNvPr id="286" name="Google Shape;286;g2c9fda75f24_0_386">
            <a:extLst>
              <a:ext uri="{FF2B5EF4-FFF2-40B4-BE49-F238E27FC236}">
                <a16:creationId xmlns:a16="http://schemas.microsoft.com/office/drawing/2014/main" id="{1E5ACF5D-CFEA-BD27-256E-BC160D97483A}"/>
              </a:ext>
            </a:extLst>
          </p:cNvPr>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0000"/>
                </a:solidFill>
                <a:latin typeface="Georgia"/>
                <a:ea typeface="Georgia"/>
                <a:cs typeface="Georgia"/>
                <a:sym typeface="Georgia"/>
              </a:rPr>
              <a:t>DPDP: Key Points</a:t>
            </a:r>
            <a:endParaRPr sz="3600" b="1" i="0" u="none" strike="noStrike" cap="none" dirty="0">
              <a:solidFill>
                <a:srgbClr val="000000"/>
              </a:solidFill>
              <a:latin typeface="Georgia"/>
              <a:ea typeface="Georgia"/>
              <a:cs typeface="Georgia"/>
              <a:sym typeface="Georgia"/>
            </a:endParaRPr>
          </a:p>
        </p:txBody>
      </p:sp>
    </p:spTree>
    <p:extLst>
      <p:ext uri="{BB962C8B-B14F-4D97-AF65-F5344CB8AC3E}">
        <p14:creationId xmlns:p14="http://schemas.microsoft.com/office/powerpoint/2010/main" val="2018669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a:extLst>
            <a:ext uri="{FF2B5EF4-FFF2-40B4-BE49-F238E27FC236}">
              <a16:creationId xmlns:a16="http://schemas.microsoft.com/office/drawing/2014/main" id="{8F08CEFF-ACED-F76D-07A7-AEFABD6AE6FE}"/>
            </a:ext>
          </a:extLst>
        </p:cNvPr>
        <p:cNvGrpSpPr/>
        <p:nvPr/>
      </p:nvGrpSpPr>
      <p:grpSpPr>
        <a:xfrm>
          <a:off x="0" y="0"/>
          <a:ext cx="0" cy="0"/>
          <a:chOff x="0" y="0"/>
          <a:chExt cx="0" cy="0"/>
        </a:xfrm>
      </p:grpSpPr>
      <p:sp>
        <p:nvSpPr>
          <p:cNvPr id="285" name="Google Shape;285;g2c9fda75f24_0_386">
            <a:extLst>
              <a:ext uri="{FF2B5EF4-FFF2-40B4-BE49-F238E27FC236}">
                <a16:creationId xmlns:a16="http://schemas.microsoft.com/office/drawing/2014/main" id="{78B7D43D-DD10-CCA1-B555-C42B87C0DE46}"/>
              </a:ext>
            </a:extLst>
          </p:cNvPr>
          <p:cNvSpPr txBox="1">
            <a:spLocks noGrp="1"/>
          </p:cNvSpPr>
          <p:nvPr>
            <p:ph type="body" idx="1"/>
          </p:nvPr>
        </p:nvSpPr>
        <p:spPr>
          <a:xfrm>
            <a:off x="633845" y="1188287"/>
            <a:ext cx="7886700" cy="35994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SzPts val="1400"/>
              <a:buNone/>
            </a:pPr>
            <a:r>
              <a:rPr lang="en-US" sz="3000" u="sng">
                <a:solidFill>
                  <a:schemeClr val="hlink"/>
                </a:solidFill>
                <a:latin typeface="Georgia"/>
                <a:ea typeface="Georgia"/>
                <a:cs typeface="Georgia"/>
                <a:sym typeface="Georgia"/>
                <a:hlinkClick r:id="rId3"/>
              </a:rPr>
              <a:t>The EU is right to refuse legal personality for Artificial Intelligence</a:t>
            </a:r>
            <a:endParaRPr sz="3000">
              <a:latin typeface="Georgia"/>
              <a:ea typeface="Georgia"/>
              <a:cs typeface="Georgia"/>
              <a:sym typeface="Georgia"/>
            </a:endParaRPr>
          </a:p>
          <a:p>
            <a:pPr marL="0" marR="0" lvl="0" indent="0" algn="just" rtl="0">
              <a:lnSpc>
                <a:spcPct val="100000"/>
              </a:lnSpc>
              <a:spcBef>
                <a:spcPts val="0"/>
              </a:spcBef>
              <a:spcAft>
                <a:spcPts val="0"/>
              </a:spcAft>
              <a:buSzPts val="1400"/>
              <a:buNone/>
            </a:pP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Legal personality.</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Is robot is a conscious being?</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Freedom of will</a:t>
            </a:r>
            <a:endParaRPr sz="3000">
              <a:latin typeface="Georgia"/>
              <a:ea typeface="Georgia"/>
              <a:cs typeface="Georgia"/>
              <a:sym typeface="Georgia"/>
            </a:endParaRPr>
          </a:p>
        </p:txBody>
      </p:sp>
      <p:sp>
        <p:nvSpPr>
          <p:cNvPr id="286" name="Google Shape;286;g2c9fda75f24_0_386">
            <a:extLst>
              <a:ext uri="{FF2B5EF4-FFF2-40B4-BE49-F238E27FC236}">
                <a16:creationId xmlns:a16="http://schemas.microsoft.com/office/drawing/2014/main" id="{A99275DF-B3DE-B895-2215-055A34A6CECF}"/>
              </a:ext>
            </a:extLst>
          </p:cNvPr>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Georgia"/>
                <a:ea typeface="Georgia"/>
                <a:cs typeface="Georgia"/>
                <a:sym typeface="Georgia"/>
              </a:rPr>
              <a:t>Legalisation:  Liability</a:t>
            </a:r>
            <a:endParaRPr sz="3600" b="1" i="0" u="none" strike="noStrike" cap="none">
              <a:solidFill>
                <a:srgbClr val="000000"/>
              </a:solidFill>
              <a:latin typeface="Georgia"/>
              <a:ea typeface="Georgia"/>
              <a:cs typeface="Georgia"/>
              <a:sym typeface="Georgia"/>
            </a:endParaRPr>
          </a:p>
        </p:txBody>
      </p:sp>
    </p:spTree>
    <p:extLst>
      <p:ext uri="{BB962C8B-B14F-4D97-AF65-F5344CB8AC3E}">
        <p14:creationId xmlns:p14="http://schemas.microsoft.com/office/powerpoint/2010/main" val="2404309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2c9fda75f24_0_391"/>
          <p:cNvSpPr txBox="1">
            <a:spLocks noGrp="1"/>
          </p:cNvSpPr>
          <p:nvPr>
            <p:ph type="body" idx="1"/>
          </p:nvPr>
        </p:nvSpPr>
        <p:spPr>
          <a:xfrm>
            <a:off x="633845" y="1188287"/>
            <a:ext cx="7886700" cy="35994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SzPts val="1400"/>
              <a:buNone/>
            </a:pP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UN Convention on the Rights of Persons with Disabilities</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UN Convention on the Rights of Child</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EU Safety Requirements for Collaborative Robots and Applications</a:t>
            </a:r>
            <a:endParaRPr sz="3000">
              <a:latin typeface="Georgia"/>
              <a:ea typeface="Georgia"/>
              <a:cs typeface="Georgia"/>
              <a:sym typeface="Georgia"/>
            </a:endParaRPr>
          </a:p>
        </p:txBody>
      </p:sp>
      <p:sp>
        <p:nvSpPr>
          <p:cNvPr id="292" name="Google Shape;292;g2c9fda75f24_0_391"/>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Georgia"/>
                <a:ea typeface="Georgia"/>
                <a:cs typeface="Georgia"/>
                <a:sym typeface="Georgia"/>
              </a:rPr>
              <a:t>Legalisation</a:t>
            </a:r>
            <a:endParaRPr sz="3600" b="1" i="0" u="none" strike="noStrike" cap="none">
              <a:solidFill>
                <a:srgbClr val="000000"/>
              </a:solidFill>
              <a:latin typeface="Georgia"/>
              <a:ea typeface="Georgia"/>
              <a:cs typeface="Georgia"/>
              <a:sym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g2c9fda75f24_0_396"/>
          <p:cNvSpPr txBox="1">
            <a:spLocks noGrp="1"/>
          </p:cNvSpPr>
          <p:nvPr>
            <p:ph type="body" idx="1"/>
          </p:nvPr>
        </p:nvSpPr>
        <p:spPr>
          <a:xfrm>
            <a:off x="633845" y="1188287"/>
            <a:ext cx="7886700" cy="35994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SzPts val="1400"/>
              <a:buNone/>
            </a:pP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General Data Protection Regulation</a:t>
            </a:r>
            <a:endParaRPr sz="3000">
              <a:latin typeface="Georgia"/>
              <a:ea typeface="Georgia"/>
              <a:cs typeface="Georgia"/>
              <a:sym typeface="Georgia"/>
            </a:endParaRPr>
          </a:p>
          <a:p>
            <a:pPr marL="457200" marR="0" lvl="0"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National Data Sharing and Accessibility Policy</a:t>
            </a:r>
            <a:endParaRPr sz="3000">
              <a:latin typeface="Georgia"/>
              <a:ea typeface="Georgia"/>
              <a:cs typeface="Georgia"/>
              <a:sym typeface="Georgia"/>
            </a:endParaRPr>
          </a:p>
          <a:p>
            <a:pPr marL="914400" marR="0" lvl="1" indent="-419100" algn="just" rtl="0">
              <a:lnSpc>
                <a:spcPct val="100000"/>
              </a:lnSpc>
              <a:spcBef>
                <a:spcPts val="0"/>
              </a:spcBef>
              <a:spcAft>
                <a:spcPts val="0"/>
              </a:spcAft>
              <a:buSzPts val="3000"/>
              <a:buFont typeface="Georgia"/>
              <a:buChar char="○"/>
            </a:pPr>
            <a:r>
              <a:rPr lang="en-US" sz="3000">
                <a:latin typeface="Georgia"/>
                <a:ea typeface="Georgia"/>
                <a:cs typeface="Georgia"/>
                <a:sym typeface="Georgia"/>
              </a:rPr>
              <a:t>Fairness/Tackling Biases</a:t>
            </a:r>
            <a:endParaRPr sz="3000">
              <a:latin typeface="Georgia"/>
              <a:ea typeface="Georgia"/>
              <a:cs typeface="Georgia"/>
              <a:sym typeface="Georgia"/>
            </a:endParaRPr>
          </a:p>
        </p:txBody>
      </p:sp>
      <p:sp>
        <p:nvSpPr>
          <p:cNvPr id="298" name="Google Shape;298;g2c9fda75f24_0_396"/>
          <p:cNvSpPr txBox="1"/>
          <p:nvPr/>
        </p:nvSpPr>
        <p:spPr>
          <a:xfrm>
            <a:off x="656125" y="232675"/>
            <a:ext cx="7886700" cy="572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a:solidFill>
                  <a:srgbClr val="000000"/>
                </a:solidFill>
                <a:latin typeface="Georgia"/>
                <a:ea typeface="Georgia"/>
                <a:cs typeface="Georgia"/>
                <a:sym typeface="Georgia"/>
              </a:rPr>
              <a:t>Legalisation: Data Protection</a:t>
            </a:r>
            <a:endParaRPr sz="3600" b="1" i="0" u="none" strike="noStrike" cap="none">
              <a:solidFill>
                <a:srgbClr val="000000"/>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a:solidFill>
                  <a:srgbClr val="000000"/>
                </a:solidFill>
                <a:latin typeface="Georgia"/>
                <a:ea typeface="Georgia"/>
                <a:cs typeface="Georgia"/>
                <a:sym typeface="Georgia"/>
              </a:rPr>
              <a:t>Activity-1</a:t>
            </a:r>
            <a:endParaRPr sz="1200">
              <a:solidFill>
                <a:srgbClr val="000000"/>
              </a:solidFill>
              <a:latin typeface="Georgia"/>
              <a:ea typeface="Georgia"/>
              <a:cs typeface="Georgia"/>
              <a:sym typeface="Georgia"/>
            </a:endParaRPr>
          </a:p>
        </p:txBody>
      </p:sp>
      <p:sp>
        <p:nvSpPr>
          <p:cNvPr id="304" name="Google Shape;304;p5"/>
          <p:cNvSpPr txBox="1"/>
          <p:nvPr/>
        </p:nvSpPr>
        <p:spPr>
          <a:xfrm>
            <a:off x="0" y="1127760"/>
            <a:ext cx="9144000" cy="378565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Georgia"/>
                <a:ea typeface="Georgia"/>
                <a:cs typeface="Georgia"/>
                <a:sym typeface="Georgia"/>
              </a:rPr>
              <a:t>Identify a project and the features that can be used for the decision at hand. Partition these features into two classes:</a:t>
            </a:r>
            <a:endParaRPr sz="1400" b="0" i="0" u="none" strike="noStrike" cap="none">
              <a:solidFill>
                <a:srgbClr val="000000"/>
              </a:solidFill>
              <a:latin typeface="Arial"/>
              <a:ea typeface="Arial"/>
              <a:cs typeface="Arial"/>
              <a:sym typeface="Arial"/>
            </a:endParaRPr>
          </a:p>
          <a:p>
            <a:pPr marL="285750" marR="0" lvl="3" indent="-285750" algn="just" rtl="0">
              <a:lnSpc>
                <a:spcPct val="100000"/>
              </a:lnSpc>
              <a:spcBef>
                <a:spcPts val="0"/>
              </a:spcBef>
              <a:spcAft>
                <a:spcPts val="0"/>
              </a:spcAft>
              <a:buClr>
                <a:srgbClr val="000000"/>
              </a:buClr>
              <a:buSzPts val="2400"/>
              <a:buFont typeface="Arial"/>
              <a:buChar char="•"/>
            </a:pPr>
            <a:r>
              <a:rPr lang="en-US" sz="2400" b="1" i="0" u="none" strike="noStrike" cap="none">
                <a:solidFill>
                  <a:srgbClr val="000000"/>
                </a:solidFill>
                <a:latin typeface="Georgia"/>
                <a:ea typeface="Georgia"/>
                <a:cs typeface="Georgia"/>
                <a:sym typeface="Georgia"/>
              </a:rPr>
              <a:t>Should Use: </a:t>
            </a:r>
            <a:r>
              <a:rPr lang="en-US" sz="2400" b="0" i="0" u="none" strike="noStrike" cap="none">
                <a:solidFill>
                  <a:srgbClr val="000000"/>
                </a:solidFill>
                <a:latin typeface="Georgia"/>
                <a:ea typeface="Georgia"/>
                <a:cs typeface="Georgia"/>
                <a:sym typeface="Georgia"/>
              </a:rPr>
              <a:t>For a good decision, one should take these features into account</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1" i="0" u="none" strike="noStrike" cap="none">
                <a:solidFill>
                  <a:srgbClr val="000000"/>
                </a:solidFill>
                <a:latin typeface="Georgia"/>
                <a:ea typeface="Georgia"/>
                <a:cs typeface="Georgia"/>
                <a:sym typeface="Georgia"/>
              </a:rPr>
              <a:t>Must Avoid: </a:t>
            </a:r>
            <a:r>
              <a:rPr lang="en-US" sz="2400" b="0" i="0" u="none" strike="noStrike" cap="none">
                <a:solidFill>
                  <a:srgbClr val="000000"/>
                </a:solidFill>
                <a:latin typeface="Georgia"/>
                <a:ea typeface="Georgia"/>
                <a:cs typeface="Georgia"/>
                <a:sym typeface="Georgia"/>
              </a:rPr>
              <a:t>For fairness, the decision must not discriminate based on these features, as much as possible.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Georgia"/>
                <a:ea typeface="Georgia"/>
                <a:cs typeface="Georgia"/>
                <a:sym typeface="Georgia"/>
              </a:rPr>
              <a:t>For example, a bank deciding whether to accept a loan application from an individual may consider “the number of previous loans defaulted” under should use, but race or gender under must avoid. </a:t>
            </a:r>
            <a:endParaRPr sz="2400" b="0" i="0" u="none" strike="noStrike" cap="none">
              <a:solidFill>
                <a:srgbClr val="000000"/>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2"/>
          <p:cNvSpPr txBox="1">
            <a:spLocks noGrp="1"/>
          </p:cNvSpPr>
          <p:nvPr>
            <p:ph type="title"/>
          </p:nvPr>
        </p:nvSpPr>
        <p:spPr>
          <a:xfrm>
            <a:off x="475375" y="205750"/>
            <a:ext cx="8015100" cy="464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100"/>
              <a:buNone/>
            </a:pPr>
            <a:r>
              <a:rPr lang="en-US" sz="3000" dirty="0">
                <a:solidFill>
                  <a:srgbClr val="000000"/>
                </a:solidFill>
                <a:latin typeface="Georgia"/>
                <a:ea typeface="Georgia"/>
                <a:cs typeface="Georgia"/>
                <a:sym typeface="Georgia"/>
              </a:rPr>
              <a:t>IBM 360 Toolkit Demo</a:t>
            </a:r>
            <a:endParaRPr sz="1200" dirty="0">
              <a:solidFill>
                <a:srgbClr val="000000"/>
              </a:solidFill>
              <a:latin typeface="Georgia"/>
              <a:ea typeface="Georgia"/>
              <a:cs typeface="Georgia"/>
              <a:sym typeface="Georgia"/>
            </a:endParaRPr>
          </a:p>
        </p:txBody>
      </p:sp>
      <p:sp>
        <p:nvSpPr>
          <p:cNvPr id="310" name="Google Shape;310;p32"/>
          <p:cNvSpPr txBox="1"/>
          <p:nvPr/>
        </p:nvSpPr>
        <p:spPr>
          <a:xfrm>
            <a:off x="0" y="1127760"/>
            <a:ext cx="9144000" cy="378565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Georgia"/>
                <a:ea typeface="Georgia"/>
                <a:cs typeface="Georgia"/>
                <a:sym typeface="Georgia"/>
              </a:rPr>
              <a:t>Identify a project and the features that can be used for the decision at hand. Partition these features into two classes:</a:t>
            </a:r>
            <a:endParaRPr sz="1400" b="0" i="0" u="none" strike="noStrike" cap="none" dirty="0">
              <a:solidFill>
                <a:srgbClr val="000000"/>
              </a:solidFill>
              <a:latin typeface="Arial"/>
              <a:ea typeface="Arial"/>
              <a:cs typeface="Arial"/>
              <a:sym typeface="Arial"/>
            </a:endParaRPr>
          </a:p>
          <a:p>
            <a:pPr marL="285750" marR="0" lvl="3" indent="-285750" algn="just" rtl="0">
              <a:lnSpc>
                <a:spcPct val="100000"/>
              </a:lnSpc>
              <a:spcBef>
                <a:spcPts val="0"/>
              </a:spcBef>
              <a:spcAft>
                <a:spcPts val="0"/>
              </a:spcAft>
              <a:buClr>
                <a:srgbClr val="000000"/>
              </a:buClr>
              <a:buSzPts val="2400"/>
              <a:buFont typeface="Arial"/>
              <a:buChar char="•"/>
            </a:pPr>
            <a:r>
              <a:rPr lang="en-US" sz="2400" b="1" i="0" u="none" strike="noStrike" cap="none" dirty="0">
                <a:solidFill>
                  <a:srgbClr val="000000"/>
                </a:solidFill>
                <a:latin typeface="Georgia"/>
                <a:ea typeface="Georgia"/>
                <a:cs typeface="Georgia"/>
                <a:sym typeface="Georgia"/>
              </a:rPr>
              <a:t>Should Use: </a:t>
            </a:r>
            <a:r>
              <a:rPr lang="en-US" sz="2400" b="0" i="0" u="none" strike="noStrike" cap="none" dirty="0">
                <a:solidFill>
                  <a:srgbClr val="000000"/>
                </a:solidFill>
                <a:latin typeface="Georgia"/>
                <a:ea typeface="Georgia"/>
                <a:cs typeface="Georgia"/>
                <a:sym typeface="Georgia"/>
              </a:rPr>
              <a:t>For a good decision, one should take these features into account</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1" i="0" u="none" strike="noStrike" cap="none" dirty="0">
                <a:solidFill>
                  <a:srgbClr val="000000"/>
                </a:solidFill>
                <a:latin typeface="Georgia"/>
                <a:ea typeface="Georgia"/>
                <a:cs typeface="Georgia"/>
                <a:sym typeface="Georgia"/>
              </a:rPr>
              <a:t>Must Avoid: </a:t>
            </a:r>
            <a:r>
              <a:rPr lang="en-US" sz="2400" b="0" i="0" u="none" strike="noStrike" cap="none" dirty="0">
                <a:solidFill>
                  <a:srgbClr val="000000"/>
                </a:solidFill>
                <a:latin typeface="Georgia"/>
                <a:ea typeface="Georgia"/>
                <a:cs typeface="Georgia"/>
                <a:sym typeface="Georgia"/>
              </a:rPr>
              <a:t>For fairness, the decision must not discriminate based on these features, as much as possible. </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Georgia"/>
                <a:ea typeface="Georgia"/>
                <a:cs typeface="Georgia"/>
                <a:sym typeface="Georgia"/>
              </a:rPr>
              <a:t>For example, a bank deciding whether to accept a loan application from an individual may consider “the number of previous loans defaulted” under should use, but race or gender under must avoid. </a:t>
            </a:r>
            <a:endParaRPr sz="2400" b="0" i="0" u="none" strike="noStrike" cap="none" dirty="0">
              <a:solidFill>
                <a:srgbClr val="000000"/>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pic>
        <p:nvPicPr>
          <p:cNvPr id="315" name="Google Shape;315;p6"/>
          <p:cNvPicPr preferRelativeResize="0"/>
          <p:nvPr/>
        </p:nvPicPr>
        <p:blipFill rotWithShape="1">
          <a:blip r:embed="rId3">
            <a:alphaModFix/>
          </a:blip>
          <a:srcRect/>
          <a:stretch/>
        </p:blipFill>
        <p:spPr>
          <a:xfrm>
            <a:off x="2555187" y="1020025"/>
            <a:ext cx="4033625" cy="40336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950</Words>
  <Application>Microsoft Macintosh PowerPoint</Application>
  <PresentationFormat>On-screen Show (16:9)</PresentationFormat>
  <Paragraphs>86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Georgia</vt:lpstr>
      <vt:lpstr>Noto Sans Symbols</vt:lpstr>
      <vt:lpstr>Calibri</vt:lpstr>
      <vt:lpstr>Quattrocento Sans</vt:lpstr>
      <vt:lpstr>Arial</vt:lpstr>
      <vt:lpstr>Office Theme</vt:lpstr>
      <vt:lpstr>Ethics of AI</vt:lpstr>
      <vt:lpstr>Questions of concern: https://www.nature.com/articles/s41586-019-1138-y </vt:lpstr>
      <vt:lpstr>PowerPoint Presentation</vt:lpstr>
      <vt:lpstr>PowerPoint Presentation</vt:lpstr>
      <vt:lpstr>PowerPoint Presentation</vt:lpstr>
      <vt:lpstr>PowerPoint Presentation</vt:lpstr>
      <vt:lpstr>PowerPoint Presentation</vt:lpstr>
      <vt:lpstr>PowerPoint Presentation</vt:lpstr>
      <vt:lpstr>Protected Attributes</vt:lpstr>
      <vt:lpstr>Sources of bias and discrimination</vt:lpstr>
      <vt:lpstr>How to Measure Fairness</vt:lpstr>
      <vt:lpstr>How to Define Fairness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Activity-1</vt:lpstr>
      <vt:lpstr>IBM 360 Toolkit 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Konto gościa (99998758)</cp:lastModifiedBy>
  <cp:revision>13</cp:revision>
  <dcterms:modified xsi:type="dcterms:W3CDTF">2025-04-22T05:24:10Z</dcterms:modified>
</cp:coreProperties>
</file>