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314" r:id="rId10"/>
    <p:sldId id="315" r:id="rId11"/>
    <p:sldId id="316" r:id="rId12"/>
    <p:sldId id="317" r:id="rId13"/>
    <p:sldId id="318" r:id="rId14"/>
    <p:sldId id="295" r:id="rId15"/>
    <p:sldId id="296" r:id="rId16"/>
    <p:sldId id="312" r:id="rId17"/>
    <p:sldId id="299" r:id="rId18"/>
    <p:sldId id="302" r:id="rId19"/>
    <p:sldId id="313" r:id="rId20"/>
    <p:sldId id="303" r:id="rId21"/>
    <p:sldId id="304" r:id="rId22"/>
    <p:sldId id="305" r:id="rId23"/>
    <p:sldId id="306" r:id="rId24"/>
    <p:sldId id="307" r:id="rId25"/>
    <p:sldId id="309" r:id="rId26"/>
    <p:sldId id="31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6F4ED-1190-C949-AF11-C1DF75E9651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40DEB-74A1-3B4B-84AE-B4F796470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1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anchor="t"/>
          <a:lstStyle>
            <a:lvl1pPr marL="0" indent="0">
              <a:buNone/>
              <a:defRPr sz="14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anchor="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4B3CE-4130-C145-9BAE-7F80BF49E9D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3B039-E094-D140-965A-6F76113E462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800" dirty="0"/>
              <a:t>Drug Discovery: </a:t>
            </a:r>
            <a:r>
              <a:rPr lang="en-GB" sz="3800" dirty="0" smtClean="0"/>
              <a:t>an Industrial Process</a:t>
            </a:r>
            <a:br>
              <a:rPr lang="en-GB" sz="3800" dirty="0" smtClean="0"/>
            </a:br>
            <a:endParaRPr lang="en-US" sz="38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How are drugs </a:t>
            </a:r>
            <a:r>
              <a:rPr lang="en-GB" dirty="0" smtClean="0"/>
              <a:t>discovered and developed?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1141" y="6005405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</a:t>
            </a:r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07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307970-963E-4CF6-B978-9E22731ECDA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1594" y="172479"/>
            <a:ext cx="9165594" cy="635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4911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A8B7A2-3E6E-488C-BA88-E895EA5CE68D}" type="slidenum">
              <a:rPr lang="en-US"/>
              <a:pPr/>
              <a:t>3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243"/>
            <a:ext cx="8229600" cy="1143000"/>
          </a:xfrm>
        </p:spPr>
        <p:txBody>
          <a:bodyPr/>
          <a:lstStyle/>
          <a:p>
            <a:r>
              <a:rPr lang="en-GB" dirty="0"/>
              <a:t>Just how much does it cost? </a:t>
            </a:r>
            <a:endParaRPr lang="en-US" dirty="0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>
            <a:lum bright="-8000"/>
            <a:alphaModFix amt="71000"/>
          </a:blip>
          <a:srcRect/>
          <a:stretch>
            <a:fillRect/>
          </a:stretch>
        </p:blipFill>
        <p:spPr bwMode="auto">
          <a:xfrm>
            <a:off x="0" y="1052736"/>
            <a:ext cx="889248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268760"/>
            <a:ext cx="7134225" cy="4225925"/>
          </a:xfrm>
        </p:spPr>
        <p:txBody>
          <a:bodyPr>
            <a:normAutofit fontScale="92500"/>
          </a:bodyPr>
          <a:lstStyle/>
          <a:p>
            <a:r>
              <a:rPr lang="en-GB" dirty="0">
                <a:solidFill>
                  <a:srgbClr val="FFFFFF"/>
                </a:solidFill>
              </a:rPr>
              <a:t>Broken down, the cost broadly works out at 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Around $335 million in the preclinical phases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Around $467 million in the clinical trial phases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Around $100 million in Post approval costs</a:t>
            </a:r>
          </a:p>
        </p:txBody>
      </p:sp>
    </p:spTree>
    <p:extLst>
      <p:ext uri="{BB962C8B-B14F-4D97-AF65-F5344CB8AC3E}">
        <p14:creationId xmlns:p14="http://schemas.microsoft.com/office/powerpoint/2010/main" val="168662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6B5979-2410-4357-8ECB-9E10E5249A85}" type="slidenum">
              <a:rPr lang="en-US"/>
              <a:pPr/>
              <a:t>4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/>
              <a:t>Don’t forget, it also costs to develop the ones that fail</a:t>
            </a:r>
            <a:endParaRPr lang="en-US" sz="280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/>
              <a:t>Although these figures are a little out of date* (they are probably worse now with the introduction of HTS), it gives an idea of how wasteful the process is</a:t>
            </a:r>
          </a:p>
          <a:p>
            <a:pPr>
              <a:lnSpc>
                <a:spcPct val="90000"/>
              </a:lnSpc>
            </a:pPr>
            <a:r>
              <a:rPr lang="en-GB" sz="2800"/>
              <a:t>For every 30,000 compounds synthesized</a:t>
            </a:r>
          </a:p>
          <a:p>
            <a:pPr lvl="1">
              <a:lnSpc>
                <a:spcPct val="90000"/>
              </a:lnSpc>
            </a:pPr>
            <a:r>
              <a:rPr lang="en-GB" sz="2400"/>
              <a:t>2000 (6.7%) enter preclinical development</a:t>
            </a:r>
          </a:p>
          <a:p>
            <a:pPr lvl="1">
              <a:lnSpc>
                <a:spcPct val="90000"/>
              </a:lnSpc>
            </a:pPr>
            <a:r>
              <a:rPr lang="en-GB" sz="2400"/>
              <a:t>200 (0.67%) enter phase 1 trials</a:t>
            </a:r>
          </a:p>
          <a:p>
            <a:pPr lvl="1">
              <a:lnSpc>
                <a:spcPct val="90000"/>
              </a:lnSpc>
            </a:pPr>
            <a:r>
              <a:rPr lang="en-GB" sz="2400"/>
              <a:t>40 (0.13%) enter phase 2 clinical trials</a:t>
            </a:r>
          </a:p>
          <a:p>
            <a:pPr lvl="1">
              <a:lnSpc>
                <a:spcPct val="90000"/>
              </a:lnSpc>
            </a:pPr>
            <a:r>
              <a:rPr lang="en-GB" sz="2400"/>
              <a:t>12 (0.04%) enter phase 3 clinical trials</a:t>
            </a:r>
          </a:p>
          <a:p>
            <a:pPr lvl="1">
              <a:lnSpc>
                <a:spcPct val="90000"/>
              </a:lnSpc>
            </a:pPr>
            <a:r>
              <a:rPr lang="en-GB" sz="2400"/>
              <a:t>8 (0.027%) are approved</a:t>
            </a:r>
          </a:p>
          <a:p>
            <a:pPr lvl="1">
              <a:lnSpc>
                <a:spcPct val="90000"/>
              </a:lnSpc>
            </a:pPr>
            <a:r>
              <a:rPr lang="en-GB" sz="2400"/>
              <a:t>1 (0.003%) makes a satisfactory ROI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GB" sz="2400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611188" y="5805488"/>
            <a:ext cx="741680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/>
              <a:t>*Christine A. Shillingford and Colin W. Vose </a:t>
            </a:r>
            <a:r>
              <a:rPr lang="en-GB" sz="1600" b="1"/>
              <a:t>Effective decision-making: progressing compounds through clinical development </a:t>
            </a:r>
            <a:r>
              <a:rPr lang="en-GB" sz="1600"/>
              <a:t>DDT Vol. 6, No. 18 September 2001</a:t>
            </a:r>
          </a:p>
        </p:txBody>
      </p:sp>
    </p:spTree>
    <p:extLst>
      <p:ext uri="{BB962C8B-B14F-4D97-AF65-F5344CB8AC3E}">
        <p14:creationId xmlns:p14="http://schemas.microsoft.com/office/powerpoint/2010/main" val="297421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04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Drug Discovery is a very wasteful game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7B2948-C889-48BC-8F66-D54C4683AA9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499" y="1560317"/>
            <a:ext cx="9150499" cy="5161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0480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186A3F-6DCF-4559-9C0D-535C445F158F}" type="slidenum">
              <a:rPr lang="en-US"/>
              <a:pPr/>
              <a:t>6</a:t>
            </a:fld>
            <a:endParaRPr lang="en-US"/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Don’t forget, it also costs to develop the ones that </a:t>
            </a:r>
            <a:r>
              <a:rPr lang="en-GB" sz="2800" b="1" dirty="0" smtClean="0"/>
              <a:t>fail!</a:t>
            </a:r>
            <a:endParaRPr lang="en-GB" sz="2800" b="1" dirty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Attrition at late clinical trial phase is very expensive and can be disastrous for smaller companies</a:t>
            </a:r>
          </a:p>
          <a:p>
            <a:r>
              <a:rPr lang="en-GB" sz="2800" dirty="0"/>
              <a:t>It is important to point out that in the last few years, some compounds have been pulled out late because it was thought that they would not make a ROI. </a:t>
            </a:r>
          </a:p>
          <a:p>
            <a:r>
              <a:rPr lang="en-GB" sz="2800" dirty="0"/>
              <a:t>Clearly just getting a drug on the market is not a case of the goose laying the golden egg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7720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It’s an expensive business</a:t>
            </a:r>
          </a:p>
        </p:txBody>
      </p:sp>
      <p:pic>
        <p:nvPicPr>
          <p:cNvPr id="114694" name="Picture 6" descr="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3627" y="1288006"/>
            <a:ext cx="7580151" cy="4913829"/>
          </a:xfrm>
          <a:prstGeom prst="rect">
            <a:avLst/>
          </a:prstGeom>
          <a:noFill/>
        </p:spPr>
      </p:pic>
      <p:sp>
        <p:nvSpPr>
          <p:cNvPr id="114695" name="Text Box 7"/>
          <p:cNvSpPr txBox="1">
            <a:spLocks noChangeArrowheads="1"/>
          </p:cNvSpPr>
          <p:nvPr/>
        </p:nvSpPr>
        <p:spPr bwMode="auto">
          <a:xfrm>
            <a:off x="539750" y="6258530"/>
            <a:ext cx="7345363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b="1" dirty="0"/>
              <a:t>R&amp;D investment in the USA between 1970 and 2004.</a:t>
            </a:r>
            <a:r>
              <a:rPr lang="en-GB" sz="1600" dirty="0"/>
              <a:t> Source is the </a:t>
            </a:r>
            <a:r>
              <a:rPr lang="en-GB" sz="1600" dirty="0" err="1"/>
              <a:t>PhRMA</a:t>
            </a:r>
            <a:r>
              <a:rPr lang="en-GB" sz="1600" dirty="0"/>
              <a:t> annual survey (</a:t>
            </a:r>
            <a:r>
              <a:rPr lang="en-GB" sz="1600" dirty="0" err="1"/>
              <a:t>www.phrma.org</a:t>
            </a:r>
            <a:r>
              <a:rPr lang="en-GB" sz="1600" dirty="0"/>
              <a:t>/publications/publications/17.03.2005.1142.cfm). </a:t>
            </a:r>
          </a:p>
        </p:txBody>
      </p:sp>
    </p:spTree>
    <p:extLst>
      <p:ext uri="{BB962C8B-B14F-4D97-AF65-F5344CB8AC3E}">
        <p14:creationId xmlns:p14="http://schemas.microsoft.com/office/powerpoint/2010/main" val="423596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A6975-085B-4533-926F-CC3FB2F73231}" type="slidenum">
              <a:rPr lang="en-US"/>
              <a:pPr/>
              <a:t>8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/>
              <a:t>Example: the development of antidepressant drugs</a:t>
            </a:r>
            <a:endParaRPr lang="en-US" sz="280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400" dirty="0"/>
              <a:t>Initially it was observed that modulation of biogenic </a:t>
            </a:r>
            <a:r>
              <a:rPr lang="en-GB" sz="2400" dirty="0" smtClean="0"/>
              <a:t>amine (ex. dopamine) </a:t>
            </a:r>
            <a:r>
              <a:rPr lang="en-GB" sz="2400" dirty="0"/>
              <a:t>levels were implicated in the development of depression 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The hypothesis was that pharmacological modulation of biogenic amines could be a process useful in the treatment of depression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How could this be achieved?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sz="24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By increasing the synthesis of transmitter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By preventing its breakdown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By producing agonists capable of stimulating post synaptic receptors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By preventing the reuptake of neurotransmitter from the synaptic cleft</a:t>
            </a:r>
          </a:p>
        </p:txBody>
      </p:sp>
    </p:spTree>
    <p:extLst>
      <p:ext uri="{BB962C8B-B14F-4D97-AF65-F5344CB8AC3E}">
        <p14:creationId xmlns:p14="http://schemas.microsoft.com/office/powerpoint/2010/main" val="122732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does that mean?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902" y="1293962"/>
            <a:ext cx="8893834" cy="545189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2. “Pharmacological modulation of biogenic amines”</a:t>
            </a:r>
          </a:p>
          <a:p>
            <a:r>
              <a:rPr lang="en-US" dirty="0"/>
              <a:t>This simply </a:t>
            </a:r>
            <a:r>
              <a:rPr lang="en-US" dirty="0" smtClean="0"/>
              <a:t>means: </a:t>
            </a:r>
            <a:r>
              <a:rPr lang="en-US" b="1" dirty="0" smtClean="0"/>
              <a:t>Use </a:t>
            </a:r>
            <a:r>
              <a:rPr lang="en-US" b="1" dirty="0"/>
              <a:t>drugs to change the amount or activity of these neurotransmitters.</a:t>
            </a: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A</a:t>
            </a:r>
            <a:r>
              <a:rPr lang="en-US" b="1" dirty="0"/>
              <a:t>. Increase synthesis of the transmitter</a:t>
            </a:r>
          </a:p>
          <a:p>
            <a:pPr marL="0" indent="0">
              <a:buNone/>
            </a:pPr>
            <a:r>
              <a:rPr lang="en-US" b="1" dirty="0"/>
              <a:t>Synthesis = making the neurotransmitter.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Imagine a neuron as a </a:t>
            </a:r>
            <a:r>
              <a:rPr lang="en-US" dirty="0" smtClean="0"/>
              <a:t>factory: </a:t>
            </a:r>
            <a:r>
              <a:rPr lang="en-US" b="1" dirty="0" smtClean="0"/>
              <a:t>Raw </a:t>
            </a:r>
            <a:r>
              <a:rPr lang="en-US" b="1" dirty="0"/>
              <a:t>materials → neurotransmitter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we give the neuron more raw material or stimulate the enzymes involved, it may produce more serotonin, noradrenaline, etc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⬆️ Synthesis → ⬆️ neurotransmitter available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14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that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B. Prevent its breakdown</a:t>
            </a:r>
          </a:p>
          <a:p>
            <a:pPr marL="0" indent="0">
              <a:buNone/>
            </a:pPr>
            <a:r>
              <a:rPr lang="en-IN" dirty="0"/>
              <a:t>Normally, neurotransmitters don't stay around forever. They are broken down by enzymes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b="1" dirty="0"/>
              <a:t>Monoamine oxidase (MAO)</a:t>
            </a:r>
            <a:r>
              <a:rPr lang="en-IN" dirty="0"/>
              <a:t> helps break down serotonin, noradrenaline and </a:t>
            </a:r>
            <a:r>
              <a:rPr lang="en-IN" dirty="0" smtClean="0"/>
              <a:t>dopamine. If </a:t>
            </a:r>
            <a:r>
              <a:rPr lang="en-IN" dirty="0"/>
              <a:t>a drug inhibits this breakdown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Less breakdown → more neurotransmitter remains available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67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that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428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C. Produce agonists that stimulate postsynaptic </a:t>
            </a:r>
            <a:r>
              <a:rPr lang="en-US" b="1" dirty="0" smtClean="0"/>
              <a:t>receptors\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Presynaptic </a:t>
            </a:r>
            <a:r>
              <a:rPr lang="en-US" b="1" dirty="0"/>
              <a:t>neuron → neurotransmitter → postsynaptic </a:t>
            </a:r>
            <a:r>
              <a:rPr lang="en-US" b="1" dirty="0" smtClean="0"/>
              <a:t>receptor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neurotransmitter binds to the receptor and produces an effect.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agonist</a:t>
            </a:r>
            <a:r>
              <a:rPr lang="en-US" dirty="0"/>
              <a:t> is a drug that can activate that receptor, essentially </a:t>
            </a:r>
            <a:r>
              <a:rPr lang="en-US" b="1" dirty="0"/>
              <a:t>mimicking the neurotransmitter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instead of increasing the actual amount of serotonin, for example, you could theoretically give a drug that </a:t>
            </a:r>
            <a:r>
              <a:rPr lang="en-US" b="1" dirty="0"/>
              <a:t>acts like serotonin at its receptor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Agonist → receptor activation → similar effect to neurotransmitter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08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that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565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D. Prevent reuptake of the </a:t>
            </a:r>
            <a:r>
              <a:rPr lang="en-US" dirty="0" smtClean="0"/>
              <a:t>neurotransmitter</a:t>
            </a:r>
          </a:p>
          <a:p>
            <a:pPr marL="0" indent="0">
              <a:buNone/>
            </a:pPr>
            <a:r>
              <a:rPr lang="en-IN" b="1" dirty="0"/>
              <a:t>Neuron A → serotonin → synaptic cleft → receptor → serotonin gets taken back</a:t>
            </a: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If </a:t>
            </a:r>
            <a:r>
              <a:rPr lang="en-IN" dirty="0"/>
              <a:t>a drug blocks the reuptake transporter:</a:t>
            </a:r>
          </a:p>
          <a:p>
            <a:pPr marL="0" indent="0">
              <a:buNone/>
            </a:pPr>
            <a:r>
              <a:rPr lang="en-IN" b="1" dirty="0"/>
              <a:t>Neuron A → serotonin → </a:t>
            </a:r>
            <a:r>
              <a:rPr lang="en-IN" b="1" dirty="0" smtClean="0"/>
              <a:t>reuptake </a:t>
            </a:r>
            <a:r>
              <a:rPr lang="en-IN" b="1" dirty="0"/>
              <a:t>blocked → serotonin stays longer in synaptic cleft</a:t>
            </a: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⬆️ </a:t>
            </a:r>
            <a:r>
              <a:rPr lang="en-IN" dirty="0"/>
              <a:t>serotonin/noradrenaline in synaptic </a:t>
            </a:r>
            <a:r>
              <a:rPr lang="en-IN" dirty="0" smtClean="0"/>
              <a:t>cleft → </a:t>
            </a:r>
            <a:r>
              <a:rPr lang="en-IN" dirty="0"/>
              <a:t>more/longer receptor stimulation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" y="0"/>
            <a:ext cx="9017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5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5F3454-21FD-465A-A601-09C67D46D3E8}" type="slidenum">
              <a:rPr lang="en-US"/>
              <a:pPr/>
              <a:t>14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/>
              <a:t>Which hypothesis was adopted?</a:t>
            </a:r>
            <a:endParaRPr lang="en-US" sz="320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/>
              <a:t>Actually, all of those hypotheses have been used in the past, some to greater effect than others</a:t>
            </a:r>
          </a:p>
          <a:p>
            <a:pPr>
              <a:lnSpc>
                <a:spcPct val="90000"/>
              </a:lnSpc>
            </a:pPr>
            <a:r>
              <a:rPr lang="en-GB" sz="2800"/>
              <a:t>For the sake of example let us consider the final hypothesis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Preventing the reuptake of neurotransmitter from the synaptic cleft will have an effect on their synaptic concentration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Increasing the levels of biogenic amine will produce an antidepressant effect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Such increases could be achieved by inhibiting the appropriate neurotransmitter transporter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GB" sz="2400"/>
          </a:p>
          <a:p>
            <a:pPr lvl="1">
              <a:lnSpc>
                <a:spcPct val="9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1900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3B8562-B0F1-4440-AA19-009DA60FFCFE}" type="slidenum">
              <a:rPr lang="en-US"/>
              <a:pPr/>
              <a:t>15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/>
              <a:t>How would we go about developing a drug based upon this hypothesis?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/>
              <a:t>We have now identified our target – the serotonin reuptake transporter</a:t>
            </a:r>
          </a:p>
          <a:p>
            <a:pPr>
              <a:lnSpc>
                <a:spcPct val="90000"/>
              </a:lnSpc>
            </a:pPr>
            <a:r>
              <a:rPr lang="en-GB" sz="2400"/>
              <a:t>The next part of the process involved validating the target</a:t>
            </a:r>
          </a:p>
          <a:p>
            <a:pPr>
              <a:lnSpc>
                <a:spcPct val="90000"/>
              </a:lnSpc>
            </a:pPr>
            <a:r>
              <a:rPr lang="en-GB" sz="2400"/>
              <a:t>Target validation involved a number of approaches: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Collecting all available information in the public domain that support the hypothesis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Developing </a:t>
            </a:r>
            <a:r>
              <a:rPr lang="en-GB" sz="2000" i="1"/>
              <a:t>in vitro</a:t>
            </a:r>
            <a:r>
              <a:rPr lang="en-GB" sz="2000"/>
              <a:t> and </a:t>
            </a:r>
            <a:r>
              <a:rPr lang="en-GB" sz="2000" i="1"/>
              <a:t>in vivo</a:t>
            </a:r>
            <a:r>
              <a:rPr lang="en-GB" sz="2000"/>
              <a:t> systems that can be used to support the hypothesis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Entering into agreements with external experts who can help with verifying the hypothesis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Assuming the hypothesis is sufficiently well validated, the team can move to the next phase which is hit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152911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D25CC-9C15-6095-EEB9-D9F64E940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85" y="92209"/>
            <a:ext cx="8217397" cy="666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7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8B1BAD-A181-43B2-9B81-BB12984CAD33}" type="slidenum">
              <a:rPr lang="en-US"/>
              <a:pPr/>
              <a:t>17</a:t>
            </a:fld>
            <a:endParaRPr 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Myth 2: We can do all of this by computer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/>
              <a:t>At present, this is not possible</a:t>
            </a:r>
          </a:p>
          <a:p>
            <a:pPr>
              <a:lnSpc>
                <a:spcPct val="90000"/>
              </a:lnSpc>
            </a:pPr>
            <a:r>
              <a:rPr lang="en-GB" sz="2800"/>
              <a:t>This is not a problem of computer power as such, but the intrinsic problem of how to predict conformation from scratch</a:t>
            </a:r>
          </a:p>
          <a:p>
            <a:pPr>
              <a:lnSpc>
                <a:spcPct val="90000"/>
              </a:lnSpc>
            </a:pPr>
            <a:r>
              <a:rPr lang="en-GB" sz="2800"/>
              <a:t>If you have a starting point, i.e. a molecule that you know interacts with your target, it will help you design the next molecule</a:t>
            </a:r>
          </a:p>
          <a:p>
            <a:pPr>
              <a:lnSpc>
                <a:spcPct val="90000"/>
              </a:lnSpc>
            </a:pPr>
            <a:r>
              <a:rPr lang="en-GB" sz="2800"/>
              <a:t>The value of computer simulation is in getting you to the optimal compound as quickly as possible, not in designing ligands </a:t>
            </a:r>
            <a:r>
              <a:rPr lang="en-GB" sz="2800" i="1"/>
              <a:t>de novo</a:t>
            </a:r>
          </a:p>
        </p:txBody>
      </p:sp>
    </p:spTree>
    <p:extLst>
      <p:ext uri="{BB962C8B-B14F-4D97-AF65-F5344CB8AC3E}">
        <p14:creationId xmlns:p14="http://schemas.microsoft.com/office/powerpoint/2010/main" val="379047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3115AA-75DB-4B41-9156-C30E0EDB8675}" type="slidenum">
              <a:rPr lang="en-US"/>
              <a:pPr/>
              <a:t>18</a:t>
            </a:fld>
            <a:endParaRPr lang="en-US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Clinical Trials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Once a candidate has been selected and the various safety hurdles addressed it can be entered into clinical trial.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916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307970-963E-4CF6-B978-9E22731ECDA7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1594" y="172479"/>
            <a:ext cx="9165594" cy="635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3284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1E3153-D934-4895-9719-F0427ECDEA5F}" type="slidenum">
              <a:rPr lang="en-US"/>
              <a:pPr/>
              <a:t>20</a:t>
            </a:fld>
            <a:endParaRPr lang="en-US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Phase 1 clinical trials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Phase 1 trials generally focus on safety, tolerability and bioavailability properties rather than efficacy</a:t>
            </a:r>
          </a:p>
          <a:p>
            <a:r>
              <a:rPr lang="en-GB"/>
              <a:t>The drug is administered to a small number of healthy volunteer trial participants</a:t>
            </a:r>
          </a:p>
        </p:txBody>
      </p:sp>
    </p:spTree>
    <p:extLst>
      <p:ext uri="{BB962C8B-B14F-4D97-AF65-F5344CB8AC3E}">
        <p14:creationId xmlns:p14="http://schemas.microsoft.com/office/powerpoint/2010/main" val="56825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BE7939-6AA5-4673-AD9D-4CCCE4FD5A11}" type="slidenum">
              <a:rPr lang="en-US"/>
              <a:pPr/>
              <a:t>21</a:t>
            </a:fld>
            <a:endParaRPr lang="en-US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Phase 2 clinical trials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/>
              <a:t>Phase 2 trials are focused on determining the efficacy of the drug in a larger number of patients (perhaps several hundred) suffering from the condition that the drug is intended to treat</a:t>
            </a:r>
          </a:p>
          <a:p>
            <a:r>
              <a:rPr lang="en-GB" sz="2800"/>
              <a:t>These trials may be performed globally and give information on efficacy and allow for a further estimation of safety in a larger population</a:t>
            </a:r>
          </a:p>
        </p:txBody>
      </p:sp>
    </p:spTree>
    <p:extLst>
      <p:ext uri="{BB962C8B-B14F-4D97-AF65-F5344CB8AC3E}">
        <p14:creationId xmlns:p14="http://schemas.microsoft.com/office/powerpoint/2010/main" val="65826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B86031-3D41-4119-9E0C-FBE240FC386A}" type="slidenum">
              <a:rPr lang="en-US"/>
              <a:pPr/>
              <a:t>22</a:t>
            </a:fld>
            <a:endParaRPr lang="en-US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Phase 3 clinical trials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/>
              <a:t>Assuming satisfactory results from phase 2 studies, the drug will enter phase 3 clinical trials</a:t>
            </a:r>
          </a:p>
          <a:p>
            <a:pPr>
              <a:lnSpc>
                <a:spcPct val="90000"/>
              </a:lnSpc>
            </a:pPr>
            <a:r>
              <a:rPr lang="en-GB" sz="2400"/>
              <a:t>Phase 3 clinical trials are in essence larger versions of the previous trials intended to answer specific questions with respect to efficacy</a:t>
            </a:r>
          </a:p>
          <a:p>
            <a:pPr>
              <a:lnSpc>
                <a:spcPct val="90000"/>
              </a:lnSpc>
            </a:pPr>
            <a:r>
              <a:rPr lang="en-GB" sz="2400"/>
              <a:t>The trials would routinely involve several thousand patients and compare the i.n.d. with drugs that are currently in use for the treatment of the disease (“comparators”)</a:t>
            </a:r>
          </a:p>
          <a:p>
            <a:pPr>
              <a:lnSpc>
                <a:spcPct val="90000"/>
              </a:lnSpc>
            </a:pPr>
            <a:r>
              <a:rPr lang="en-GB" sz="2400"/>
              <a:t>The results from these trials essentially form the basis of the risk/benefit analysis that will be submitted to the regulatory authorities</a:t>
            </a:r>
          </a:p>
        </p:txBody>
      </p:sp>
    </p:spTree>
    <p:extLst>
      <p:ext uri="{BB962C8B-B14F-4D97-AF65-F5344CB8AC3E}">
        <p14:creationId xmlns:p14="http://schemas.microsoft.com/office/powerpoint/2010/main" val="37082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64759C-38DA-4F50-9966-DC94545FCFF2}" type="slidenum">
              <a:rPr lang="en-US"/>
              <a:pPr/>
              <a:t>23</a:t>
            </a:fld>
            <a:endParaRPr lang="en-US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Phase 4 clinical trials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2800"/>
              <a:t>These trials are often referred to as post-marketing studies and they are performed after the medicine has been approved</a:t>
            </a:r>
          </a:p>
          <a:p>
            <a:r>
              <a:rPr lang="en-GB" sz="2800"/>
              <a:t>These give a greater idea of long term risk and benefit and may give indications as to how use can be modified</a:t>
            </a:r>
          </a:p>
          <a:p>
            <a:r>
              <a:rPr lang="en-GB" sz="2800"/>
              <a:t>The trials may involve many thousands of patients and go on for many years</a:t>
            </a:r>
          </a:p>
          <a:p>
            <a:r>
              <a:rPr lang="en-GB" sz="2800"/>
              <a:t>Such trials may assist in indicating other uses for the medicine</a:t>
            </a:r>
          </a:p>
        </p:txBody>
      </p:sp>
    </p:spTree>
    <p:extLst>
      <p:ext uri="{BB962C8B-B14F-4D97-AF65-F5344CB8AC3E}">
        <p14:creationId xmlns:p14="http://schemas.microsoft.com/office/powerpoint/2010/main" val="102525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7B18AE-7D82-4EFD-BAA1-D9DD86FAD4F3}" type="slidenum">
              <a:rPr lang="en-US"/>
              <a:pPr/>
              <a:t>24</a:t>
            </a:fld>
            <a:endParaRPr 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Observations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800"/>
              <a:t>Over the past 20 years there has been a number of changes in the Pharmaceutical industry</a:t>
            </a:r>
          </a:p>
          <a:p>
            <a:pPr>
              <a:lnSpc>
                <a:spcPct val="80000"/>
              </a:lnSpc>
            </a:pPr>
            <a:r>
              <a:rPr lang="en-GB" sz="2800"/>
              <a:t>There has been a shift from a “black box” discovery process to a “mechanistic” approach to drug discovery</a:t>
            </a:r>
          </a:p>
          <a:p>
            <a:pPr>
              <a:lnSpc>
                <a:spcPct val="80000"/>
              </a:lnSpc>
            </a:pPr>
            <a:r>
              <a:rPr lang="en-GB" sz="2800"/>
              <a:t>Although there are benefits to this approach, there are some issues:</a:t>
            </a:r>
          </a:p>
          <a:p>
            <a:pPr lvl="1">
              <a:lnSpc>
                <a:spcPct val="80000"/>
              </a:lnSpc>
            </a:pPr>
            <a:r>
              <a:rPr lang="en-GB" sz="2400"/>
              <a:t>The approach is predicated on the “one-disease one-gene” hypothesis, which clearly has limitations, not least for disorders such as schizophrenia amongst others, where effective drugs seem to target multiple receptors</a:t>
            </a:r>
          </a:p>
        </p:txBody>
      </p:sp>
    </p:spTree>
    <p:extLst>
      <p:ext uri="{BB962C8B-B14F-4D97-AF65-F5344CB8AC3E}">
        <p14:creationId xmlns:p14="http://schemas.microsoft.com/office/powerpoint/2010/main" val="393480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Remember why you do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That is a hell of a rewarding feeling when you have made something that has become a medicine and people turn round and thank you for doing it. When you talk about professional reward, the people aspect is really something.</a:t>
            </a:r>
          </a:p>
          <a:p>
            <a:pPr lvl="1"/>
            <a:r>
              <a:rPr lang="en-GB" dirty="0" smtClean="0"/>
              <a:t>Robin </a:t>
            </a:r>
            <a:r>
              <a:rPr lang="en-GB" dirty="0" err="1" smtClean="0"/>
              <a:t>Ganellin</a:t>
            </a:r>
            <a:r>
              <a:rPr lang="en-GB" dirty="0" smtClean="0"/>
              <a:t>, inventor of </a:t>
            </a:r>
            <a:r>
              <a:rPr lang="en-GB" dirty="0" err="1" smtClean="0"/>
              <a:t>Tagamet</a:t>
            </a:r>
            <a:r>
              <a:rPr lang="en-GB" dirty="0" smtClean="0"/>
              <a:t>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C0C3B7-6FC6-4627-8E61-E613DC52F34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8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25EA90-87DB-40EF-94A7-7E1165767F3D}" type="slidenum">
              <a:rPr lang="en-US"/>
              <a:pPr/>
              <a:t>26</a:t>
            </a:fld>
            <a:endParaRPr lang="en-US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/>
              <a:t>Thank you for your attention, I hope this mesmerises you enough to prevent you from asking difficult questions!</a:t>
            </a:r>
            <a:endParaRPr lang="en-US" sz="2000"/>
          </a:p>
        </p:txBody>
      </p:sp>
      <p:pic>
        <p:nvPicPr>
          <p:cNvPr id="67589" name="Picture 5" descr="Microsoft Photo Editor 3.0 Pi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9999" y="1373188"/>
            <a:ext cx="7129462" cy="534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577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icentiate seminar">
  <a:themeElements>
    <a:clrScheme name="Twilight">
      <a:dk1>
        <a:sysClr val="windowText" lastClr="000000"/>
      </a:dk1>
      <a:lt1>
        <a:sysClr val="window" lastClr="FFFFFF"/>
      </a:lt1>
      <a:dk2>
        <a:srgbClr val="24213E"/>
      </a:dk2>
      <a:lt2>
        <a:srgbClr val="E9EAF0"/>
      </a:lt2>
      <a:accent1>
        <a:srgbClr val="E8BC4A"/>
      </a:accent1>
      <a:accent2>
        <a:srgbClr val="83C1C6"/>
      </a:accent2>
      <a:accent3>
        <a:srgbClr val="E78D35"/>
      </a:accent3>
      <a:accent4>
        <a:srgbClr val="909CE1"/>
      </a:accent4>
      <a:accent5>
        <a:srgbClr val="839C41"/>
      </a:accent5>
      <a:accent6>
        <a:srgbClr val="CC5439"/>
      </a:accent6>
      <a:hlink>
        <a:srgbClr val="1C6CF1"/>
      </a:hlink>
      <a:folHlink>
        <a:srgbClr val="C649E0"/>
      </a:folHlink>
    </a:clrScheme>
    <a:fontScheme name="Twilight">
      <a:majorFont>
        <a:latin typeface="Corbel"/>
        <a:ea typeface=""/>
        <a:cs typeface=""/>
        <a:font script="Jpan" typeface="ヒラギノ角ゴ Pro W3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ヒラギノ角ゴ Pro W3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wi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 fov="600000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300000"/>
              </a:schemeClr>
            </a:gs>
            <a:gs pos="31000">
              <a:schemeClr val="bg1">
                <a:tint val="100000"/>
                <a:satMod val="300000"/>
              </a:schemeClr>
            </a:gs>
            <a:gs pos="62000">
              <a:schemeClr val="phClr">
                <a:tint val="100000"/>
                <a:shade val="100000"/>
                <a:satMod val="100000"/>
              </a:schemeClr>
            </a:gs>
            <a:gs pos="100000">
              <a:schemeClr val="phClr">
                <a:shade val="100000"/>
                <a:hueMod val="93000"/>
                <a:satMod val="50000"/>
                <a:lumMod val="2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tint val="100000"/>
                <a:shade val="100000"/>
                <a:alpha val="100000"/>
                <a:hueMod val="100000"/>
                <a:satMod val="150000"/>
                <a:lumMod val="5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Licentiate seminar.thmx</Template>
  <TotalTime>330</TotalTime>
  <Words>1379</Words>
  <Application>Microsoft Office PowerPoint</Application>
  <PresentationFormat>On-screen Show (4:3)</PresentationFormat>
  <Paragraphs>134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Corbel</vt:lpstr>
      <vt:lpstr>Licentiate seminar</vt:lpstr>
      <vt:lpstr>Drug Discovery: an Industrial Process </vt:lpstr>
      <vt:lpstr>PowerPoint Presentation</vt:lpstr>
      <vt:lpstr>Just how much does it cost? </vt:lpstr>
      <vt:lpstr>Don’t forget, it also costs to develop the ones that fail</vt:lpstr>
      <vt:lpstr>Drug Discovery is a very wasteful game</vt:lpstr>
      <vt:lpstr>Don’t forget, it also costs to develop the ones that fail!</vt:lpstr>
      <vt:lpstr>It’s an expensive business</vt:lpstr>
      <vt:lpstr>Example: the development of antidepressant drugs</vt:lpstr>
      <vt:lpstr>What does that mean?</vt:lpstr>
      <vt:lpstr>What does that mean?</vt:lpstr>
      <vt:lpstr>What does that mean?</vt:lpstr>
      <vt:lpstr>What does that mean?</vt:lpstr>
      <vt:lpstr>PowerPoint Presentation</vt:lpstr>
      <vt:lpstr>Which hypothesis was adopted?</vt:lpstr>
      <vt:lpstr>How would we go about developing a drug based upon this hypothesis?</vt:lpstr>
      <vt:lpstr>PowerPoint Presentation</vt:lpstr>
      <vt:lpstr>Myth 2: We can do all of this by computer</vt:lpstr>
      <vt:lpstr>Clinical Trials</vt:lpstr>
      <vt:lpstr>PowerPoint Presentation</vt:lpstr>
      <vt:lpstr>Phase 1 clinical trials</vt:lpstr>
      <vt:lpstr>Phase 2 clinical trials</vt:lpstr>
      <vt:lpstr>Phase 3 clinical trials</vt:lpstr>
      <vt:lpstr>Phase 4 clinical trials</vt:lpstr>
      <vt:lpstr>Observations</vt:lpstr>
      <vt:lpstr>Remember why you do it</vt:lpstr>
      <vt:lpstr>Thank you for your attention, I hope this mesmerises you enough to prevent you from asking difficult questions!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Discovery: an Industrial Process </dc:title>
  <dc:creator>Arjun Ray</dc:creator>
  <cp:lastModifiedBy>Arjun Ray</cp:lastModifiedBy>
  <cp:revision>21</cp:revision>
  <dcterms:created xsi:type="dcterms:W3CDTF">2020-01-08T03:48:52Z</dcterms:created>
  <dcterms:modified xsi:type="dcterms:W3CDTF">2026-08-24T08:04:57Z</dcterms:modified>
</cp:coreProperties>
</file>